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E63946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3716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600" kern="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— FOR DOM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31520" y="178308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ARCH Training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731520" y="288036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i="1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Growth Plan, Not a Marketing Plan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731520" y="3703320"/>
            <a:ext cx="2286000" cy="0"/>
          </a:xfrm>
          <a:prstGeom prst="line">
            <a:avLst/>
          </a:prstGeom>
          <a:noFill/>
          <a:ln w="38100">
            <a:solidFill>
              <a:srgbClr val="E6394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3840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 Sameer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31520" y="4160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 2026  ·  Walkthrough recording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SETTING EXPECTATIONS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What this is — and what this isn't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5349240" cy="4114800"/>
          </a:xfrm>
          <a:prstGeom prst="rect">
            <a:avLst/>
          </a:prstGeom>
          <a:solidFill>
            <a:srgbClr val="FDECEC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828800"/>
            <a:ext cx="109728" cy="4114800"/>
          </a:xfrm>
          <a:prstGeom prst="rect">
            <a:avLst/>
          </a:prstGeom>
          <a:solidFill>
            <a:srgbClr val="E63946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2057400"/>
            <a:ext cx="4892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E6394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THIS IS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14400" y="2468880"/>
            <a:ext cx="48006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sequenced, phased growth plan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on what ARCH already does well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Operations-first, marketing-second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repeatable playbook — same answer every time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263640" y="1828800"/>
            <a:ext cx="5349240" cy="4114800"/>
          </a:xfrm>
          <a:prstGeom prst="rect">
            <a:avLst/>
          </a:prstGeom>
          <a:solidFill>
            <a:srgbClr val="F4F4F5"/>
          </a:solidFill>
          <a:ln/>
        </p:spPr>
      </p:sp>
      <p:sp>
        <p:nvSpPr>
          <p:cNvPr id="9" name="Shape 7"/>
          <p:cNvSpPr/>
          <p:nvPr/>
        </p:nvSpPr>
        <p:spPr>
          <a:xfrm>
            <a:off x="6263640" y="1828800"/>
            <a:ext cx="109728" cy="4114800"/>
          </a:xfrm>
          <a:prstGeom prst="rect">
            <a:avLst/>
          </a:prstGeom>
          <a:solidFill>
            <a:srgbClr val="6B7280"/>
          </a:solidFill>
          <a:ln/>
        </p:spPr>
      </p:sp>
      <p:sp>
        <p:nvSpPr>
          <p:cNvPr id="10" name="Text 8"/>
          <p:cNvSpPr/>
          <p:nvPr/>
        </p:nvSpPr>
        <p:spPr>
          <a:xfrm>
            <a:off x="6629400" y="2057400"/>
            <a:ext cx="4892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6B728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THIS IS NOT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629400" y="2468880"/>
            <a:ext cx="48006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agency proposal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“Run more ads and hope”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list of tactics to do all at once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price-cut to chase the $20/month crowd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0698480" y="649224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/ 19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MARKET POSITION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ARCH already owns a niche no one else does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828800"/>
            <a:ext cx="594360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locations  ·  HYROX affiliate  ·  Recovery suite</a:t>
            </a:r>
            <a:endParaRPr lang="en-US" sz="1600" dirty="0"/>
          </a:p>
          <a:p>
            <a:pPr indent="0" marL="0">
              <a:buNone/>
            </a:pPr>
            <a:r>
              <a:rPr lang="en-US" sz="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 is the only serious-training + HYROX + recovery facility at this tier in Monmouth County.</a:t>
            </a:r>
            <a:endParaRPr lang="en-US" sz="1600" dirty="0"/>
          </a:p>
          <a:p>
            <a:pPr indent="0" marL="0">
              <a:buNone/>
            </a:pPr>
            <a:r>
              <a:rPr lang="en-US" sz="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Crunch, Planet, Retro, Jersey Strong — not the same customer.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Fitness Factory — closer, but general-purpose.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Lifetime — premium chain, wellness club, not a performance gym.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5394960"/>
            <a:ext cx="5943600" cy="914400"/>
          </a:xfrm>
          <a:prstGeom prst="rect">
            <a:avLst/>
          </a:prstGeom>
          <a:solidFill>
            <a:srgbClr val="111827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5394960"/>
            <a:ext cx="5486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filter:  “Does this attract serious trainers, or does it attract people who'll complain about $149?”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949440" y="1828800"/>
            <a:ext cx="4663440" cy="4389120"/>
          </a:xfrm>
          <a:prstGeom prst="rect">
            <a:avLst/>
          </a:prstGeom>
          <a:solidFill>
            <a:srgbClr val="F4F4F5"/>
          </a:solidFill>
          <a:ln w="12700">
            <a:solidFill>
              <a:srgbClr val="E5E7EB"/>
            </a:solidFill>
            <a:prstDash val="dash"/>
          </a:ln>
        </p:spPr>
      </p:sp>
      <p:sp>
        <p:nvSpPr>
          <p:cNvPr id="8" name="Shape 6"/>
          <p:cNvSpPr/>
          <p:nvPr/>
        </p:nvSpPr>
        <p:spPr>
          <a:xfrm>
            <a:off x="7132320" y="2011680"/>
            <a:ext cx="548640" cy="201168"/>
          </a:xfrm>
          <a:prstGeom prst="rect">
            <a:avLst/>
          </a:prstGeom>
          <a:solidFill>
            <a:srgbClr val="E63946"/>
          </a:solidFill>
          <a:ln/>
        </p:spPr>
      </p:sp>
      <p:sp>
        <p:nvSpPr>
          <p:cNvPr id="9" name="Text 7"/>
          <p:cNvSpPr/>
          <p:nvPr/>
        </p:nvSpPr>
        <p:spPr>
          <a:xfrm>
            <a:off x="7132320" y="2011680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CUE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132320" y="2331720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Cue: arch-training.com pricing page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132320" y="2788920"/>
            <a:ext cx="429768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$99 open gym  ·  $149 unlimited  ·  no contracts, no fees. Walk through what the plans include.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0698480" y="649224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/ 19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ACTUALLY BROKEN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Five problems — none are “we need ads”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640080" cy="640080"/>
          </a:xfrm>
          <a:prstGeom prst="rect">
            <a:avLst/>
          </a:prstGeom>
          <a:solidFill>
            <a:srgbClr val="111827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8288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6394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417320" y="18288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Data is messy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417320" y="214884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Mindbody → WellnessLiving migration left legacy membership types. Can't answer “how many active members do I have?” cleanly.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2697480"/>
            <a:ext cx="640080" cy="640080"/>
          </a:xfrm>
          <a:prstGeom prst="rect">
            <a:avLst/>
          </a:prstGeom>
          <a:solidFill>
            <a:srgbClr val="111827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26974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6394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417320" y="26974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Channels aren't unified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417320" y="301752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Squarespace form, IG DMs, phone calls, walk-ins — different surfaces, manual follow-up, leads fall off.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3566160"/>
            <a:ext cx="640080" cy="640080"/>
          </a:xfrm>
          <a:prstGeom prst="rect">
            <a:avLst/>
          </a:prstGeom>
          <a:solidFill>
            <a:srgbClr val="111827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35661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6394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417320" y="35661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Website isn't AI-ready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417320" y="388620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Pricing as images, no schema, no llms.txt. ChatGPT and AI search can't read it properly.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4434840"/>
            <a:ext cx="640080" cy="640080"/>
          </a:xfrm>
          <a:prstGeom prst="rect">
            <a:avLst/>
          </a:prstGeom>
          <a:solidFill>
            <a:srgbClr val="111827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44348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6394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417320" y="44348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Wrong-fit leads cost time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417320" y="475488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Price-shoppers absorb staff energy, break room culture, never convert.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48640" y="5303520"/>
            <a:ext cx="640080" cy="640080"/>
          </a:xfrm>
          <a:prstGeom prst="rect">
            <a:avLst/>
          </a:prstGeom>
          <a:solidFill>
            <a:srgbClr val="111827"/>
          </a:solidFill>
          <a:ln/>
        </p:spPr>
      </p:sp>
      <p:sp>
        <p:nvSpPr>
          <p:cNvPr id="21" name="Text 19"/>
          <p:cNvSpPr/>
          <p:nvPr/>
        </p:nvSpPr>
        <p:spPr>
          <a:xfrm>
            <a:off x="548640" y="53035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6394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05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417320" y="53035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Quality isn't visible online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417320" y="562356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product is great. The marketing footprint doesn't reflect that.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0698480" y="649224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/ 19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ORDER MATTERS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Why we phase this — not all at once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3657600" cy="2011680"/>
          </a:xfrm>
          <a:prstGeom prst="rect">
            <a:avLst/>
          </a:prstGeom>
          <a:solidFill>
            <a:srgbClr val="F4F4F5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965960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E6394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72 hrs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731520" y="2926080"/>
            <a:ext cx="3291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 before most boutique-gym leads go cold without follow-up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343400" y="1828800"/>
            <a:ext cx="3657600" cy="2011680"/>
          </a:xfrm>
          <a:prstGeom prst="rect">
            <a:avLst/>
          </a:prstGeom>
          <a:solidFill>
            <a:srgbClr val="F4F4F5"/>
          </a:solidFill>
          <a:ln/>
        </p:spPr>
      </p:sp>
      <p:sp>
        <p:nvSpPr>
          <p:cNvPr id="8" name="Text 6"/>
          <p:cNvSpPr/>
          <p:nvPr/>
        </p:nvSpPr>
        <p:spPr>
          <a:xfrm>
            <a:off x="4526280" y="1965960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E6394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10 min</a:t>
            </a:r>
            <a:endParaRPr lang="en-US" sz="4400" dirty="0"/>
          </a:p>
        </p:txBody>
      </p:sp>
      <p:sp>
        <p:nvSpPr>
          <p:cNvPr id="9" name="Text 7"/>
          <p:cNvSpPr/>
          <p:nvPr/>
        </p:nvSpPr>
        <p:spPr>
          <a:xfrm>
            <a:off x="4526280" y="2926080"/>
            <a:ext cx="3291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Leads convert 4× more often when follow-up is within 10 min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8138160" y="1828800"/>
            <a:ext cx="3657600" cy="2011680"/>
          </a:xfrm>
          <a:prstGeom prst="rect">
            <a:avLst/>
          </a:prstGeom>
          <a:solidFill>
            <a:srgbClr val="F4F4F5"/>
          </a:solidFill>
          <a:ln/>
        </p:spPr>
      </p:sp>
      <p:sp>
        <p:nvSpPr>
          <p:cNvPr id="11" name="Text 9"/>
          <p:cNvSpPr/>
          <p:nvPr/>
        </p:nvSpPr>
        <p:spPr>
          <a:xfrm>
            <a:off x="8321040" y="1965960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E6394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5–7×</a:t>
            </a:r>
            <a:endParaRPr lang="en-US" sz="4400" dirty="0"/>
          </a:p>
        </p:txBody>
      </p:sp>
      <p:sp>
        <p:nvSpPr>
          <p:cNvPr id="12" name="Text 10"/>
          <p:cNvSpPr/>
          <p:nvPr/>
        </p:nvSpPr>
        <p:spPr>
          <a:xfrm>
            <a:off x="8321040" y="2926080"/>
            <a:ext cx="3291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to acquire a new member vs. retaining one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4206240"/>
            <a:ext cx="11064240" cy="1828800"/>
          </a:xfrm>
          <a:prstGeom prst="rect">
            <a:avLst/>
          </a:prstGeom>
          <a:solidFill>
            <a:srgbClr val="111827"/>
          </a:solidFill>
          <a:ln/>
        </p:spPr>
      </p:sp>
      <p:sp>
        <p:nvSpPr>
          <p:cNvPr id="14" name="Text 12"/>
          <p:cNvSpPr/>
          <p:nvPr/>
        </p:nvSpPr>
        <p:spPr>
          <a:xfrm>
            <a:off x="914400" y="43434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E6394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PRINCIPLE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914400" y="4663440"/>
            <a:ext cx="10332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Don't market until the bucket stops leaking. Don't fix the bucket until the data tells you which leaks matter.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914400" y="5349240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Operations first. Then plumbing. Then identity. Then acceleration. Each phase has a gate — we don't move forward until the prior phase is functionally working.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0698480" y="649224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/ 19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ROADMAP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Four phases — sequenced, overlap where safe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11064240" cy="2286000"/>
          </a:xfrm>
          <a:prstGeom prst="rect">
            <a:avLst/>
          </a:prstGeom>
          <a:solidFill>
            <a:srgbClr val="F4F4F5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2011680"/>
            <a:ext cx="0" cy="228600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4315968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W0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2325189" y="2011680"/>
            <a:ext cx="0" cy="228600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050869" y="4315968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W2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3827417" y="2011680"/>
            <a:ext cx="0" cy="228600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553097" y="4315968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W4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5329646" y="2011680"/>
            <a:ext cx="0" cy="228600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55326" y="4315968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W6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6831874" y="2011680"/>
            <a:ext cx="0" cy="228600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57554" y="4315968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W8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8334103" y="2011680"/>
            <a:ext cx="0" cy="228600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059783" y="4315968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W10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9836331" y="2011680"/>
            <a:ext cx="0" cy="228600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562011" y="4315968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W12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11338560" y="2011680"/>
            <a:ext cx="0" cy="228600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1064240" y="4315968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W14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822960" y="2103120"/>
            <a:ext cx="3004457" cy="365760"/>
          </a:xfrm>
          <a:prstGeom prst="rect">
            <a:avLst/>
          </a:prstGeom>
          <a:solidFill>
            <a:srgbClr val="E63946"/>
          </a:solidFill>
          <a:ln/>
        </p:spPr>
      </p:sp>
      <p:sp>
        <p:nvSpPr>
          <p:cNvPr id="22" name="Text 20"/>
          <p:cNvSpPr/>
          <p:nvPr/>
        </p:nvSpPr>
        <p:spPr>
          <a:xfrm>
            <a:off x="914400" y="2103120"/>
            <a:ext cx="282157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PHASE 0  ·  FOUNDATION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325189" y="2606040"/>
            <a:ext cx="3004457" cy="365760"/>
          </a:xfrm>
          <a:prstGeom prst="rect">
            <a:avLst/>
          </a:prstGeom>
          <a:solidFill>
            <a:srgbClr val="F77F7F"/>
          </a:solidFill>
          <a:ln/>
        </p:spPr>
      </p:sp>
      <p:sp>
        <p:nvSpPr>
          <p:cNvPr id="24" name="Text 22"/>
          <p:cNvSpPr/>
          <p:nvPr/>
        </p:nvSpPr>
        <p:spPr>
          <a:xfrm>
            <a:off x="2416629" y="2606040"/>
            <a:ext cx="282157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PHASE 1  ·  PLUMBING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578531" y="3108960"/>
            <a:ext cx="5257800" cy="36576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26" name="Text 24"/>
          <p:cNvSpPr/>
          <p:nvPr/>
        </p:nvSpPr>
        <p:spPr>
          <a:xfrm>
            <a:off x="4669971" y="3108960"/>
            <a:ext cx="5074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PHASE 2  ·  IDENTITY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8334103" y="3611880"/>
            <a:ext cx="3004457" cy="36576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28" name="Text 26"/>
          <p:cNvSpPr/>
          <p:nvPr/>
        </p:nvSpPr>
        <p:spPr>
          <a:xfrm>
            <a:off x="8425543" y="3611880"/>
            <a:ext cx="282157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PHASE 3  ·  ACCELERATE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548640" y="4800600"/>
            <a:ext cx="73152" cy="1463040"/>
          </a:xfrm>
          <a:prstGeom prst="rect">
            <a:avLst/>
          </a:prstGeom>
          <a:solidFill>
            <a:srgbClr val="E63946"/>
          </a:solidFill>
          <a:ln/>
        </p:spPr>
      </p:sp>
      <p:sp>
        <p:nvSpPr>
          <p:cNvPr id="30" name="Text 28"/>
          <p:cNvSpPr/>
          <p:nvPr/>
        </p:nvSpPr>
        <p:spPr>
          <a:xfrm>
            <a:off x="731520" y="4800600"/>
            <a:ext cx="25831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E6394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PHASE 0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731520" y="5001768"/>
            <a:ext cx="25831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FOUNDATION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731520" y="5330952"/>
            <a:ext cx="25831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0–4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731520" y="5577840"/>
            <a:ext cx="24917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Data, membership taxonomy, billing tightness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3314700" y="4800600"/>
            <a:ext cx="73152" cy="1463040"/>
          </a:xfrm>
          <a:prstGeom prst="rect">
            <a:avLst/>
          </a:prstGeom>
          <a:solidFill>
            <a:srgbClr val="F77F7F"/>
          </a:solidFill>
          <a:ln/>
        </p:spPr>
      </p:sp>
      <p:sp>
        <p:nvSpPr>
          <p:cNvPr id="35" name="Text 33"/>
          <p:cNvSpPr/>
          <p:nvPr/>
        </p:nvSpPr>
        <p:spPr>
          <a:xfrm>
            <a:off x="3497580" y="4800600"/>
            <a:ext cx="25831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77F7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PHASE 1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3497580" y="5001768"/>
            <a:ext cx="25831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PLUMBING</a:t>
            </a:r>
            <a:endParaRPr lang="en-US" sz="1500" dirty="0"/>
          </a:p>
        </p:txBody>
      </p:sp>
      <p:sp>
        <p:nvSpPr>
          <p:cNvPr id="37" name="Text 35"/>
          <p:cNvSpPr/>
          <p:nvPr/>
        </p:nvSpPr>
        <p:spPr>
          <a:xfrm>
            <a:off x="3497580" y="5330952"/>
            <a:ext cx="25831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2–6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3497580" y="5577840"/>
            <a:ext cx="24917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Channel unification, lifecycle automation, website fixes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6080760" y="4800600"/>
            <a:ext cx="73152" cy="146304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0" name="Text 38"/>
          <p:cNvSpPr/>
          <p:nvPr/>
        </p:nvSpPr>
        <p:spPr>
          <a:xfrm>
            <a:off x="6263640" y="4800600"/>
            <a:ext cx="25831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2563E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PHASE 2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6263640" y="5001768"/>
            <a:ext cx="25831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IDENTITY</a:t>
            </a:r>
            <a:endParaRPr lang="en-US" sz="1500" dirty="0"/>
          </a:p>
        </p:txBody>
      </p:sp>
      <p:sp>
        <p:nvSpPr>
          <p:cNvPr id="42" name="Text 40"/>
          <p:cNvSpPr/>
          <p:nvPr/>
        </p:nvSpPr>
        <p:spPr>
          <a:xfrm>
            <a:off x="6263640" y="5330952"/>
            <a:ext cx="25831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5–12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6263640" y="5577840"/>
            <a:ext cx="24917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 voice, avatar, content engine launches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8846820" y="4800600"/>
            <a:ext cx="73152" cy="146304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45" name="Text 43"/>
          <p:cNvSpPr/>
          <p:nvPr/>
        </p:nvSpPr>
        <p:spPr>
          <a:xfrm>
            <a:off x="9029700" y="4800600"/>
            <a:ext cx="25831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05966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PHASE 3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9029700" y="5001768"/>
            <a:ext cx="25831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ACCELERATE</a:t>
            </a:r>
            <a:endParaRPr lang="en-US" sz="1500" dirty="0"/>
          </a:p>
        </p:txBody>
      </p:sp>
      <p:sp>
        <p:nvSpPr>
          <p:cNvPr id="47" name="Text 45"/>
          <p:cNvSpPr/>
          <p:nvPr/>
        </p:nvSpPr>
        <p:spPr>
          <a:xfrm>
            <a:off x="9029700" y="5330952"/>
            <a:ext cx="25831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3+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9029700" y="5577840"/>
            <a:ext cx="24917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Partners, events, referral program, paid ads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10698480" y="649224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/ 19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0  ·  WEEKS 0–4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Foundation: clean data, tight billing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828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E6394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WHY THIS COMES FIRST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2148840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can't measure what you can't count. Every dollar spent on growth before this is finished is flying blind.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48640" y="3017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E6394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WORK ITEMS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3337560"/>
            <a:ext cx="64008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Finish WellnessLiving migration cleanup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Consolidate legacy Mindbody types into the current taxonomy.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the membership product catalog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$99 open gym  ·  $149 unlimited  ·  Eatontown founders. Each one mapped to entitlements, locations, billing.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Lock the billing rules — black and white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 on file. Monthly. No payment, no access. No exceptions.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 up the metrics dashboard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members by location · churn · trial-to-member · class attendance.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223760" y="1828800"/>
            <a:ext cx="4389120" cy="4389120"/>
          </a:xfrm>
          <a:prstGeom prst="rect">
            <a:avLst/>
          </a:prstGeom>
          <a:solidFill>
            <a:srgbClr val="111827"/>
          </a:solidFill>
          <a:ln/>
        </p:spPr>
      </p:sp>
      <p:sp>
        <p:nvSpPr>
          <p:cNvPr id="9" name="Text 7"/>
          <p:cNvSpPr/>
          <p:nvPr/>
        </p:nvSpPr>
        <p:spPr>
          <a:xfrm>
            <a:off x="7406640" y="201168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E6394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GATE TO PHASE 1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406640" y="233172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Don't move on until you can answer YES: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406640" y="2834640"/>
            <a:ext cx="41148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active member is on a current package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Legacy types are archived, not visible in reports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Billing failures are caught and flagged automatically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numbers are trustworthy and reproducible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698480" y="649224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/ 19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 ·  WEEKS 2–6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Plumbing: every lead lands in one place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Today: leads scatter and leak. Target state: one funnel.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377440"/>
            <a:ext cx="2743200" cy="502920"/>
          </a:xfrm>
          <a:prstGeom prst="rect">
            <a:avLst/>
          </a:prstGeom>
          <a:solidFill>
            <a:srgbClr val="F4F4F5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237744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Squarespace form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291840" y="2628900"/>
            <a:ext cx="1554480" cy="0"/>
          </a:xfrm>
          <a:prstGeom prst="line">
            <a:avLst/>
          </a:prstGeom>
          <a:noFill/>
          <a:ln w="19050">
            <a:solidFill>
              <a:srgbClr val="E63946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548640" y="3017520"/>
            <a:ext cx="2743200" cy="502920"/>
          </a:xfrm>
          <a:prstGeom prst="rect">
            <a:avLst/>
          </a:prstGeom>
          <a:solidFill>
            <a:srgbClr val="F4F4F5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301752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Instagram DM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291840" y="3268980"/>
            <a:ext cx="1554480" cy="0"/>
          </a:xfrm>
          <a:prstGeom prst="line">
            <a:avLst/>
          </a:prstGeom>
          <a:noFill/>
          <a:ln w="19050">
            <a:solidFill>
              <a:srgbClr val="E63946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548640" y="3657600"/>
            <a:ext cx="2743200" cy="502920"/>
          </a:xfrm>
          <a:prstGeom prst="rect">
            <a:avLst/>
          </a:prstGeom>
          <a:solidFill>
            <a:srgbClr val="F4F4F5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85800" y="365760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 call / missed call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291840" y="3909060"/>
            <a:ext cx="1554480" cy="0"/>
          </a:xfrm>
          <a:prstGeom prst="line">
            <a:avLst/>
          </a:prstGeom>
          <a:noFill/>
          <a:ln w="19050">
            <a:solidFill>
              <a:srgbClr val="E63946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548640" y="4297680"/>
            <a:ext cx="2743200" cy="502920"/>
          </a:xfrm>
          <a:prstGeom prst="rect">
            <a:avLst/>
          </a:prstGeom>
          <a:solidFill>
            <a:srgbClr val="F4F4F5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85800" y="429768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Walk-in / front desk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291840" y="4549140"/>
            <a:ext cx="1554480" cy="0"/>
          </a:xfrm>
          <a:prstGeom prst="line">
            <a:avLst/>
          </a:prstGeom>
          <a:noFill/>
          <a:ln w="19050">
            <a:solidFill>
              <a:srgbClr val="E63946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548640" y="4937760"/>
            <a:ext cx="2743200" cy="502920"/>
          </a:xfrm>
          <a:prstGeom prst="rect">
            <a:avLst/>
          </a:prstGeom>
          <a:solidFill>
            <a:srgbClr val="F4F4F5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85800" y="493776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Business Profile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291840" y="5189220"/>
            <a:ext cx="1554480" cy="0"/>
          </a:xfrm>
          <a:prstGeom prst="line">
            <a:avLst/>
          </a:prstGeom>
          <a:noFill/>
          <a:ln w="19050">
            <a:solidFill>
              <a:srgbClr val="E63946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4754880" y="3108960"/>
            <a:ext cx="3291840" cy="1737360"/>
          </a:xfrm>
          <a:prstGeom prst="rect">
            <a:avLst/>
          </a:prstGeom>
          <a:solidFill>
            <a:srgbClr val="111827"/>
          </a:solidFill>
          <a:ln/>
        </p:spPr>
      </p:sp>
      <p:sp>
        <p:nvSpPr>
          <p:cNvPr id="21" name="Text 19"/>
          <p:cNvSpPr/>
          <p:nvPr/>
        </p:nvSpPr>
        <p:spPr>
          <a:xfrm>
            <a:off x="4754880" y="329184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400" kern="0" dirty="0">
                <a:solidFill>
                  <a:srgbClr val="E6394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ONE FUNNEL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754880" y="361188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WellnessLiving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4754880" y="3950208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Marketing Suite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4754880" y="429768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 GoHighLevel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754880" y="45720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tagged · auto-routed · timestamped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8046720" y="3977640"/>
            <a:ext cx="731520" cy="0"/>
          </a:xfrm>
          <a:prstGeom prst="line">
            <a:avLst/>
          </a:prstGeom>
          <a:noFill/>
          <a:ln w="25400">
            <a:solidFill>
              <a:srgbClr val="E63946"/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8778240" y="2834640"/>
            <a:ext cx="2926080" cy="640080"/>
          </a:xfrm>
          <a:prstGeom prst="rect">
            <a:avLst/>
          </a:prstGeom>
          <a:solidFill>
            <a:srgbClr val="FDECEC"/>
          </a:solidFill>
          <a:ln/>
        </p:spPr>
      </p:sp>
      <p:sp>
        <p:nvSpPr>
          <p:cNvPr id="28" name="Shape 26"/>
          <p:cNvSpPr/>
          <p:nvPr/>
        </p:nvSpPr>
        <p:spPr>
          <a:xfrm>
            <a:off x="8778240" y="2834640"/>
            <a:ext cx="73152" cy="640080"/>
          </a:xfrm>
          <a:prstGeom prst="rect">
            <a:avLst/>
          </a:prstGeom>
          <a:solidFill>
            <a:srgbClr val="E63946"/>
          </a:solidFill>
          <a:ln/>
        </p:spPr>
      </p:sp>
      <p:sp>
        <p:nvSpPr>
          <p:cNvPr id="29" name="Text 27"/>
          <p:cNvSpPr/>
          <p:nvPr/>
        </p:nvSpPr>
        <p:spPr>
          <a:xfrm>
            <a:off x="8961120" y="28803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6394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LEAD NURTURE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8961120" y="312724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 SMS, sequence to first visit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8778240" y="3611880"/>
            <a:ext cx="2926080" cy="640080"/>
          </a:xfrm>
          <a:prstGeom prst="rect">
            <a:avLst/>
          </a:prstGeom>
          <a:solidFill>
            <a:srgbClr val="FDECEC"/>
          </a:solidFill>
          <a:ln/>
        </p:spPr>
      </p:sp>
      <p:sp>
        <p:nvSpPr>
          <p:cNvPr id="32" name="Shape 30"/>
          <p:cNvSpPr/>
          <p:nvPr/>
        </p:nvSpPr>
        <p:spPr>
          <a:xfrm>
            <a:off x="8778240" y="3611880"/>
            <a:ext cx="73152" cy="640080"/>
          </a:xfrm>
          <a:prstGeom prst="rect">
            <a:avLst/>
          </a:prstGeom>
          <a:solidFill>
            <a:srgbClr val="E63946"/>
          </a:solidFill>
          <a:ln/>
        </p:spPr>
      </p:sp>
      <p:sp>
        <p:nvSpPr>
          <p:cNvPr id="33" name="Text 31"/>
          <p:cNvSpPr/>
          <p:nvPr/>
        </p:nvSpPr>
        <p:spPr>
          <a:xfrm>
            <a:off x="8961120" y="36576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6394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RETENTION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8961120" y="390448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90-day check-ins, milestone touches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8778240" y="4389120"/>
            <a:ext cx="2926080" cy="640080"/>
          </a:xfrm>
          <a:prstGeom prst="rect">
            <a:avLst/>
          </a:prstGeom>
          <a:solidFill>
            <a:srgbClr val="FDECEC"/>
          </a:solidFill>
          <a:ln/>
        </p:spPr>
      </p:sp>
      <p:sp>
        <p:nvSpPr>
          <p:cNvPr id="36" name="Shape 34"/>
          <p:cNvSpPr/>
          <p:nvPr/>
        </p:nvSpPr>
        <p:spPr>
          <a:xfrm>
            <a:off x="8778240" y="4389120"/>
            <a:ext cx="73152" cy="640080"/>
          </a:xfrm>
          <a:prstGeom prst="rect">
            <a:avLst/>
          </a:prstGeom>
          <a:solidFill>
            <a:srgbClr val="E63946"/>
          </a:solidFill>
          <a:ln/>
        </p:spPr>
      </p:sp>
      <p:sp>
        <p:nvSpPr>
          <p:cNvPr id="37" name="Text 35"/>
          <p:cNvSpPr/>
          <p:nvPr/>
        </p:nvSpPr>
        <p:spPr>
          <a:xfrm>
            <a:off x="8961120" y="44348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6394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WIN-BACK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8961120" y="468172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Missed 2 weeks → automated outreach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548640" y="594360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  →  Phase 2 starts when:  every inbound channel creates a CRM lead, and 3 lifecycle automations are live and tested.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10698480" y="649224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/ 19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 ·  PARALLEL TRACK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Make the website agent-ready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4846320" cy="4389120"/>
          </a:xfrm>
          <a:prstGeom prst="rect">
            <a:avLst/>
          </a:prstGeom>
          <a:solidFill>
            <a:srgbClr val="F4F4F5"/>
          </a:solidFill>
          <a:ln w="12700">
            <a:solidFill>
              <a:srgbClr val="E5E7EB"/>
            </a:solidFill>
            <a:prstDash val="dash"/>
          </a:ln>
        </p:spPr>
      </p:sp>
      <p:sp>
        <p:nvSpPr>
          <p:cNvPr id="5" name="Shape 3"/>
          <p:cNvSpPr/>
          <p:nvPr/>
        </p:nvSpPr>
        <p:spPr>
          <a:xfrm>
            <a:off x="731520" y="2011680"/>
            <a:ext cx="548640" cy="201168"/>
          </a:xfrm>
          <a:prstGeom prst="rect">
            <a:avLst/>
          </a:prstGeom>
          <a:solidFill>
            <a:srgbClr val="E63946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2011680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CUE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31520" y="233172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Cue: arch-training.com/membership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31520" y="2788920"/>
            <a:ext cx="448056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Walk through: pricing tiles are images. LLMs and Google's AI Overview can't read them reliably.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943600" y="1828800"/>
            <a:ext cx="5760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E6394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FIXES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943600" y="2286000"/>
            <a:ext cx="228600" cy="228600"/>
          </a:xfrm>
          <a:prstGeom prst="ellipse">
            <a:avLst/>
          </a:prstGeom>
          <a:solidFill>
            <a:srgbClr val="E63946"/>
          </a:solidFill>
          <a:ln/>
        </p:spPr>
      </p:sp>
      <p:sp>
        <p:nvSpPr>
          <p:cNvPr id="11" name="Text 9"/>
          <p:cNvSpPr/>
          <p:nvPr/>
        </p:nvSpPr>
        <p:spPr>
          <a:xfrm>
            <a:off x="6263640" y="21945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Pricing → real text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263640" y="24688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plan, every inclusion, written as text on the page.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943600" y="2926080"/>
            <a:ext cx="228600" cy="228600"/>
          </a:xfrm>
          <a:prstGeom prst="ellipse">
            <a:avLst/>
          </a:prstGeom>
          <a:solidFill>
            <a:srgbClr val="E63946"/>
          </a:solidFill>
          <a:ln/>
        </p:spPr>
      </p:sp>
      <p:sp>
        <p:nvSpPr>
          <p:cNvPr id="14" name="Text 12"/>
          <p:cNvSpPr/>
          <p:nvPr/>
        </p:nvSpPr>
        <p:spPr>
          <a:xfrm>
            <a:off x="6263640" y="28346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Add llms.txt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263640" y="31089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Tells LLMs how the site is structured. ~30 min job, almost no gym does it.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943600" y="3566160"/>
            <a:ext cx="228600" cy="228600"/>
          </a:xfrm>
          <a:prstGeom prst="ellipse">
            <a:avLst/>
          </a:prstGeom>
          <a:solidFill>
            <a:srgbClr val="E63946"/>
          </a:solidFill>
          <a:ln/>
        </p:spPr>
      </p:sp>
      <p:sp>
        <p:nvSpPr>
          <p:cNvPr id="17" name="Text 15"/>
          <p:cNvSpPr/>
          <p:nvPr/>
        </p:nvSpPr>
        <p:spPr>
          <a:xfrm>
            <a:off x="6263640" y="34747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Schema markup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263640" y="37490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LocalBusiness · HealthClub · Offer schema on every page.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943600" y="4206240"/>
            <a:ext cx="228600" cy="228600"/>
          </a:xfrm>
          <a:prstGeom prst="ellipse">
            <a:avLst/>
          </a:prstGeom>
          <a:solidFill>
            <a:srgbClr val="E63946"/>
          </a:solidFill>
          <a:ln/>
        </p:spPr>
      </p:sp>
      <p:sp>
        <p:nvSpPr>
          <p:cNvPr id="20" name="Text 18"/>
          <p:cNvSpPr/>
          <p:nvPr/>
        </p:nvSpPr>
        <p:spPr>
          <a:xfrm>
            <a:off x="6263640" y="41148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Three real location pages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263640" y="43891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Marlboro · Freehold · Eatontown — each indexed separately.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943600" y="4846320"/>
            <a:ext cx="228600" cy="228600"/>
          </a:xfrm>
          <a:prstGeom prst="ellipse">
            <a:avLst/>
          </a:prstGeom>
          <a:solidFill>
            <a:srgbClr val="E63946"/>
          </a:solidFill>
          <a:ln/>
        </p:spPr>
      </p:sp>
      <p:sp>
        <p:nvSpPr>
          <p:cNvPr id="23" name="Text 21"/>
          <p:cNvSpPr/>
          <p:nvPr/>
        </p:nvSpPr>
        <p:spPr>
          <a:xfrm>
            <a:off x="6263640" y="47548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Link-in-bio redesign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263640" y="50292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tap from Reel to a single CTA. Mobile first.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943600" y="5486400"/>
            <a:ext cx="228600" cy="228600"/>
          </a:xfrm>
          <a:prstGeom prst="ellipse">
            <a:avLst/>
          </a:prstGeom>
          <a:solidFill>
            <a:srgbClr val="E63946"/>
          </a:solidFill>
          <a:ln/>
        </p:spPr>
      </p:sp>
      <p:sp>
        <p:nvSpPr>
          <p:cNvPr id="26" name="Text 24"/>
          <p:cNvSpPr/>
          <p:nvPr/>
        </p:nvSpPr>
        <p:spPr>
          <a:xfrm>
            <a:off x="6263640" y="53949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All 3 Google Business Profiles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263640" y="56692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Verified, optimized, photos refreshed monthly.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10698480" y="649224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/ 19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 ·  WEEKS 5–12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Sharpen the brand. Filter the leads.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11064240" cy="1554480"/>
          </a:xfrm>
          <a:prstGeom prst="rect">
            <a:avLst/>
          </a:prstGeom>
          <a:solidFill>
            <a:srgbClr val="FDECEC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737360"/>
            <a:ext cx="109728" cy="1554480"/>
          </a:xfrm>
          <a:prstGeom prst="rect">
            <a:avLst/>
          </a:prstGeom>
          <a:solidFill>
            <a:srgbClr val="E63946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18745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E6394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AVATAR — ONE PARAGRAPH, ON THE WALL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914400" y="2194560"/>
            <a:ext cx="10515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 is for people in Monmouth County who train for a goal — HYROX, a sport, a physique, a PR, recovery from injury. They want coaches who know what they're doing, equipment that doesn't suck, and a room with other serious people. They are not looking for a $20 gym.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3657600"/>
            <a:ext cx="5349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5966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WORDS ARCH USES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48640" y="3977640"/>
            <a:ext cx="5349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· work · coach · performance · recovery · community · serious · accountable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263640" y="3657600"/>
            <a:ext cx="5349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E6394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WORDS ARCH DOESN'T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263640" y="3977640"/>
            <a:ext cx="5349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workout buddy · sweat sesh · fit fam · journey · no judgment · transform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48640" y="4937760"/>
            <a:ext cx="11064240" cy="1280160"/>
          </a:xfrm>
          <a:prstGeom prst="rect">
            <a:avLst/>
          </a:prstGeom>
          <a:solidFill>
            <a:srgbClr val="111827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50749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E6394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ADD A QUALIFICATION STEP TO THE FUNNEL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5376672"/>
            <a:ext cx="10332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questions in the lead form (or CAASI conversation):  What's your goal?  What's your current routine?  What's your budget?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914400" y="577900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 hard gate — a filter. Price-shoppers self-select out. Good-fit leads get prioritized.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0698480" y="649224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19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 ·  THE ENGINE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Content Pyramid: 1 pillar → 15 pieces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0" y="1828800"/>
            <a:ext cx="3017520" cy="640080"/>
          </a:xfrm>
          <a:prstGeom prst="rect">
            <a:avLst/>
          </a:prstGeom>
          <a:solidFill>
            <a:srgbClr val="111827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0" y="182880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E6394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 PILLAR / WEEK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0" y="2121408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 + Jordan, 30–45 min recorded conversation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0" y="2651760"/>
            <a:ext cx="4846320" cy="548640"/>
          </a:xfrm>
          <a:prstGeom prst="rect">
            <a:avLst/>
          </a:prstGeom>
          <a:solidFill>
            <a:srgbClr val="E63946"/>
          </a:solidFill>
          <a:ln/>
        </p:spPr>
      </p:sp>
      <p:sp>
        <p:nvSpPr>
          <p:cNvPr id="8" name="Text 6"/>
          <p:cNvSpPr/>
          <p:nvPr/>
        </p:nvSpPr>
        <p:spPr>
          <a:xfrm>
            <a:off x="3657600" y="2651760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YouTube long-form  ·  Podcast (Spotify/Apple)  ·  Blog post (SEO + LLM food)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743200" y="3291840"/>
            <a:ext cx="6675120" cy="548640"/>
          </a:xfrm>
          <a:prstGeom prst="rect">
            <a:avLst/>
          </a:prstGeom>
          <a:solidFill>
            <a:srgbClr val="F77F7F"/>
          </a:solidFill>
          <a:ln/>
        </p:spPr>
      </p:sp>
      <p:sp>
        <p:nvSpPr>
          <p:cNvPr id="10" name="Text 8"/>
          <p:cNvSpPr/>
          <p:nvPr/>
        </p:nvSpPr>
        <p:spPr>
          <a:xfrm>
            <a:off x="2743200" y="3291840"/>
            <a:ext cx="6675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5–8 Reels / TikTok / Shorts  ·  1–2 IG carousels  ·  1 X thread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1828800" y="3931920"/>
            <a:ext cx="8503920" cy="548640"/>
          </a:xfrm>
          <a:prstGeom prst="rect">
            <a:avLst/>
          </a:prstGeom>
          <a:solidFill>
            <a:srgbClr val="FBC4C4"/>
          </a:solidFill>
          <a:ln/>
        </p:spPr>
      </p:sp>
      <p:sp>
        <p:nvSpPr>
          <p:cNvPr id="12" name="Text 10"/>
          <p:cNvSpPr/>
          <p:nvPr/>
        </p:nvSpPr>
        <p:spPr>
          <a:xfrm>
            <a:off x="1828800" y="3931920"/>
            <a:ext cx="8503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to member list  ·  Stories  ·  Monthly lead magnet (gated PDF)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48640" y="512064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E6394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WHY THIS WORKS FOR ARCH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48640" y="5440680"/>
            <a:ext cx="11064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Nobody owns NJ HYROX thought leadership.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 and Jordan have 16 years of operating knowledge — that's the moat. The blog post is the asset LLMs scrape when someone asks ChatGPT “best HYROX gym in NJ.”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0698480" y="649224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19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 ·  HOW WE DECIDE WHAT TO MAKE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Research, not guess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828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E6394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TRAP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2148840"/>
            <a:ext cx="5486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i="1" dirty="0">
                <a:solidFill>
                  <a:srgbClr val="1A1A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“What should we talk about this week?”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548640" y="3154680"/>
            <a:ext cx="5486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gym content fails here — operators sit down to record without a plan, guess at topics, and the algorithm never picks it up.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3749040"/>
            <a:ext cx="5486400" cy="2377440"/>
          </a:xfrm>
          <a:prstGeom prst="rect">
            <a:avLst/>
          </a:prstGeom>
          <a:solidFill>
            <a:srgbClr val="111827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393192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E6394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METHOD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22960" y="4251960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Dom and Jordan don't have to figure out what to talk about. We tell them.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22960" y="5120640"/>
            <a:ext cx="4937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week we hand them a brief: topic, hook, 3 talking points, why it works. They hit record. That's it.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492240" y="1828800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E6394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HOW THE BRIEF GETS BUILT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492240" y="219456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E6394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7132320" y="219456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Monitor what's working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7132320" y="2487168"/>
            <a:ext cx="4572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10–15 HYROX, strength, and recovery accounts that already perform.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492240" y="310896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E6394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7132320" y="310896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Find the outliers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7132320" y="3401568"/>
            <a:ext cx="4572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videos with 5–10× their account's average views — that's signal.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492240" y="402336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E6394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7132320" y="402336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Borrow the structure, not the script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7132320" y="4315968"/>
            <a:ext cx="4572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hook pattern, same topic angle, ARCH's voice, Dom &amp; Jordan's expertise.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492240" y="493776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E6394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7132320" y="493776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Test, measure, double down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7132320" y="5230368"/>
            <a:ext cx="4572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retention, CTR, save rate. The winners become repeatable formats.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10698480" y="649224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19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ECONOMIC REASON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Organic isn't just better — it makes ads cheaper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11064240" cy="1371600"/>
          </a:xfrm>
          <a:prstGeom prst="rect">
            <a:avLst/>
          </a:prstGeom>
          <a:solidFill>
            <a:srgbClr val="FDECEC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783080"/>
            <a:ext cx="109728" cy="1371600"/>
          </a:xfrm>
          <a:prstGeom prst="rect">
            <a:avLst/>
          </a:prstGeom>
          <a:solidFill>
            <a:srgbClr val="E63946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1920240"/>
            <a:ext cx="3200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E6394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30–40%</a:t>
            </a:r>
            <a:endParaRPr lang="en-US" sz="5600" dirty="0"/>
          </a:p>
        </p:txBody>
      </p:sp>
      <p:sp>
        <p:nvSpPr>
          <p:cNvPr id="7" name="Text 5"/>
          <p:cNvSpPr/>
          <p:nvPr/>
        </p:nvSpPr>
        <p:spPr>
          <a:xfrm>
            <a:off x="4480560" y="1920240"/>
            <a:ext cx="6858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Above-average quality ranking on Meta ads pays 30–40% less per impression than below-average.  Quality ranking is driven by engagement signals — exactly what organic content builds.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342900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E6394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FLYWHEEL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48640" y="3840480"/>
            <a:ext cx="2628900" cy="1371600"/>
          </a:xfrm>
          <a:prstGeom prst="rect">
            <a:avLst/>
          </a:prstGeom>
          <a:solidFill>
            <a:srgbClr val="F4F4F5"/>
          </a:solidFill>
          <a:ln/>
        </p:spPr>
      </p:sp>
      <p:sp>
        <p:nvSpPr>
          <p:cNvPr id="10" name="Shape 8"/>
          <p:cNvSpPr/>
          <p:nvPr/>
        </p:nvSpPr>
        <p:spPr>
          <a:xfrm>
            <a:off x="731520" y="4023360"/>
            <a:ext cx="411480" cy="411480"/>
          </a:xfrm>
          <a:prstGeom prst="ellipse">
            <a:avLst/>
          </a:prstGeom>
          <a:solidFill>
            <a:srgbClr val="E63946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40233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31520" y="4526280"/>
            <a:ext cx="22631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Post organic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31520" y="4800600"/>
            <a:ext cx="22631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Pillars, Reels, carousels, expertise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195828" y="4526280"/>
            <a:ext cx="137160" cy="0"/>
          </a:xfrm>
          <a:prstGeom prst="line">
            <a:avLst/>
          </a:prstGeom>
          <a:noFill/>
          <a:ln w="19050">
            <a:solidFill>
              <a:srgbClr val="E63946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3360420" y="3840480"/>
            <a:ext cx="2628900" cy="1371600"/>
          </a:xfrm>
          <a:prstGeom prst="rect">
            <a:avLst/>
          </a:prstGeom>
          <a:solidFill>
            <a:srgbClr val="F4F4F5"/>
          </a:solidFill>
          <a:ln/>
        </p:spPr>
      </p:sp>
      <p:sp>
        <p:nvSpPr>
          <p:cNvPr id="16" name="Shape 14"/>
          <p:cNvSpPr/>
          <p:nvPr/>
        </p:nvSpPr>
        <p:spPr>
          <a:xfrm>
            <a:off x="3543300" y="4023360"/>
            <a:ext cx="411480" cy="411480"/>
          </a:xfrm>
          <a:prstGeom prst="ellipse">
            <a:avLst/>
          </a:prstGeom>
          <a:solidFill>
            <a:srgbClr val="E63946"/>
          </a:solidFill>
          <a:ln/>
        </p:spPr>
      </p:sp>
      <p:sp>
        <p:nvSpPr>
          <p:cNvPr id="17" name="Text 15"/>
          <p:cNvSpPr/>
          <p:nvPr/>
        </p:nvSpPr>
        <p:spPr>
          <a:xfrm>
            <a:off x="3543300" y="40233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543300" y="4526280"/>
            <a:ext cx="22631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Platform pushes you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543300" y="4800600"/>
            <a:ext cx="22631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Algorithms reward creators who keep users on-platform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007608" y="4526280"/>
            <a:ext cx="137160" cy="0"/>
          </a:xfrm>
          <a:prstGeom prst="line">
            <a:avLst/>
          </a:prstGeom>
          <a:noFill/>
          <a:ln w="19050">
            <a:solidFill>
              <a:srgbClr val="E63946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6172200" y="3840480"/>
            <a:ext cx="2628900" cy="1371600"/>
          </a:xfrm>
          <a:prstGeom prst="rect">
            <a:avLst/>
          </a:prstGeom>
          <a:solidFill>
            <a:srgbClr val="F4F4F5"/>
          </a:solidFill>
          <a:ln/>
        </p:spPr>
      </p:sp>
      <p:sp>
        <p:nvSpPr>
          <p:cNvPr id="22" name="Shape 20"/>
          <p:cNvSpPr/>
          <p:nvPr/>
        </p:nvSpPr>
        <p:spPr>
          <a:xfrm>
            <a:off x="6355080" y="4023360"/>
            <a:ext cx="411480" cy="411480"/>
          </a:xfrm>
          <a:prstGeom prst="ellipse">
            <a:avLst/>
          </a:prstGeom>
          <a:solidFill>
            <a:srgbClr val="E63946"/>
          </a:solidFill>
          <a:ln/>
        </p:spPr>
      </p:sp>
      <p:sp>
        <p:nvSpPr>
          <p:cNvPr id="23" name="Text 21"/>
          <p:cNvSpPr/>
          <p:nvPr/>
        </p:nvSpPr>
        <p:spPr>
          <a:xfrm>
            <a:off x="6355080" y="40233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355080" y="4526280"/>
            <a:ext cx="22631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Audience + signal grow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355080" y="4800600"/>
            <a:ext cx="22631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Engagement, saves, watch time — and you learn what works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8819388" y="4526280"/>
            <a:ext cx="137160" cy="0"/>
          </a:xfrm>
          <a:prstGeom prst="line">
            <a:avLst/>
          </a:prstGeom>
          <a:noFill/>
          <a:ln w="19050">
            <a:solidFill>
              <a:srgbClr val="E63946"/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8983980" y="3840480"/>
            <a:ext cx="2628900" cy="1371600"/>
          </a:xfrm>
          <a:prstGeom prst="rect">
            <a:avLst/>
          </a:prstGeom>
          <a:solidFill>
            <a:srgbClr val="F4F4F5"/>
          </a:solidFill>
          <a:ln/>
        </p:spPr>
      </p:sp>
      <p:sp>
        <p:nvSpPr>
          <p:cNvPr id="28" name="Shape 26"/>
          <p:cNvSpPr/>
          <p:nvPr/>
        </p:nvSpPr>
        <p:spPr>
          <a:xfrm>
            <a:off x="9166860" y="4023360"/>
            <a:ext cx="411480" cy="411480"/>
          </a:xfrm>
          <a:prstGeom prst="ellipse">
            <a:avLst/>
          </a:prstGeom>
          <a:solidFill>
            <a:srgbClr val="E63946"/>
          </a:solidFill>
          <a:ln/>
        </p:spPr>
      </p:sp>
      <p:sp>
        <p:nvSpPr>
          <p:cNvPr id="29" name="Text 27"/>
          <p:cNvSpPr/>
          <p:nvPr/>
        </p:nvSpPr>
        <p:spPr>
          <a:xfrm>
            <a:off x="9166860" y="40233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9166860" y="4526280"/>
            <a:ext cx="22631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Ads cost less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9166860" y="4800600"/>
            <a:ext cx="22631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organic posts → best ads → lower CPM, higher ROAS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48640" y="557784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Running ads without organic = paying full retail. Organic-first is the discount code.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10698480" y="649224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19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  ·  MONTH 3+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Acceleration: only after the engine is running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5394960" cy="2011680"/>
          </a:xfrm>
          <a:prstGeom prst="rect">
            <a:avLst/>
          </a:prstGeom>
          <a:solidFill>
            <a:srgbClr val="F4F4F5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828800"/>
            <a:ext cx="91440" cy="2011680"/>
          </a:xfrm>
          <a:prstGeom prst="rect">
            <a:avLst/>
          </a:prstGeom>
          <a:solidFill>
            <a:srgbClr val="E63946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205740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E6394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PARTNERSHIPS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68680" y="2468880"/>
            <a:ext cx="49377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Eat Clean Bro (meals), EVO Health &amp; Performance (PT/chiro), supplement retailer, recovery clinic. Member discounts, cross-referrals, co-branded content.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217920" y="1828800"/>
            <a:ext cx="5394960" cy="2011680"/>
          </a:xfrm>
          <a:prstGeom prst="rect">
            <a:avLst/>
          </a:prstGeom>
          <a:solidFill>
            <a:srgbClr val="F4F4F5"/>
          </a:solidFill>
          <a:ln/>
        </p:spPr>
      </p:sp>
      <p:sp>
        <p:nvSpPr>
          <p:cNvPr id="9" name="Shape 7"/>
          <p:cNvSpPr/>
          <p:nvPr/>
        </p:nvSpPr>
        <p:spPr>
          <a:xfrm>
            <a:off x="6217920" y="1828800"/>
            <a:ext cx="91440" cy="2011680"/>
          </a:xfrm>
          <a:prstGeom prst="rect">
            <a:avLst/>
          </a:prstGeom>
          <a:solidFill>
            <a:srgbClr val="E63946"/>
          </a:solidFill>
          <a:ln/>
        </p:spPr>
      </p:sp>
      <p:sp>
        <p:nvSpPr>
          <p:cNvPr id="10" name="Text 8"/>
          <p:cNvSpPr/>
          <p:nvPr/>
        </p:nvSpPr>
        <p:spPr>
          <a:xfrm>
            <a:off x="6537960" y="205740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E6394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EVENTS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537960" y="2468880"/>
            <a:ext cx="49377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Quarterly HYROX simulation days, in-house competitions, partner workshops. Cost: almost nothing. Outcome: community + content + referral fuel.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4114800"/>
            <a:ext cx="5394960" cy="2011680"/>
          </a:xfrm>
          <a:prstGeom prst="rect">
            <a:avLst/>
          </a:prstGeom>
          <a:solidFill>
            <a:srgbClr val="F4F4F5"/>
          </a:solidFill>
          <a:ln/>
        </p:spPr>
      </p:sp>
      <p:sp>
        <p:nvSpPr>
          <p:cNvPr id="13" name="Shape 11"/>
          <p:cNvSpPr/>
          <p:nvPr/>
        </p:nvSpPr>
        <p:spPr>
          <a:xfrm>
            <a:off x="548640" y="4114800"/>
            <a:ext cx="91440" cy="2011680"/>
          </a:xfrm>
          <a:prstGeom prst="rect">
            <a:avLst/>
          </a:prstGeom>
          <a:solidFill>
            <a:srgbClr val="E63946"/>
          </a:solidFill>
          <a:ln/>
        </p:spPr>
      </p:sp>
      <p:sp>
        <p:nvSpPr>
          <p:cNvPr id="14" name="Text 12"/>
          <p:cNvSpPr/>
          <p:nvPr/>
        </p:nvSpPr>
        <p:spPr>
          <a:xfrm>
            <a:off x="868680" y="434340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E6394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REFERRAL PROGRAM 2.0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68680" y="4754880"/>
            <a:ext cx="49377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“refer a friend, free month” is passive. Make it visible: leaderboard, quarterly drawing, automated SMS at day 60.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217920" y="4114800"/>
            <a:ext cx="5394960" cy="2011680"/>
          </a:xfrm>
          <a:prstGeom prst="rect">
            <a:avLst/>
          </a:prstGeom>
          <a:solidFill>
            <a:srgbClr val="F4F4F5"/>
          </a:solidFill>
          <a:ln/>
        </p:spPr>
      </p:sp>
      <p:sp>
        <p:nvSpPr>
          <p:cNvPr id="17" name="Shape 15"/>
          <p:cNvSpPr/>
          <p:nvPr/>
        </p:nvSpPr>
        <p:spPr>
          <a:xfrm>
            <a:off x="6217920" y="4114800"/>
            <a:ext cx="91440" cy="2011680"/>
          </a:xfrm>
          <a:prstGeom prst="rect">
            <a:avLst/>
          </a:prstGeom>
          <a:solidFill>
            <a:srgbClr val="E63946"/>
          </a:solidFill>
          <a:ln/>
        </p:spPr>
      </p:sp>
      <p:sp>
        <p:nvSpPr>
          <p:cNvPr id="18" name="Text 16"/>
          <p:cNvSpPr/>
          <p:nvPr/>
        </p:nvSpPr>
        <p:spPr>
          <a:xfrm>
            <a:off x="6537960" y="434340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E6394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PAID ADS — TARGETED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537960" y="4754880"/>
            <a:ext cx="49377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audiences: HYROX athletes 15-mi radius, CrossFit/Olympic-lifting refugees, recovery/cold-plunge audience. Video creative reused from pillars.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0698480" y="649224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19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GUARDRAILS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What we will NOT do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640080" cy="685800"/>
          </a:xfrm>
          <a:prstGeom prst="rect">
            <a:avLst/>
          </a:prstGeom>
          <a:solidFill>
            <a:srgbClr val="FEE2E2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828800"/>
            <a:ext cx="640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E6394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✕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1417320" y="182880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Don't lower prices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417320" y="214884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Wrong customer. Damages the brand. Right answer to “too expensive” is “you're right, it's not for you” — said politely.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2697480"/>
            <a:ext cx="640080" cy="685800"/>
          </a:xfrm>
          <a:prstGeom prst="rect">
            <a:avLst/>
          </a:prstGeom>
          <a:solidFill>
            <a:srgbClr val="FEE2E2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2697480"/>
            <a:ext cx="640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E6394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✕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1417320" y="269748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Don't run “free week” ads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417320" y="301752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Attracts price-sensitive churners. Generic offer to generic audience = generic result.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3566160"/>
            <a:ext cx="640080" cy="685800"/>
          </a:xfrm>
          <a:prstGeom prst="rect">
            <a:avLst/>
          </a:prstGeom>
          <a:solidFill>
            <a:srgbClr val="FEE2E2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3566160"/>
            <a:ext cx="640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E6394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✕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1417320" y="356616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Don't try to be everything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417320" y="38862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 yoga studio. Not a wellness club. Not a kids' gym. Brand gets weaker every time it drifts off-avatar.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4434840"/>
            <a:ext cx="640080" cy="685800"/>
          </a:xfrm>
          <a:prstGeom prst="rect">
            <a:avLst/>
          </a:prstGeom>
          <a:solidFill>
            <a:srgbClr val="FEE2E2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4434840"/>
            <a:ext cx="640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E6394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✕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1417320" y="443484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Don't outsource the content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417320" y="475488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 and Jordan ARE the content. Hire an editor, not a creator. Authority comes from the operators, not an agency.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48640" y="5303520"/>
            <a:ext cx="640080" cy="685800"/>
          </a:xfrm>
          <a:prstGeom prst="rect">
            <a:avLst/>
          </a:prstGeom>
          <a:solidFill>
            <a:srgbClr val="FEE2E2"/>
          </a:solidFill>
          <a:ln/>
        </p:spPr>
      </p:sp>
      <p:sp>
        <p:nvSpPr>
          <p:cNvPr id="21" name="Text 19"/>
          <p:cNvSpPr/>
          <p:nvPr/>
        </p:nvSpPr>
        <p:spPr>
          <a:xfrm>
            <a:off x="548640" y="5303520"/>
            <a:ext cx="640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E6394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✕</a:t>
            </a:r>
            <a:endParaRPr lang="en-US" sz="2800" dirty="0"/>
          </a:p>
        </p:txBody>
      </p:sp>
      <p:sp>
        <p:nvSpPr>
          <p:cNvPr id="22" name="Text 20"/>
          <p:cNvSpPr/>
          <p:nvPr/>
        </p:nvSpPr>
        <p:spPr>
          <a:xfrm>
            <a:off x="1417320" y="530352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Don't skip the phase gates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417320" y="562356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phase has to be functionally working before the next one starts. No leapfrogging.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0698480" y="649224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19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POINT OF ALL THIS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One clear path. Same answer every time.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78308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E6394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NEW MEMBER JOURNEY  —  black and white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2286000"/>
            <a:ext cx="1767840" cy="2926080"/>
          </a:xfrm>
          <a:prstGeom prst="rect">
            <a:avLst/>
          </a:prstGeom>
          <a:solidFill>
            <a:srgbClr val="F4F4F5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58240" y="2514600"/>
            <a:ext cx="548640" cy="548640"/>
          </a:xfrm>
          <a:prstGeom prst="ellipse">
            <a:avLst/>
          </a:prstGeom>
          <a:solidFill>
            <a:srgbClr val="111827"/>
          </a:solidFill>
          <a:ln/>
        </p:spPr>
      </p:sp>
      <p:sp>
        <p:nvSpPr>
          <p:cNvPr id="7" name="Text 5"/>
          <p:cNvSpPr/>
          <p:nvPr/>
        </p:nvSpPr>
        <p:spPr>
          <a:xfrm>
            <a:off x="1158240" y="25146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6394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40080" y="3246120"/>
            <a:ext cx="1584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Discovers ARCH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0080" y="3977640"/>
            <a:ext cx="1584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Reel, Google, referral, ChatGPT result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316480" y="3749040"/>
            <a:ext cx="91440" cy="0"/>
          </a:xfrm>
          <a:prstGeom prst="line">
            <a:avLst/>
          </a:prstGeom>
          <a:noFill/>
          <a:ln w="19050">
            <a:solidFill>
              <a:srgbClr val="E63946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2407920" y="2286000"/>
            <a:ext cx="1767840" cy="292608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017520" y="2514600"/>
            <a:ext cx="548640" cy="548640"/>
          </a:xfrm>
          <a:prstGeom prst="ellipse">
            <a:avLst/>
          </a:prstGeom>
          <a:solidFill>
            <a:srgbClr val="111827"/>
          </a:solidFill>
          <a:ln/>
        </p:spPr>
      </p:sp>
      <p:sp>
        <p:nvSpPr>
          <p:cNvPr id="13" name="Text 11"/>
          <p:cNvSpPr/>
          <p:nvPr/>
        </p:nvSpPr>
        <p:spPr>
          <a:xfrm>
            <a:off x="3017520" y="25146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6394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2499360" y="3246120"/>
            <a:ext cx="1584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Lands a clean page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2499360" y="3977640"/>
            <a:ext cx="1584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Pricing as text, one CTA: book intro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175760" y="3749040"/>
            <a:ext cx="91440" cy="0"/>
          </a:xfrm>
          <a:prstGeom prst="line">
            <a:avLst/>
          </a:prstGeom>
          <a:noFill/>
          <a:ln w="19050">
            <a:solidFill>
              <a:srgbClr val="E63946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4267200" y="2286000"/>
            <a:ext cx="1767840" cy="2926080"/>
          </a:xfrm>
          <a:prstGeom prst="rect">
            <a:avLst/>
          </a:prstGeom>
          <a:solidFill>
            <a:srgbClr val="F4F4F5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876800" y="2514600"/>
            <a:ext cx="548640" cy="548640"/>
          </a:xfrm>
          <a:prstGeom prst="ellipse">
            <a:avLst/>
          </a:prstGeom>
          <a:solidFill>
            <a:srgbClr val="111827"/>
          </a:solidFill>
          <a:ln/>
        </p:spPr>
      </p:sp>
      <p:sp>
        <p:nvSpPr>
          <p:cNvPr id="19" name="Text 17"/>
          <p:cNvSpPr/>
          <p:nvPr/>
        </p:nvSpPr>
        <p:spPr>
          <a:xfrm>
            <a:off x="4876800" y="25146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6394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4358640" y="3246120"/>
            <a:ext cx="1584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Inquires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358640" y="3977640"/>
            <a:ext cx="1584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Form/IG/call → CRM lead in seconds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035040" y="3749040"/>
            <a:ext cx="91440" cy="0"/>
          </a:xfrm>
          <a:prstGeom prst="line">
            <a:avLst/>
          </a:prstGeom>
          <a:noFill/>
          <a:ln w="19050">
            <a:solidFill>
              <a:srgbClr val="E63946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6126480" y="2286000"/>
            <a:ext cx="1767840" cy="292608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736080" y="2514600"/>
            <a:ext cx="548640" cy="548640"/>
          </a:xfrm>
          <a:prstGeom prst="ellipse">
            <a:avLst/>
          </a:prstGeom>
          <a:solidFill>
            <a:srgbClr val="111827"/>
          </a:solidFill>
          <a:ln/>
        </p:spPr>
      </p:sp>
      <p:sp>
        <p:nvSpPr>
          <p:cNvPr id="25" name="Text 23"/>
          <p:cNvSpPr/>
          <p:nvPr/>
        </p:nvSpPr>
        <p:spPr>
          <a:xfrm>
            <a:off x="6736080" y="25146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6394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6217920" y="3246120"/>
            <a:ext cx="1584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Gets contacted fast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217920" y="3977640"/>
            <a:ext cx="1584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 SMS in &lt;10 min, human follow within 1 hr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7894320" y="3749040"/>
            <a:ext cx="91440" cy="0"/>
          </a:xfrm>
          <a:prstGeom prst="line">
            <a:avLst/>
          </a:prstGeom>
          <a:noFill/>
          <a:ln w="19050">
            <a:solidFill>
              <a:srgbClr val="E63946"/>
            </a:solidFill>
            <a:prstDash val="solid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7985760" y="2286000"/>
            <a:ext cx="1767840" cy="2926080"/>
          </a:xfrm>
          <a:prstGeom prst="rect">
            <a:avLst/>
          </a:prstGeom>
          <a:solidFill>
            <a:srgbClr val="F4F4F5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595360" y="2514600"/>
            <a:ext cx="548640" cy="548640"/>
          </a:xfrm>
          <a:prstGeom prst="ellipse">
            <a:avLst/>
          </a:prstGeom>
          <a:solidFill>
            <a:srgbClr val="111827"/>
          </a:solidFill>
          <a:ln/>
        </p:spPr>
      </p:sp>
      <p:sp>
        <p:nvSpPr>
          <p:cNvPr id="31" name="Text 29"/>
          <p:cNvSpPr/>
          <p:nvPr/>
        </p:nvSpPr>
        <p:spPr>
          <a:xfrm>
            <a:off x="8595360" y="25146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6394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8077200" y="3246120"/>
            <a:ext cx="1584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First class booked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8077200" y="3977640"/>
            <a:ext cx="1584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 captured at intake. Coach assigned.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9753600" y="3749040"/>
            <a:ext cx="91440" cy="0"/>
          </a:xfrm>
          <a:prstGeom prst="line">
            <a:avLst/>
          </a:prstGeom>
          <a:noFill/>
          <a:ln w="19050">
            <a:solidFill>
              <a:srgbClr val="E63946"/>
            </a:solidFill>
            <a:prstDash val="solid"/>
            <a:tailEnd type="triangle"/>
          </a:ln>
        </p:spPr>
      </p:sp>
      <p:sp>
        <p:nvSpPr>
          <p:cNvPr id="35" name="Shape 33"/>
          <p:cNvSpPr/>
          <p:nvPr/>
        </p:nvSpPr>
        <p:spPr>
          <a:xfrm>
            <a:off x="9845040" y="2286000"/>
            <a:ext cx="1767840" cy="292608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10454640" y="2514600"/>
            <a:ext cx="548640" cy="548640"/>
          </a:xfrm>
          <a:prstGeom prst="ellipse">
            <a:avLst/>
          </a:prstGeom>
          <a:solidFill>
            <a:srgbClr val="111827"/>
          </a:solidFill>
          <a:ln/>
        </p:spPr>
      </p:sp>
      <p:sp>
        <p:nvSpPr>
          <p:cNvPr id="37" name="Text 35"/>
          <p:cNvSpPr/>
          <p:nvPr/>
        </p:nvSpPr>
        <p:spPr>
          <a:xfrm>
            <a:off x="10454640" y="25146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6394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</a:t>
            </a:r>
            <a:endParaRPr lang="en-US" sz="1800" dirty="0"/>
          </a:p>
        </p:txBody>
      </p:sp>
      <p:sp>
        <p:nvSpPr>
          <p:cNvPr id="38" name="Text 36"/>
          <p:cNvSpPr/>
          <p:nvPr/>
        </p:nvSpPr>
        <p:spPr>
          <a:xfrm>
            <a:off x="9936480" y="3246120"/>
            <a:ext cx="1584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Member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9936480" y="3977640"/>
            <a:ext cx="1584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$149/mo. Card on file. 90-day review. Done.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548640" y="548640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exceptions. No special pricing on the spot. No “I'll check and get back to you.”  The system answers every time.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10698480" y="649224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19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WE START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first 30 days — what gets done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2628900" cy="4206240"/>
          </a:xfrm>
          <a:prstGeom prst="rect">
            <a:avLst/>
          </a:prstGeom>
          <a:solidFill>
            <a:srgbClr val="F4F4F5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828800"/>
            <a:ext cx="2628900" cy="457200"/>
          </a:xfrm>
          <a:prstGeom prst="rect">
            <a:avLst/>
          </a:prstGeom>
          <a:solidFill>
            <a:srgbClr val="111827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828800"/>
            <a:ext cx="22631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6394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WEEK 1–2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77240" y="2468880"/>
            <a:ext cx="221742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Finalize WellnessLiving cleanup &amp; taxonomy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 up weekly metrics dashboard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Lock billing rules (card-on-file, monthly, no payment = no access)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360420" y="1828800"/>
            <a:ext cx="2628900" cy="4206240"/>
          </a:xfrm>
          <a:prstGeom prst="rect">
            <a:avLst/>
          </a:prstGeom>
          <a:solidFill>
            <a:srgbClr val="F4F4F5"/>
          </a:solidFill>
          <a:ln/>
        </p:spPr>
      </p:sp>
      <p:sp>
        <p:nvSpPr>
          <p:cNvPr id="9" name="Shape 7"/>
          <p:cNvSpPr/>
          <p:nvPr/>
        </p:nvSpPr>
        <p:spPr>
          <a:xfrm>
            <a:off x="3360420" y="1828800"/>
            <a:ext cx="2628900" cy="457200"/>
          </a:xfrm>
          <a:prstGeom prst="rect">
            <a:avLst/>
          </a:prstGeom>
          <a:solidFill>
            <a:srgbClr val="111827"/>
          </a:solidFill>
          <a:ln/>
        </p:spPr>
      </p:sp>
      <p:sp>
        <p:nvSpPr>
          <p:cNvPr id="10" name="Text 8"/>
          <p:cNvSpPr/>
          <p:nvPr/>
        </p:nvSpPr>
        <p:spPr>
          <a:xfrm>
            <a:off x="3543300" y="1828800"/>
            <a:ext cx="22631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6394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WEEK 2–3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589020" y="2468880"/>
            <a:ext cx="221742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Activate WellnessLiving Marketing Suite (or GHL)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Wire Squarespace, IG, phone → CRM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 on lead-nurture + missed-call SMS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172200" y="1828800"/>
            <a:ext cx="2628900" cy="4206240"/>
          </a:xfrm>
          <a:prstGeom prst="rect">
            <a:avLst/>
          </a:prstGeom>
          <a:solidFill>
            <a:srgbClr val="F4F4F5"/>
          </a:solidFill>
          <a:ln/>
        </p:spPr>
      </p:sp>
      <p:sp>
        <p:nvSpPr>
          <p:cNvPr id="13" name="Shape 11"/>
          <p:cNvSpPr/>
          <p:nvPr/>
        </p:nvSpPr>
        <p:spPr>
          <a:xfrm>
            <a:off x="6172200" y="1828800"/>
            <a:ext cx="2628900" cy="457200"/>
          </a:xfrm>
          <a:prstGeom prst="rect">
            <a:avLst/>
          </a:prstGeom>
          <a:solidFill>
            <a:srgbClr val="111827"/>
          </a:solidFill>
          <a:ln/>
        </p:spPr>
      </p:sp>
      <p:sp>
        <p:nvSpPr>
          <p:cNvPr id="14" name="Text 12"/>
          <p:cNvSpPr/>
          <p:nvPr/>
        </p:nvSpPr>
        <p:spPr>
          <a:xfrm>
            <a:off x="6355080" y="1828800"/>
            <a:ext cx="22631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6394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WEEK 3–4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400800" y="2468880"/>
            <a:ext cx="221742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Website quick wins: pricing-as-text, llms.txt, schema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Rebuild link-in-bio (one tap → CTA)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avatar + brand voice doc (1 page each)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983980" y="1828800"/>
            <a:ext cx="2628900" cy="4206240"/>
          </a:xfrm>
          <a:prstGeom prst="rect">
            <a:avLst/>
          </a:prstGeom>
          <a:solidFill>
            <a:srgbClr val="F4F4F5"/>
          </a:solidFill>
          <a:ln/>
        </p:spPr>
      </p:sp>
      <p:sp>
        <p:nvSpPr>
          <p:cNvPr id="17" name="Shape 15"/>
          <p:cNvSpPr/>
          <p:nvPr/>
        </p:nvSpPr>
        <p:spPr>
          <a:xfrm>
            <a:off x="8983980" y="1828800"/>
            <a:ext cx="2628900" cy="457200"/>
          </a:xfrm>
          <a:prstGeom prst="rect">
            <a:avLst/>
          </a:prstGeom>
          <a:solidFill>
            <a:srgbClr val="111827"/>
          </a:solidFill>
          <a:ln/>
        </p:spPr>
      </p:sp>
      <p:sp>
        <p:nvSpPr>
          <p:cNvPr id="18" name="Text 16"/>
          <p:cNvSpPr/>
          <p:nvPr/>
        </p:nvSpPr>
        <p:spPr>
          <a:xfrm>
            <a:off x="9166860" y="1828800"/>
            <a:ext cx="22631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6394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WEEK 4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9212580" y="2468880"/>
            <a:ext cx="221742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 first 4 content pillars with Dom + Jordan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weekly member spotlight series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monthly review: what's working, what shifts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0698480" y="649224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/ 19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I FIT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Operator, not agency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5029200" cy="4389120"/>
          </a:xfrm>
          <a:prstGeom prst="rect">
            <a:avLst/>
          </a:prstGeom>
          <a:solidFill>
            <a:srgbClr val="111827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20116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E6394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DIFFERENCE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22960" y="233172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You don't need another agency.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822960" y="3108960"/>
            <a:ext cx="45720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need an operator who knows your stack, can wire it up, can ship content with you, and thinks about the business — not someone running templated Facebook ads on a leaky funnel.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5212080"/>
            <a:ext cx="4572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That's the difference between the last agency and this engagement.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852160" y="1828800"/>
            <a:ext cx="5852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E6394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60–90 DAY DELIVERABLES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852160" y="2194560"/>
            <a:ext cx="585216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WellnessLiving cleanup + reporting dashboards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 Suite / GHL setup + 3 lifecycle automations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Channel unification (Squarespace, IG, phone → CRM)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Website AI-readiness (text pricing, schema, llms.txt)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Avatar + brand voice doc + lead qualification flow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pyramid pipeline — pillar capture → multi-channel slicing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member spotlight production system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feedback aggregation with AI summaries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strategy review with Dom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0698480" y="649224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/ 19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E63946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3716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600" kern="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SUMMARY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31520" y="182880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Operations first.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731520" y="260604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Plumbing second.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731520" y="338328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Identity third.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731520" y="416052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E6394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Acceleration last.</a:t>
            </a:r>
            <a:endParaRPr lang="en-US" sz="4400" dirty="0"/>
          </a:p>
        </p:txBody>
      </p:sp>
      <p:sp>
        <p:nvSpPr>
          <p:cNvPr id="8" name="Shape 6"/>
          <p:cNvSpPr/>
          <p:nvPr/>
        </p:nvSpPr>
        <p:spPr>
          <a:xfrm>
            <a:off x="731520" y="5166360"/>
            <a:ext cx="2743200" cy="0"/>
          </a:xfrm>
          <a:prstGeom prst="line">
            <a:avLst/>
          </a:prstGeom>
          <a:noFill/>
          <a:ln w="38100">
            <a:solidFill>
              <a:srgbClr val="E6394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534924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Let's get on a call. I'll show you the WellnessLiving cleanup approach and the first 4 content pillars I'd record with you and Jordan.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31520" y="6172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— Sameer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ARCH Training — Growth Strategy</dc:title>
  <dc:subject>PptxGenJS Presentation</dc:subject>
  <dc:creator>Sameer</dc:creator>
  <cp:lastModifiedBy>Sameer</cp:lastModifiedBy>
  <cp:revision>1</cp:revision>
  <dcterms:created xsi:type="dcterms:W3CDTF">2026-05-18T23:29:04Z</dcterms:created>
  <dcterms:modified xsi:type="dcterms:W3CDTF">2026-05-18T23:29:04Z</dcterms:modified>
</cp:coreProperties>
</file>