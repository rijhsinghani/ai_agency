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5" r:id="rId26"/>
    <p:sldId id="259" r:id="rId5"/>
    <p:sldId id="260" r:id="rId6"/>
    <p:sldId id="261" r:id="rId7"/>
    <p:sldId id="262" r:id="rId8"/>
    <p:sldId id="276" r:id="rId27"/>
    <p:sldId id="263" r:id="rId9"/>
    <p:sldId id="264" r:id="rId10"/>
    <p:sldId id="265" r:id="rId11"/>
    <p:sldId id="266" r:id="rId12"/>
    <p:sldId id="277" r:id="rId28"/>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313"/>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A21E22"/>
          </a:solidFill>
          <a:ln>
            <a:noFill/>
          </a:ln>
        </p:spPr>
        <p:txBody>
          <a:bodyPr/>
          <a:p/>
        </p:txBody>
      </p:sp>
      <p:sp>
        <p:nvSpPr>
          <p:cNvPr id="3" name="Text 1"/>
          <p:cNvSpPr/>
          <p:nvPr/>
        </p:nvSpPr>
        <p:spPr>
          <a:xfrm>
            <a:off x="731520" y="1371600"/>
            <a:ext cx="9144000" cy="320040"/>
          </a:xfrm>
          <a:prstGeom prst="rect">
            <a:avLst/>
          </a:prstGeom>
          <a:noFill/>
          <a:ln>
            <a:noFill/>
          </a:ln>
        </p:spPr>
        <p:txBody>
          <a:bodyPr wrap="square" lIns="0" tIns="0" rIns="0" bIns="0" rtlCol="0" anchor="ctr"/>
          <a:lstStyle/>
          <a:p>
            <a:pPr indent="0" marL="0">
              <a:buNone/>
            </a:pPr>
            <a:r>
              <a:rPr lang="en-US" sz="1200" b="1" spc="600" kern="0" dirty="0">
                <a:solidFill>
                  <a:srgbClr val="A21E22"/>
                </a:solidFill>
                <a:latin typeface="Avenir Next" pitchFamily="34" charset="0"/>
                <a:ea typeface="Avenir Next" pitchFamily="34" charset="-122"/>
                <a:cs typeface="Avenir Next" pitchFamily="34" charset="-120"/>
              </a:rPr>
              <a:t>PRIVATE — FOR DOM</a:t>
            </a:r>
            <a:endParaRPr lang="en-US" sz="1200" dirty="0"/>
          </a:p>
        </p:txBody>
      </p:sp>
      <p:sp>
        <p:nvSpPr>
          <p:cNvPr id="4" name="Text 2"/>
          <p:cNvSpPr/>
          <p:nvPr/>
        </p:nvSpPr>
        <p:spPr>
          <a:xfrm>
            <a:off x="731520" y="1783080"/>
            <a:ext cx="10972800" cy="1005840"/>
          </a:xfrm>
          <a:prstGeom prst="rect">
            <a:avLst/>
          </a:prstGeom>
          <a:noFill/>
          <a:ln>
            <a:noFill/>
          </a:ln>
        </p:spPr>
        <p:txBody>
          <a:bodyPr wrap="square" lIns="0" tIns="0" rIns="0" bIns="0" rtlCol="0" anchor="ctr"/>
          <a:lstStyle/>
          <a:p>
            <a:pPr indent="0" marL="0">
              <a:buNone/>
            </a:pPr>
            <a:r>
              <a:rPr lang="en-US" sz="6000" b="1" dirty="0">
                <a:solidFill>
                  <a:srgbClr val="FFFFFF"/>
                </a:solidFill>
                <a:latin typeface="Avenir Next Heavy" pitchFamily="34" charset="0"/>
                <a:ea typeface="Avenir Next Heavy" pitchFamily="34" charset="-122"/>
                <a:cs typeface="Avenir Next Heavy" pitchFamily="34" charset="-120"/>
              </a:rPr>
              <a:t>ARCH Training</a:t>
            </a:r>
            <a:endParaRPr lang="en-US" sz="6000" dirty="0"/>
          </a:p>
        </p:txBody>
      </p:sp>
      <p:sp>
        <p:nvSpPr>
          <p:cNvPr id="5" name="Text 3"/>
          <p:cNvSpPr/>
          <p:nvPr/>
        </p:nvSpPr>
        <p:spPr>
          <a:xfrm>
            <a:off x="731520" y="2880360"/>
            <a:ext cx="10972800" cy="548640"/>
          </a:xfrm>
          <a:prstGeom prst="rect">
            <a:avLst/>
          </a:prstGeom>
          <a:noFill/>
          <a:ln>
            <a:noFill/>
          </a:ln>
        </p:spPr>
        <p:txBody>
          <a:bodyPr wrap="square" lIns="0" tIns="0" rIns="0" bIns="0" rtlCol="0" anchor="ctr"/>
          <a:lstStyle/>
          <a:p>
            <a:pPr indent="0" marL="0">
              <a:buNone/>
            </a:pPr>
            <a:r>
              <a:rPr lang="en-US" sz="2600" i="1" dirty="0">
                <a:solidFill>
                  <a:srgbClr val="D1D5DB"/>
                </a:solidFill>
                <a:latin typeface="Avenir Next" pitchFamily="34" charset="0"/>
                <a:ea typeface="Avenir Next" pitchFamily="34" charset="-122"/>
                <a:cs typeface="Avenir Next" pitchFamily="34" charset="-120"/>
              </a:rPr>
              <a:t>A Growth Plan, Not a Marketing Plan</a:t>
            </a:r>
            <a:endParaRPr lang="en-US" sz="2600" dirty="0"/>
          </a:p>
        </p:txBody>
      </p:sp>
      <p:sp>
        <p:nvSpPr>
          <p:cNvPr id="6" name="Shape 4"/>
          <p:cNvSpPr/>
          <p:nvPr/>
        </p:nvSpPr>
        <p:spPr>
          <a:xfrm>
            <a:off x="731520" y="3703320"/>
            <a:ext cx="2286000" cy="0"/>
          </a:xfrm>
          <a:prstGeom prst="line">
            <a:avLst/>
          </a:prstGeom>
          <a:noFill/>
          <a:ln w="38100">
            <a:solidFill>
              <a:srgbClr val="A21E22"/>
            </a:solidFill>
            <a:prstDash val="solid"/>
          </a:ln>
        </p:spPr>
        <p:txBody>
          <a:bodyPr/>
          <a:p/>
        </p:txBody>
      </p:sp>
      <p:sp>
        <p:nvSpPr>
          <p:cNvPr id="7" name="Text 5"/>
          <p:cNvSpPr/>
          <p:nvPr/>
        </p:nvSpPr>
        <p:spPr>
          <a:xfrm>
            <a:off x="731520" y="3840480"/>
            <a:ext cx="7315200" cy="320040"/>
          </a:xfrm>
          <a:prstGeom prst="rect">
            <a:avLst/>
          </a:prstGeom>
          <a:noFill/>
          <a:ln>
            <a:noFill/>
          </a:ln>
        </p:spPr>
        <p:txBody>
          <a:bodyPr wrap="square" lIns="0" tIns="0" rIns="0" bIns="0" rtlCol="0" anchor="ctr"/>
          <a:lstStyle/>
          <a:p>
            <a:pPr indent="0" marL="0">
              <a:buNone/>
            </a:pPr>
            <a:r>
              <a:rPr lang="en-US" sz="1400" b="1" dirty="0">
                <a:solidFill>
                  <a:srgbClr val="FFFFFF"/>
                </a:solidFill>
                <a:latin typeface="Avenir Next" pitchFamily="34" charset="0"/>
                <a:ea typeface="Avenir Next" pitchFamily="34" charset="-122"/>
                <a:cs typeface="Avenir Next" pitchFamily="34" charset="-120"/>
              </a:rPr>
              <a:t>Prepared by Sameer</a:t>
            </a:r>
            <a:endParaRPr lang="en-US" sz="1400" dirty="0"/>
          </a:p>
        </p:txBody>
      </p:sp>
      <p:sp>
        <p:nvSpPr>
          <p:cNvPr id="8" name="Text 6"/>
          <p:cNvSpPr/>
          <p:nvPr/>
        </p:nvSpPr>
        <p:spPr>
          <a:xfrm>
            <a:off x="731520" y="4160520"/>
            <a:ext cx="7315200" cy="274320"/>
          </a:xfrm>
          <a:prstGeom prst="rect">
            <a:avLst/>
          </a:prstGeom>
          <a:noFill/>
          <a:ln>
            <a:noFill/>
          </a:ln>
        </p:spPr>
        <p:txBody>
          <a:bodyPr wrap="square" lIns="0" tIns="0" rIns="0" bIns="0" rtlCol="0" anchor="ctr"/>
          <a:lstStyle/>
          <a:p>
            <a:pPr indent="0" marL="0">
              <a:buNone/>
            </a:pPr>
            <a:r>
              <a:rPr lang="en-US" sz="1200" dirty="0">
                <a:solidFill>
                  <a:srgbClr val="6B7280"/>
                </a:solidFill>
                <a:latin typeface="Avenir Next" pitchFamily="34" charset="0"/>
                <a:ea typeface="Avenir Next" pitchFamily="34" charset="-122"/>
                <a:cs typeface="Avenir Next" pitchFamily="34" charset="-120"/>
              </a:rPr>
              <a:t>May 2026  ·  Walkthrough recording</a:t>
            </a:r>
            <a:endParaRPr lang="en-US" sz="1200" dirty="0"/>
          </a:p>
        </p:txBody>
      </p:sp>
      <p:pic>
        <p:nvPicPr>
          <p:cNvPr id="9" name="Picture 8" descr="logo-white-transparent.png"/>
          <p:cNvPicPr>
            <a:picLocks noChangeAspect="1"/>
          </p:cNvPicPr>
          <p:nvPr/>
        </p:nvPicPr>
        <p:blipFill>
          <a:blip r:embed="rId3"/>
          <a:stretch>
            <a:fillRect/>
          </a:stretch>
        </p:blipFill>
        <p:spPr>
          <a:xfrm>
            <a:off x="10012680" y="411480"/>
            <a:ext cx="1308779"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SETTING EXPECTATIONS</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What this is — and what this isn't</a:t>
            </a:r>
            <a:endParaRPr lang="en-US" sz="2800" dirty="0"/>
          </a:p>
        </p:txBody>
      </p:sp>
      <p:sp>
        <p:nvSpPr>
          <p:cNvPr id="4" name="Shape 2"/>
          <p:cNvSpPr/>
          <p:nvPr/>
        </p:nvSpPr>
        <p:spPr>
          <a:xfrm>
            <a:off x="548640" y="1828800"/>
            <a:ext cx="5349240" cy="4114800"/>
          </a:xfrm>
          <a:prstGeom prst="rect">
            <a:avLst/>
          </a:prstGeom>
          <a:solidFill>
            <a:srgbClr val="F6EAEA"/>
          </a:solidFill>
          <a:ln>
            <a:noFill/>
          </a:ln>
        </p:spPr>
        <p:txBody>
          <a:bodyPr/>
          <a:p/>
        </p:txBody>
      </p:sp>
      <p:sp>
        <p:nvSpPr>
          <p:cNvPr id="5" name="Shape 3"/>
          <p:cNvSpPr/>
          <p:nvPr/>
        </p:nvSpPr>
        <p:spPr>
          <a:xfrm>
            <a:off x="548640" y="1828800"/>
            <a:ext cx="109728" cy="4114800"/>
          </a:xfrm>
          <a:prstGeom prst="rect">
            <a:avLst/>
          </a:prstGeom>
          <a:solidFill>
            <a:srgbClr val="A21E22"/>
          </a:solidFill>
          <a:ln>
            <a:noFill/>
          </a:ln>
        </p:spPr>
        <p:txBody>
          <a:bodyPr/>
          <a:p/>
        </p:txBody>
      </p:sp>
      <p:sp>
        <p:nvSpPr>
          <p:cNvPr id="6" name="Text 4"/>
          <p:cNvSpPr/>
          <p:nvPr/>
        </p:nvSpPr>
        <p:spPr>
          <a:xfrm>
            <a:off x="914400" y="2057400"/>
            <a:ext cx="4892040" cy="320040"/>
          </a:xfrm>
          <a:prstGeom prst="rect">
            <a:avLst/>
          </a:prstGeom>
          <a:noFill/>
          <a:ln>
            <a:noFill/>
          </a:ln>
        </p:spPr>
        <p:txBody>
          <a:bodyPr wrap="square" lIns="0" tIns="0" rIns="0" bIns="0" rtlCol="0" anchor="ctr"/>
          <a:lstStyle/>
          <a:p>
            <a:pPr indent="0" marL="0">
              <a:buNone/>
            </a:pPr>
            <a:r>
              <a:rPr lang="en-US" sz="1200" b="1" spc="400" kern="0" dirty="0">
                <a:solidFill>
                  <a:srgbClr val="A21E22"/>
                </a:solidFill>
                <a:latin typeface="Avenir Next Heavy" pitchFamily="34" charset="0"/>
                <a:ea typeface="Avenir Next Heavy" pitchFamily="34" charset="-122"/>
                <a:cs typeface="Avenir Next Heavy" pitchFamily="34" charset="-120"/>
              </a:rPr>
              <a:t>THIS IS</a:t>
            </a:r>
            <a:endParaRPr lang="en-US" sz="1200" dirty="0"/>
          </a:p>
        </p:txBody>
      </p:sp>
      <p:sp>
        <p:nvSpPr>
          <p:cNvPr id="7" name="Text 5"/>
          <p:cNvSpPr/>
          <p:nvPr/>
        </p:nvSpPr>
        <p:spPr>
          <a:xfrm>
            <a:off x="914400" y="2468880"/>
            <a:ext cx="4800600" cy="3200400"/>
          </a:xfrm>
          <a:prstGeom prst="rect">
            <a:avLst/>
          </a:prstGeom>
          <a:noFill/>
          <a:ln>
            <a:noFill/>
          </a:ln>
        </p:spPr>
        <p:txBody>
          <a:bodyPr wrap="square" lIns="0" tIns="0" rIns="0" bIns="0" rtlCol="0" anchor="t"/>
          <a:lstStyle/>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A sequenced, phased growth plan</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Built on what ARCH already does well</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Operations-first, marketing-second</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A repeatable playbook — same answer every time</a:t>
            </a:r>
            <a:endParaRPr lang="en-US" sz="1600" dirty="0"/>
          </a:p>
        </p:txBody>
      </p:sp>
      <p:sp>
        <p:nvSpPr>
          <p:cNvPr id="8" name="Shape 6"/>
          <p:cNvSpPr/>
          <p:nvPr/>
        </p:nvSpPr>
        <p:spPr>
          <a:xfrm>
            <a:off x="6263640" y="1828800"/>
            <a:ext cx="5349240" cy="4114800"/>
          </a:xfrm>
          <a:prstGeom prst="rect">
            <a:avLst/>
          </a:prstGeom>
          <a:solidFill>
            <a:srgbClr val="F4F4F5"/>
          </a:solidFill>
          <a:ln>
            <a:noFill/>
          </a:ln>
        </p:spPr>
        <p:txBody>
          <a:bodyPr/>
          <a:p/>
        </p:txBody>
      </p:sp>
      <p:sp>
        <p:nvSpPr>
          <p:cNvPr id="9" name="Shape 7"/>
          <p:cNvSpPr/>
          <p:nvPr/>
        </p:nvSpPr>
        <p:spPr>
          <a:xfrm>
            <a:off x="6263640" y="1828800"/>
            <a:ext cx="109728" cy="4114800"/>
          </a:xfrm>
          <a:prstGeom prst="rect">
            <a:avLst/>
          </a:prstGeom>
          <a:solidFill>
            <a:srgbClr val="6B7280"/>
          </a:solidFill>
          <a:ln>
            <a:noFill/>
          </a:ln>
        </p:spPr>
        <p:txBody>
          <a:bodyPr/>
          <a:p/>
        </p:txBody>
      </p:sp>
      <p:sp>
        <p:nvSpPr>
          <p:cNvPr id="10" name="Text 8"/>
          <p:cNvSpPr/>
          <p:nvPr/>
        </p:nvSpPr>
        <p:spPr>
          <a:xfrm>
            <a:off x="6629400" y="2057400"/>
            <a:ext cx="4892040" cy="320040"/>
          </a:xfrm>
          <a:prstGeom prst="rect">
            <a:avLst/>
          </a:prstGeom>
          <a:noFill/>
          <a:ln>
            <a:noFill/>
          </a:ln>
        </p:spPr>
        <p:txBody>
          <a:bodyPr wrap="square" lIns="0" tIns="0" rIns="0" bIns="0" rtlCol="0" anchor="ctr"/>
          <a:lstStyle/>
          <a:p>
            <a:pPr indent="0" marL="0">
              <a:buNone/>
            </a:pPr>
            <a:r>
              <a:rPr lang="en-US" sz="1200" b="1" spc="400" kern="0" dirty="0">
                <a:solidFill>
                  <a:srgbClr val="6B7280"/>
                </a:solidFill>
                <a:latin typeface="Avenir Next Heavy" pitchFamily="34" charset="0"/>
                <a:ea typeface="Avenir Next Heavy" pitchFamily="34" charset="-122"/>
                <a:cs typeface="Avenir Next Heavy" pitchFamily="34" charset="-120"/>
              </a:rPr>
              <a:t>THIS IS NOT</a:t>
            </a:r>
            <a:endParaRPr lang="en-US" sz="1200" dirty="0"/>
          </a:p>
        </p:txBody>
      </p:sp>
      <p:sp>
        <p:nvSpPr>
          <p:cNvPr id="11" name="Text 9"/>
          <p:cNvSpPr/>
          <p:nvPr/>
        </p:nvSpPr>
        <p:spPr>
          <a:xfrm>
            <a:off x="6629400" y="2468880"/>
            <a:ext cx="4800600" cy="3200400"/>
          </a:xfrm>
          <a:prstGeom prst="rect">
            <a:avLst/>
          </a:prstGeom>
          <a:noFill/>
          <a:ln>
            <a:noFill/>
          </a:ln>
        </p:spPr>
        <p:txBody>
          <a:bodyPr wrap="square" lIns="0" tIns="0" rIns="0" bIns="0" rtlCol="0" anchor="t"/>
          <a:lstStyle/>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An agency proposal</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“Run more ads and hope”</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A list of tactics to do all at once</a:t>
            </a:r>
            <a:endParaRPr lang="en-US" sz="1600" dirty="0"/>
          </a:p>
          <a:p>
            <a:pPr marL="342900" indent="-342900">
              <a:spcAft>
                <a:spcPts val="800"/>
              </a:spcAft>
              <a:buSzPct val="100000"/>
              <a:buChar char="•"/>
            </a:pPr>
            <a:r>
              <a:rPr lang="en-US" sz="1600" dirty="0">
                <a:solidFill>
                  <a:srgbClr val="131313"/>
                </a:solidFill>
                <a:latin typeface="Avenir Next" pitchFamily="34" charset="0"/>
                <a:ea typeface="Avenir Next" pitchFamily="34" charset="-122"/>
                <a:cs typeface="Avenir Next" pitchFamily="34" charset="-120"/>
              </a:rPr>
              <a:t>A price-cut to chase the $20/month crowd</a:t>
            </a:r>
            <a:endParaRPr lang="en-US" sz="1600" dirty="0"/>
          </a:p>
        </p:txBody>
      </p:sp>
      <p:sp>
        <p:nvSpPr>
          <p:cNvPr id="12" name="Text 10"/>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2 / 22</a:t>
            </a:r>
            <a:endParaRPr lang="en-US" sz="900" dirty="0"/>
          </a:p>
        </p:txBody>
      </p:sp>
      <p:pic>
        <p:nvPicPr>
          <p:cNvPr id="13" name="Picture 12"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THE MARKET POSITION</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ARCH already owns a niche no one else does</a:t>
            </a:r>
            <a:endParaRPr lang="en-US" sz="2800" dirty="0"/>
          </a:p>
        </p:txBody>
      </p:sp>
      <p:sp>
        <p:nvSpPr>
          <p:cNvPr id="4" name="Text 2"/>
          <p:cNvSpPr/>
          <p:nvPr/>
        </p:nvSpPr>
        <p:spPr>
          <a:xfrm>
            <a:off x="548640" y="1828800"/>
            <a:ext cx="5943600" cy="3474720"/>
          </a:xfrm>
          <a:prstGeom prst="rect">
            <a:avLst/>
          </a:prstGeom>
          <a:noFill/>
          <a:ln>
            <a:noFill/>
          </a:ln>
        </p:spPr>
        <p:txBody>
          <a:bodyPr wrap="square" lIns="0" tIns="0" rIns="0" bIns="0" rtlCol="0" anchor="t"/>
          <a:lstStyle/>
          <a:p>
            <a:pPr indent="0" marL="0">
              <a:buNone/>
            </a:pPr>
            <a:r>
              <a:rPr lang="en-US" sz="1400" b="1" dirty="0">
                <a:solidFill>
                  <a:srgbClr val="A21E22"/>
                </a:solidFill>
                <a:latin typeface="Avenir Next" pitchFamily="34" charset="0"/>
                <a:ea typeface="Avenir Next" pitchFamily="34" charset="-122"/>
                <a:cs typeface="Avenir Next" pitchFamily="34" charset="-120"/>
              </a:rPr>
              <a:t>3 locations  ·  HYROX affiliate  ·  Recovery suite</a:t>
            </a:r>
            <a:endParaRPr lang="en-US" sz="1600" dirty="0"/>
          </a:p>
          <a:p>
            <a:pPr indent="0" marL="0">
              <a:buNone/>
            </a:pPr>
            <a:r>
              <a:rPr lang="en-US" sz="600" dirty="0">
                <a:solidFill>
                  <a:srgbClr val="131313"/>
                </a:solidFill>
                <a:latin typeface="Avenir Next" pitchFamily="34" charset="0"/>
                <a:ea typeface="Avenir Next" pitchFamily="34" charset="-122"/>
                <a:cs typeface="Avenir Next" pitchFamily="34" charset="-120"/>
              </a:rPr>
              <a:t> </a:t>
            </a:r>
            <a:endParaRPr lang="en-US" sz="1600" dirty="0"/>
          </a:p>
          <a:p>
            <a:pPr indent="0" marL="0">
              <a:buNone/>
            </a:pPr>
            <a:r>
              <a:rPr lang="en-US" sz="1600" dirty="0">
                <a:solidFill>
                  <a:srgbClr val="131313"/>
                </a:solidFill>
                <a:latin typeface="Avenir Next" pitchFamily="34" charset="0"/>
                <a:ea typeface="Avenir Next" pitchFamily="34" charset="-122"/>
                <a:cs typeface="Avenir Next" pitchFamily="34" charset="-120"/>
              </a:rPr>
              <a:t>ARCH is the only serious-training + HYROX + recovery facility at this tier in Monmouth County.</a:t>
            </a:r>
            <a:endParaRPr lang="en-US" sz="1600" dirty="0"/>
          </a:p>
          <a:p>
            <a:pPr indent="0" marL="0">
              <a:buNone/>
            </a:pPr>
            <a:r>
              <a:rPr lang="en-US" sz="600" dirty="0">
                <a:solidFill>
                  <a:srgbClr val="131313"/>
                </a:solidFill>
                <a:latin typeface="Avenir Next" pitchFamily="34" charset="0"/>
                <a:ea typeface="Avenir Next" pitchFamily="34" charset="-122"/>
                <a:cs typeface="Avenir Next" pitchFamily="34" charset="-120"/>
              </a:rPr>
              <a:t> </a:t>
            </a:r>
            <a:endParaRPr lang="en-US" sz="1600" dirty="0"/>
          </a:p>
          <a:p>
            <a:pPr indent="0" marL="0">
              <a:buNone/>
            </a:pPr>
            <a:r>
              <a:rPr lang="en-US" sz="1600" dirty="0">
                <a:solidFill>
                  <a:srgbClr val="6B7280"/>
                </a:solidFill>
                <a:latin typeface="Avenir Next" pitchFamily="34" charset="0"/>
                <a:ea typeface="Avenir Next" pitchFamily="34" charset="-122"/>
                <a:cs typeface="Avenir Next" pitchFamily="34" charset="-120"/>
              </a:rPr>
              <a:t>Crunch, Planet, Retro, Jersey Strong — not the same customer.</a:t>
            </a:r>
            <a:endParaRPr lang="en-US" sz="1600" dirty="0"/>
          </a:p>
          <a:p>
            <a:pPr indent="0" marL="0">
              <a:buNone/>
            </a:pPr>
            <a:r>
              <a:rPr lang="en-US" sz="1600" dirty="0">
                <a:solidFill>
                  <a:srgbClr val="6B7280"/>
                </a:solidFill>
                <a:latin typeface="Avenir Next" pitchFamily="34" charset="0"/>
                <a:ea typeface="Avenir Next" pitchFamily="34" charset="-122"/>
                <a:cs typeface="Avenir Next" pitchFamily="34" charset="-120"/>
              </a:rPr>
              <a:t>Fitness Factory — closer, but general-purpose.</a:t>
            </a:r>
            <a:endParaRPr lang="en-US" sz="1600" dirty="0"/>
          </a:p>
          <a:p>
            <a:pPr indent="0" marL="0">
              <a:buNone/>
            </a:pPr>
            <a:r>
              <a:rPr lang="en-US" sz="1600" dirty="0">
                <a:solidFill>
                  <a:srgbClr val="6B7280"/>
                </a:solidFill>
                <a:latin typeface="Avenir Next" pitchFamily="34" charset="0"/>
                <a:ea typeface="Avenir Next" pitchFamily="34" charset="-122"/>
                <a:cs typeface="Avenir Next" pitchFamily="34" charset="-120"/>
              </a:rPr>
              <a:t>Lifetime — premium chain, wellness club, not a performance gym.</a:t>
            </a:r>
            <a:endParaRPr lang="en-US" sz="1600" dirty="0"/>
          </a:p>
        </p:txBody>
      </p:sp>
      <p:sp>
        <p:nvSpPr>
          <p:cNvPr id="5" name="Shape 3"/>
          <p:cNvSpPr/>
          <p:nvPr/>
        </p:nvSpPr>
        <p:spPr>
          <a:xfrm>
            <a:off x="548640" y="5394960"/>
            <a:ext cx="5943600" cy="914400"/>
          </a:xfrm>
          <a:prstGeom prst="rect">
            <a:avLst/>
          </a:prstGeom>
          <a:solidFill>
            <a:srgbClr val="131313"/>
          </a:solidFill>
          <a:ln>
            <a:noFill/>
          </a:ln>
        </p:spPr>
        <p:txBody>
          <a:bodyPr/>
          <a:p/>
        </p:txBody>
      </p:sp>
      <p:sp>
        <p:nvSpPr>
          <p:cNvPr id="6" name="Text 4"/>
          <p:cNvSpPr/>
          <p:nvPr/>
        </p:nvSpPr>
        <p:spPr>
          <a:xfrm>
            <a:off x="777240" y="5394960"/>
            <a:ext cx="5486400" cy="914400"/>
          </a:xfrm>
          <a:prstGeom prst="rect">
            <a:avLst/>
          </a:prstGeom>
          <a:noFill/>
          <a:ln>
            <a:noFill/>
          </a:ln>
        </p:spPr>
        <p:txBody>
          <a:bodyPr wrap="square" lIns="0" tIns="0" rIns="0" bIns="0" rtlCol="0" anchor="ctr"/>
          <a:lstStyle/>
          <a:p>
            <a:pPr indent="0" marL="0">
              <a:buNone/>
            </a:pPr>
            <a:r>
              <a:rPr lang="en-US" sz="1300" b="1" i="1" dirty="0">
                <a:solidFill>
                  <a:srgbClr val="FFFFFF"/>
                </a:solidFill>
                <a:latin typeface="Avenir Next" pitchFamily="34" charset="0"/>
                <a:ea typeface="Avenir Next" pitchFamily="34" charset="-122"/>
                <a:cs typeface="Avenir Next" pitchFamily="34" charset="-120"/>
              </a:rPr>
              <a:t>Decision filter:  “Does this attract serious trainers, or does it attract people who'll complain about $149?”</a:t>
            </a:r>
            <a:endParaRPr lang="en-US" sz="1300" dirty="0"/>
          </a:p>
        </p:txBody>
      </p:sp>
      <p:sp>
        <p:nvSpPr>
          <p:cNvPr id="7" name="Shape 5"/>
          <p:cNvSpPr/>
          <p:nvPr/>
        </p:nvSpPr>
        <p:spPr>
          <a:xfrm>
            <a:off x="6949440" y="1828800"/>
            <a:ext cx="4663440" cy="4389120"/>
          </a:xfrm>
          <a:prstGeom prst="rect">
            <a:avLst/>
          </a:prstGeom>
          <a:solidFill>
            <a:srgbClr val="F4F4F5"/>
          </a:solidFill>
          <a:ln w="12700">
            <a:solidFill>
              <a:srgbClr val="E5E7EB"/>
            </a:solidFill>
            <a:prstDash val="dash"/>
          </a:ln>
        </p:spPr>
        <p:txBody>
          <a:bodyPr/>
          <a:p/>
        </p:txBody>
      </p:sp>
      <p:sp>
        <p:nvSpPr>
          <p:cNvPr id="8" name="Shape 6"/>
          <p:cNvSpPr/>
          <p:nvPr/>
        </p:nvSpPr>
        <p:spPr>
          <a:xfrm>
            <a:off x="7132320" y="2011680"/>
            <a:ext cx="548640" cy="201168"/>
          </a:xfrm>
          <a:prstGeom prst="rect">
            <a:avLst/>
          </a:prstGeom>
          <a:solidFill>
            <a:srgbClr val="A21E22"/>
          </a:solidFill>
          <a:ln>
            <a:noFill/>
          </a:ln>
        </p:spPr>
        <p:txBody>
          <a:bodyPr/>
          <a:p/>
        </p:txBody>
      </p:sp>
      <p:sp>
        <p:nvSpPr>
          <p:cNvPr id="9" name="Text 7"/>
          <p:cNvSpPr/>
          <p:nvPr/>
        </p:nvSpPr>
        <p:spPr>
          <a:xfrm>
            <a:off x="7132320" y="2011680"/>
            <a:ext cx="548640" cy="201168"/>
          </a:xfrm>
          <a:prstGeom prst="rect">
            <a:avLst/>
          </a:prstGeom>
          <a:noFill/>
          <a:ln>
            <a:noFill/>
          </a:ln>
        </p:spPr>
        <p:txBody>
          <a:bodyPr wrap="square" lIns="0" tIns="0" rIns="0" bIns="0" rtlCol="0" anchor="ctr"/>
          <a:lstStyle/>
          <a:p>
            <a:pPr algn="ctr" indent="0" marL="0">
              <a:buNone/>
            </a:pPr>
            <a:r>
              <a:rPr lang="en-US" sz="1000" b="1" spc="200" kern="0" dirty="0">
                <a:solidFill>
                  <a:srgbClr val="FFFFFF"/>
                </a:solidFill>
                <a:latin typeface="Avenir Next Heavy" pitchFamily="34" charset="0"/>
                <a:ea typeface="Avenir Next Heavy" pitchFamily="34" charset="-122"/>
                <a:cs typeface="Avenir Next Heavy" pitchFamily="34" charset="-120"/>
              </a:rPr>
              <a:t>CUE</a:t>
            </a:r>
            <a:endParaRPr lang="en-US" sz="1000" dirty="0"/>
          </a:p>
        </p:txBody>
      </p:sp>
      <p:sp>
        <p:nvSpPr>
          <p:cNvPr id="10" name="Text 8"/>
          <p:cNvSpPr/>
          <p:nvPr/>
        </p:nvSpPr>
        <p:spPr>
          <a:xfrm>
            <a:off x="7132320" y="2331720"/>
            <a:ext cx="4297680" cy="45720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Cue: arch-training.com pricing page</a:t>
            </a:r>
            <a:endParaRPr lang="en-US" sz="1400" dirty="0"/>
          </a:p>
        </p:txBody>
      </p:sp>
      <p:sp>
        <p:nvSpPr>
          <p:cNvPr id="11" name="Text 9"/>
          <p:cNvSpPr/>
          <p:nvPr/>
        </p:nvSpPr>
        <p:spPr>
          <a:xfrm>
            <a:off x="7132320" y="2788920"/>
            <a:ext cx="4297680" cy="3291840"/>
          </a:xfrm>
          <a:prstGeom prst="rect">
            <a:avLst/>
          </a:prstGeom>
          <a:noFill/>
          <a:ln>
            <a:noFill/>
          </a:ln>
        </p:spPr>
        <p:txBody>
          <a:bodyPr wrap="square" lIns="0" tIns="0" rIns="0" bIns="0" rtlCol="0" anchor="t"/>
          <a:lstStyle/>
          <a:p>
            <a:pPr indent="0" marL="0">
              <a:buNone/>
            </a:pPr>
            <a:r>
              <a:rPr lang="en-US" sz="1100" i="1" dirty="0">
                <a:solidFill>
                  <a:srgbClr val="6B7280"/>
                </a:solidFill>
                <a:latin typeface="Avenir Next" pitchFamily="34" charset="0"/>
                <a:ea typeface="Avenir Next" pitchFamily="34" charset="-122"/>
                <a:cs typeface="Avenir Next" pitchFamily="34" charset="-120"/>
              </a:rPr>
              <a:t>$99 open gym  ·  $149 unlimited  ·  no contracts, no fees. Walk through what the plans include.</a:t>
            </a:r>
            <a:endParaRPr lang="en-US" sz="1100" dirty="0"/>
          </a:p>
        </p:txBody>
      </p:sp>
      <p:sp>
        <p:nvSpPr>
          <p:cNvPr id="12" name="Text 10"/>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WHAT'S ACTUALLY BROKEN</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Five problems — none are “we need ads”</a:t>
            </a:r>
            <a:endParaRPr lang="en-US" sz="2800" dirty="0"/>
          </a:p>
        </p:txBody>
      </p:sp>
      <p:sp>
        <p:nvSpPr>
          <p:cNvPr id="4" name="Shape 2"/>
          <p:cNvSpPr/>
          <p:nvPr/>
        </p:nvSpPr>
        <p:spPr>
          <a:xfrm>
            <a:off x="548640" y="1828800"/>
            <a:ext cx="640080" cy="640080"/>
          </a:xfrm>
          <a:prstGeom prst="rect">
            <a:avLst/>
          </a:prstGeom>
          <a:solidFill>
            <a:srgbClr val="131313"/>
          </a:solidFill>
          <a:ln>
            <a:noFill/>
          </a:ln>
        </p:spPr>
        <p:txBody>
          <a:bodyPr/>
          <a:p/>
        </p:txBody>
      </p:sp>
      <p:sp>
        <p:nvSpPr>
          <p:cNvPr id="5" name="Text 3"/>
          <p:cNvSpPr/>
          <p:nvPr/>
        </p:nvSpPr>
        <p:spPr>
          <a:xfrm>
            <a:off x="548640" y="1828800"/>
            <a:ext cx="640080" cy="64008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01</a:t>
            </a:r>
            <a:endParaRPr lang="en-US" sz="1800" dirty="0"/>
          </a:p>
        </p:txBody>
      </p:sp>
      <p:sp>
        <p:nvSpPr>
          <p:cNvPr id="6" name="Text 4"/>
          <p:cNvSpPr/>
          <p:nvPr/>
        </p:nvSpPr>
        <p:spPr>
          <a:xfrm>
            <a:off x="1417320" y="1828800"/>
            <a:ext cx="3657600" cy="365760"/>
          </a:xfrm>
          <a:prstGeom prst="rect">
            <a:avLst/>
          </a:prstGeom>
          <a:noFill/>
          <a:ln>
            <a:noFill/>
          </a:ln>
        </p:spPr>
        <p:txBody>
          <a:bodyPr wrap="square" lIns="0" tIns="0" rIns="0" bIns="0" rtlCol="0" anchor="t"/>
          <a:lstStyle/>
          <a:p>
            <a:pPr indent="0" marL="0">
              <a:buNone/>
            </a:pPr>
            <a:r>
              <a:rPr lang="en-US" sz="1600" b="1" dirty="0">
                <a:solidFill>
                  <a:srgbClr val="131313"/>
                </a:solidFill>
                <a:latin typeface="Avenir Next Heavy" pitchFamily="34" charset="0"/>
                <a:ea typeface="Avenir Next Heavy" pitchFamily="34" charset="-122"/>
                <a:cs typeface="Avenir Next Heavy" pitchFamily="34" charset="-120"/>
              </a:rPr>
              <a:t>Data is messy</a:t>
            </a:r>
            <a:endParaRPr lang="en-US" sz="1600" dirty="0"/>
          </a:p>
        </p:txBody>
      </p:sp>
      <p:sp>
        <p:nvSpPr>
          <p:cNvPr id="7" name="Text 5"/>
          <p:cNvSpPr/>
          <p:nvPr/>
        </p:nvSpPr>
        <p:spPr>
          <a:xfrm>
            <a:off x="1417320" y="2148840"/>
            <a:ext cx="10058400" cy="54864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Mindbody → WellnessLiving migration left legacy membership types. Can't answer “how many active members do I have?” cleanly.</a:t>
            </a:r>
            <a:endParaRPr lang="en-US" sz="1200" dirty="0"/>
          </a:p>
        </p:txBody>
      </p:sp>
      <p:sp>
        <p:nvSpPr>
          <p:cNvPr id="8" name="Shape 6"/>
          <p:cNvSpPr/>
          <p:nvPr/>
        </p:nvSpPr>
        <p:spPr>
          <a:xfrm>
            <a:off x="548640" y="2697480"/>
            <a:ext cx="640080" cy="640080"/>
          </a:xfrm>
          <a:prstGeom prst="rect">
            <a:avLst/>
          </a:prstGeom>
          <a:solidFill>
            <a:srgbClr val="131313"/>
          </a:solidFill>
          <a:ln>
            <a:noFill/>
          </a:ln>
        </p:spPr>
        <p:txBody>
          <a:bodyPr/>
          <a:p/>
        </p:txBody>
      </p:sp>
      <p:sp>
        <p:nvSpPr>
          <p:cNvPr id="9" name="Text 7"/>
          <p:cNvSpPr/>
          <p:nvPr/>
        </p:nvSpPr>
        <p:spPr>
          <a:xfrm>
            <a:off x="548640" y="2697480"/>
            <a:ext cx="640080" cy="64008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02</a:t>
            </a:r>
            <a:endParaRPr lang="en-US" sz="1800" dirty="0"/>
          </a:p>
        </p:txBody>
      </p:sp>
      <p:sp>
        <p:nvSpPr>
          <p:cNvPr id="10" name="Text 8"/>
          <p:cNvSpPr/>
          <p:nvPr/>
        </p:nvSpPr>
        <p:spPr>
          <a:xfrm>
            <a:off x="1417320" y="2697480"/>
            <a:ext cx="3657600" cy="365760"/>
          </a:xfrm>
          <a:prstGeom prst="rect">
            <a:avLst/>
          </a:prstGeom>
          <a:noFill/>
          <a:ln>
            <a:noFill/>
          </a:ln>
        </p:spPr>
        <p:txBody>
          <a:bodyPr wrap="square" lIns="0" tIns="0" rIns="0" bIns="0" rtlCol="0" anchor="t"/>
          <a:lstStyle/>
          <a:p>
            <a:pPr indent="0" marL="0">
              <a:buNone/>
            </a:pPr>
            <a:r>
              <a:rPr lang="en-US" sz="1600" b="1" dirty="0">
                <a:solidFill>
                  <a:srgbClr val="131313"/>
                </a:solidFill>
                <a:latin typeface="Avenir Next Heavy" pitchFamily="34" charset="0"/>
                <a:ea typeface="Avenir Next Heavy" pitchFamily="34" charset="-122"/>
                <a:cs typeface="Avenir Next Heavy" pitchFamily="34" charset="-120"/>
              </a:rPr>
              <a:t>Channels aren't unified</a:t>
            </a:r>
            <a:endParaRPr lang="en-US" sz="1600" dirty="0"/>
          </a:p>
        </p:txBody>
      </p:sp>
      <p:sp>
        <p:nvSpPr>
          <p:cNvPr id="11" name="Text 9"/>
          <p:cNvSpPr/>
          <p:nvPr/>
        </p:nvSpPr>
        <p:spPr>
          <a:xfrm>
            <a:off x="1417320" y="3017520"/>
            <a:ext cx="10058400" cy="54864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Squarespace form, IG DMs, phone calls, walk-ins — different surfaces, manual follow-up, leads fall off.</a:t>
            </a:r>
            <a:endParaRPr lang="en-US" sz="1200" dirty="0"/>
          </a:p>
        </p:txBody>
      </p:sp>
      <p:sp>
        <p:nvSpPr>
          <p:cNvPr id="12" name="Shape 10"/>
          <p:cNvSpPr/>
          <p:nvPr/>
        </p:nvSpPr>
        <p:spPr>
          <a:xfrm>
            <a:off x="548640" y="3566160"/>
            <a:ext cx="640080" cy="640080"/>
          </a:xfrm>
          <a:prstGeom prst="rect">
            <a:avLst/>
          </a:prstGeom>
          <a:solidFill>
            <a:srgbClr val="131313"/>
          </a:solidFill>
          <a:ln>
            <a:noFill/>
          </a:ln>
        </p:spPr>
        <p:txBody>
          <a:bodyPr/>
          <a:p/>
        </p:txBody>
      </p:sp>
      <p:sp>
        <p:nvSpPr>
          <p:cNvPr id="13" name="Text 11"/>
          <p:cNvSpPr/>
          <p:nvPr/>
        </p:nvSpPr>
        <p:spPr>
          <a:xfrm>
            <a:off x="548640" y="3566160"/>
            <a:ext cx="640080" cy="64008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03</a:t>
            </a:r>
            <a:endParaRPr lang="en-US" sz="1800" dirty="0"/>
          </a:p>
        </p:txBody>
      </p:sp>
      <p:sp>
        <p:nvSpPr>
          <p:cNvPr id="14" name="Text 12"/>
          <p:cNvSpPr/>
          <p:nvPr/>
        </p:nvSpPr>
        <p:spPr>
          <a:xfrm>
            <a:off x="1417320" y="3566160"/>
            <a:ext cx="3657600" cy="365760"/>
          </a:xfrm>
          <a:prstGeom prst="rect">
            <a:avLst/>
          </a:prstGeom>
          <a:noFill/>
          <a:ln>
            <a:noFill/>
          </a:ln>
        </p:spPr>
        <p:txBody>
          <a:bodyPr wrap="square" lIns="0" tIns="0" rIns="0" bIns="0" rtlCol="0" anchor="t"/>
          <a:lstStyle/>
          <a:p>
            <a:pPr indent="0" marL="0">
              <a:buNone/>
            </a:pPr>
            <a:r>
              <a:rPr lang="en-US" sz="1600" b="1" dirty="0">
                <a:solidFill>
                  <a:srgbClr val="131313"/>
                </a:solidFill>
                <a:latin typeface="Avenir Next Heavy" pitchFamily="34" charset="0"/>
                <a:ea typeface="Avenir Next Heavy" pitchFamily="34" charset="-122"/>
                <a:cs typeface="Avenir Next Heavy" pitchFamily="34" charset="-120"/>
              </a:rPr>
              <a:t>Website isn't AI-ready</a:t>
            </a:r>
            <a:endParaRPr lang="en-US" sz="1600" dirty="0"/>
          </a:p>
        </p:txBody>
      </p:sp>
      <p:sp>
        <p:nvSpPr>
          <p:cNvPr id="15" name="Text 13"/>
          <p:cNvSpPr/>
          <p:nvPr/>
        </p:nvSpPr>
        <p:spPr>
          <a:xfrm>
            <a:off x="1417320" y="3886200"/>
            <a:ext cx="10058400" cy="54864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The site blocks AI crawlers and has no schema markup, so AI search engines have very little they're allowed to read or cite about ARCH.</a:t>
            </a:r>
            <a:endParaRPr lang="en-US" sz="1200" dirty="0"/>
          </a:p>
        </p:txBody>
      </p:sp>
      <p:sp>
        <p:nvSpPr>
          <p:cNvPr id="16" name="Shape 14"/>
          <p:cNvSpPr/>
          <p:nvPr/>
        </p:nvSpPr>
        <p:spPr>
          <a:xfrm>
            <a:off x="548640" y="4434840"/>
            <a:ext cx="640080" cy="640080"/>
          </a:xfrm>
          <a:prstGeom prst="rect">
            <a:avLst/>
          </a:prstGeom>
          <a:solidFill>
            <a:srgbClr val="131313"/>
          </a:solidFill>
          <a:ln>
            <a:noFill/>
          </a:ln>
        </p:spPr>
        <p:txBody>
          <a:bodyPr/>
          <a:p/>
        </p:txBody>
      </p:sp>
      <p:sp>
        <p:nvSpPr>
          <p:cNvPr id="17" name="Text 15"/>
          <p:cNvSpPr/>
          <p:nvPr/>
        </p:nvSpPr>
        <p:spPr>
          <a:xfrm>
            <a:off x="548640" y="4434840"/>
            <a:ext cx="640080" cy="64008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04</a:t>
            </a:r>
            <a:endParaRPr lang="en-US" sz="1800" dirty="0"/>
          </a:p>
        </p:txBody>
      </p:sp>
      <p:sp>
        <p:nvSpPr>
          <p:cNvPr id="18" name="Text 16"/>
          <p:cNvSpPr/>
          <p:nvPr/>
        </p:nvSpPr>
        <p:spPr>
          <a:xfrm>
            <a:off x="1417320" y="4434840"/>
            <a:ext cx="3657600" cy="365760"/>
          </a:xfrm>
          <a:prstGeom prst="rect">
            <a:avLst/>
          </a:prstGeom>
          <a:noFill/>
          <a:ln>
            <a:noFill/>
          </a:ln>
        </p:spPr>
        <p:txBody>
          <a:bodyPr wrap="square" lIns="0" tIns="0" rIns="0" bIns="0" rtlCol="0" anchor="t"/>
          <a:lstStyle/>
          <a:p>
            <a:pPr indent="0" marL="0">
              <a:buNone/>
            </a:pPr>
            <a:r>
              <a:rPr lang="en-US" sz="1600" b="1" dirty="0">
                <a:solidFill>
                  <a:srgbClr val="131313"/>
                </a:solidFill>
                <a:latin typeface="Avenir Next Heavy" pitchFamily="34" charset="0"/>
                <a:ea typeface="Avenir Next Heavy" pitchFamily="34" charset="-122"/>
                <a:cs typeface="Avenir Next Heavy" pitchFamily="34" charset="-120"/>
              </a:rPr>
              <a:t>Wrong-fit leads cost time</a:t>
            </a:r>
            <a:endParaRPr lang="en-US" sz="1600" dirty="0"/>
          </a:p>
        </p:txBody>
      </p:sp>
      <p:sp>
        <p:nvSpPr>
          <p:cNvPr id="19" name="Text 17"/>
          <p:cNvSpPr/>
          <p:nvPr/>
        </p:nvSpPr>
        <p:spPr>
          <a:xfrm>
            <a:off x="1417320" y="4754880"/>
            <a:ext cx="10058400" cy="54864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Price-shoppers absorb staff energy, break room culture, never convert.</a:t>
            </a:r>
            <a:endParaRPr lang="en-US" sz="1200" dirty="0"/>
          </a:p>
        </p:txBody>
      </p:sp>
      <p:sp>
        <p:nvSpPr>
          <p:cNvPr id="20" name="Shape 18"/>
          <p:cNvSpPr/>
          <p:nvPr/>
        </p:nvSpPr>
        <p:spPr>
          <a:xfrm>
            <a:off x="548640" y="5303520"/>
            <a:ext cx="640080" cy="640080"/>
          </a:xfrm>
          <a:prstGeom prst="rect">
            <a:avLst/>
          </a:prstGeom>
          <a:solidFill>
            <a:srgbClr val="131313"/>
          </a:solidFill>
          <a:ln>
            <a:noFill/>
          </a:ln>
        </p:spPr>
        <p:txBody>
          <a:bodyPr/>
          <a:p/>
        </p:txBody>
      </p:sp>
      <p:sp>
        <p:nvSpPr>
          <p:cNvPr id="21" name="Text 19"/>
          <p:cNvSpPr/>
          <p:nvPr/>
        </p:nvSpPr>
        <p:spPr>
          <a:xfrm>
            <a:off x="548640" y="5303520"/>
            <a:ext cx="640080" cy="64008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05</a:t>
            </a:r>
            <a:endParaRPr lang="en-US" sz="1800" dirty="0"/>
          </a:p>
        </p:txBody>
      </p:sp>
      <p:sp>
        <p:nvSpPr>
          <p:cNvPr id="22" name="Text 20"/>
          <p:cNvSpPr/>
          <p:nvPr/>
        </p:nvSpPr>
        <p:spPr>
          <a:xfrm>
            <a:off x="1417320" y="5303520"/>
            <a:ext cx="3657600" cy="365760"/>
          </a:xfrm>
          <a:prstGeom prst="rect">
            <a:avLst/>
          </a:prstGeom>
          <a:noFill/>
          <a:ln>
            <a:noFill/>
          </a:ln>
        </p:spPr>
        <p:txBody>
          <a:bodyPr wrap="square" lIns="0" tIns="0" rIns="0" bIns="0" rtlCol="0" anchor="t"/>
          <a:lstStyle/>
          <a:p>
            <a:pPr indent="0" marL="0">
              <a:buNone/>
            </a:pPr>
            <a:r>
              <a:rPr lang="en-US" sz="1600" b="1" dirty="0">
                <a:solidFill>
                  <a:srgbClr val="131313"/>
                </a:solidFill>
                <a:latin typeface="Avenir Next Heavy" pitchFamily="34" charset="0"/>
                <a:ea typeface="Avenir Next Heavy" pitchFamily="34" charset="-122"/>
                <a:cs typeface="Avenir Next Heavy" pitchFamily="34" charset="-120"/>
              </a:rPr>
              <a:t>Quality isn't visible online</a:t>
            </a:r>
            <a:endParaRPr lang="en-US" sz="1600" dirty="0"/>
          </a:p>
        </p:txBody>
      </p:sp>
      <p:sp>
        <p:nvSpPr>
          <p:cNvPr id="23" name="Text 21"/>
          <p:cNvSpPr/>
          <p:nvPr/>
        </p:nvSpPr>
        <p:spPr>
          <a:xfrm>
            <a:off x="1417320" y="5623560"/>
            <a:ext cx="10058400" cy="54864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The product is great. The marketing footprint doesn't reflect that.</a:t>
            </a:r>
            <a:endParaRPr lang="en-US" sz="1200" dirty="0"/>
          </a:p>
        </p:txBody>
      </p:sp>
      <p:sp>
        <p:nvSpPr>
          <p:cNvPr id="24" name="Text 22"/>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5 / 22</a:t>
            </a:r>
            <a:endParaRPr lang="en-US" sz="900" dirty="0"/>
          </a:p>
        </p:txBody>
      </p:sp>
      <p:pic>
        <p:nvPicPr>
          <p:cNvPr id="25" name="Picture 24"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THE ORDER MATTERS</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Why we phase this — not all at once</a:t>
            </a:r>
            <a:endParaRPr lang="en-US" sz="2800" dirty="0"/>
          </a:p>
        </p:txBody>
      </p:sp>
      <p:sp>
        <p:nvSpPr>
          <p:cNvPr id="4" name="Shape 2"/>
          <p:cNvSpPr/>
          <p:nvPr/>
        </p:nvSpPr>
        <p:spPr>
          <a:xfrm>
            <a:off x="548640" y="1828800"/>
            <a:ext cx="3657600" cy="2011680"/>
          </a:xfrm>
          <a:prstGeom prst="rect">
            <a:avLst/>
          </a:prstGeom>
          <a:solidFill>
            <a:srgbClr val="F4F4F5"/>
          </a:solidFill>
          <a:ln>
            <a:noFill/>
          </a:ln>
        </p:spPr>
        <p:txBody>
          <a:bodyPr/>
          <a:p/>
        </p:txBody>
      </p:sp>
      <p:sp>
        <p:nvSpPr>
          <p:cNvPr id="5" name="Text 3"/>
          <p:cNvSpPr/>
          <p:nvPr/>
        </p:nvSpPr>
        <p:spPr>
          <a:xfrm>
            <a:off x="731520" y="1965960"/>
            <a:ext cx="3291840" cy="914400"/>
          </a:xfrm>
          <a:prstGeom prst="rect">
            <a:avLst/>
          </a:prstGeom>
          <a:noFill/>
          <a:ln>
            <a:noFill/>
          </a:ln>
        </p:spPr>
        <p:txBody>
          <a:bodyPr wrap="square" lIns="0" tIns="0" rIns="0" bIns="0" rtlCol="0" anchor="t"/>
          <a:lstStyle/>
          <a:p>
            <a:pPr indent="0" marL="0">
              <a:buNone/>
            </a:pPr>
            <a:r>
              <a:rPr lang="en-US" sz="4400" b="1" dirty="0">
                <a:solidFill>
                  <a:srgbClr val="A21E22"/>
                </a:solidFill>
                <a:latin typeface="Avenir Next Heavy" pitchFamily="34" charset="0"/>
                <a:ea typeface="Avenir Next Heavy" pitchFamily="34" charset="-122"/>
                <a:cs typeface="Avenir Next Heavy" pitchFamily="34" charset="-120"/>
              </a:rPr>
              <a:t>72 hrs</a:t>
            </a:r>
            <a:endParaRPr lang="en-US" sz="4400" dirty="0"/>
          </a:p>
        </p:txBody>
      </p:sp>
      <p:sp>
        <p:nvSpPr>
          <p:cNvPr id="6" name="Text 4"/>
          <p:cNvSpPr/>
          <p:nvPr/>
        </p:nvSpPr>
        <p:spPr>
          <a:xfrm>
            <a:off x="731520" y="2926080"/>
            <a:ext cx="3291840" cy="86868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Window before most boutique-gym leads go cold without follow-up</a:t>
            </a:r>
            <a:endParaRPr lang="en-US" sz="1200" dirty="0"/>
          </a:p>
        </p:txBody>
      </p:sp>
      <p:sp>
        <p:nvSpPr>
          <p:cNvPr id="7" name="Shape 5"/>
          <p:cNvSpPr/>
          <p:nvPr/>
        </p:nvSpPr>
        <p:spPr>
          <a:xfrm>
            <a:off x="4343400" y="1828800"/>
            <a:ext cx="3657600" cy="2011680"/>
          </a:xfrm>
          <a:prstGeom prst="rect">
            <a:avLst/>
          </a:prstGeom>
          <a:solidFill>
            <a:srgbClr val="F4F4F5"/>
          </a:solidFill>
          <a:ln>
            <a:noFill/>
          </a:ln>
        </p:spPr>
        <p:txBody>
          <a:bodyPr/>
          <a:p/>
        </p:txBody>
      </p:sp>
      <p:sp>
        <p:nvSpPr>
          <p:cNvPr id="8" name="Text 6"/>
          <p:cNvSpPr/>
          <p:nvPr/>
        </p:nvSpPr>
        <p:spPr>
          <a:xfrm>
            <a:off x="4526280" y="1965960"/>
            <a:ext cx="3291840" cy="914400"/>
          </a:xfrm>
          <a:prstGeom prst="rect">
            <a:avLst/>
          </a:prstGeom>
          <a:noFill/>
          <a:ln>
            <a:noFill/>
          </a:ln>
        </p:spPr>
        <p:txBody>
          <a:bodyPr wrap="square" lIns="0" tIns="0" rIns="0" bIns="0" rtlCol="0" anchor="t"/>
          <a:lstStyle/>
          <a:p>
            <a:pPr indent="0" marL="0">
              <a:buNone/>
            </a:pPr>
            <a:r>
              <a:rPr lang="en-US" sz="4400" b="1" dirty="0">
                <a:solidFill>
                  <a:srgbClr val="A21E22"/>
                </a:solidFill>
                <a:latin typeface="Avenir Next Heavy" pitchFamily="34" charset="0"/>
                <a:ea typeface="Avenir Next Heavy" pitchFamily="34" charset="-122"/>
                <a:cs typeface="Avenir Next Heavy" pitchFamily="34" charset="-120"/>
              </a:rPr>
              <a:t>5 min</a:t>
            </a:r>
            <a:endParaRPr lang="en-US" sz="4400" dirty="0"/>
          </a:p>
        </p:txBody>
      </p:sp>
      <p:sp>
        <p:nvSpPr>
          <p:cNvPr id="9" name="Text 7"/>
          <p:cNvSpPr/>
          <p:nvPr/>
        </p:nvSpPr>
        <p:spPr>
          <a:xfrm>
            <a:off x="4526280" y="2926080"/>
            <a:ext cx="3291840" cy="86868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Up to 21× more likely to reach a new lead when you respond within 5 minutes vs. 30</a:t>
            </a:r>
            <a:endParaRPr lang="en-US" sz="1200" dirty="0"/>
          </a:p>
        </p:txBody>
      </p:sp>
      <p:sp>
        <p:nvSpPr>
          <p:cNvPr id="10" name="Shape 8"/>
          <p:cNvSpPr/>
          <p:nvPr/>
        </p:nvSpPr>
        <p:spPr>
          <a:xfrm>
            <a:off x="8138160" y="1828800"/>
            <a:ext cx="3657600" cy="2011680"/>
          </a:xfrm>
          <a:prstGeom prst="rect">
            <a:avLst/>
          </a:prstGeom>
          <a:solidFill>
            <a:srgbClr val="F4F4F5"/>
          </a:solidFill>
          <a:ln>
            <a:noFill/>
          </a:ln>
        </p:spPr>
        <p:txBody>
          <a:bodyPr/>
          <a:p/>
        </p:txBody>
      </p:sp>
      <p:sp>
        <p:nvSpPr>
          <p:cNvPr id="11" name="Text 9"/>
          <p:cNvSpPr/>
          <p:nvPr/>
        </p:nvSpPr>
        <p:spPr>
          <a:xfrm>
            <a:off x="8321040" y="1965960"/>
            <a:ext cx="3291840" cy="914400"/>
          </a:xfrm>
          <a:prstGeom prst="rect">
            <a:avLst/>
          </a:prstGeom>
          <a:noFill/>
          <a:ln>
            <a:noFill/>
          </a:ln>
        </p:spPr>
        <p:txBody>
          <a:bodyPr wrap="square" lIns="0" tIns="0" rIns="0" bIns="0" rtlCol="0" anchor="t"/>
          <a:lstStyle/>
          <a:p>
            <a:pPr indent="0" marL="0">
              <a:buNone/>
            </a:pPr>
            <a:r>
              <a:rPr lang="en-US" sz="4400" b="1" dirty="0">
                <a:solidFill>
                  <a:srgbClr val="A21E22"/>
                </a:solidFill>
                <a:latin typeface="Avenir Next Heavy" pitchFamily="34" charset="0"/>
                <a:ea typeface="Avenir Next Heavy" pitchFamily="34" charset="-122"/>
                <a:cs typeface="Avenir Next Heavy" pitchFamily="34" charset="-120"/>
              </a:rPr>
              <a:t>3–5×</a:t>
            </a:r>
            <a:endParaRPr lang="en-US" sz="4400" dirty="0"/>
          </a:p>
        </p:txBody>
      </p:sp>
      <p:sp>
        <p:nvSpPr>
          <p:cNvPr id="12" name="Text 10"/>
          <p:cNvSpPr/>
          <p:nvPr/>
        </p:nvSpPr>
        <p:spPr>
          <a:xfrm>
            <a:off x="8321040" y="2926080"/>
            <a:ext cx="3291840" cy="86868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Cost to acquire a new member vs. retaining one</a:t>
            </a:r>
            <a:endParaRPr lang="en-US" sz="1200" dirty="0"/>
          </a:p>
        </p:txBody>
      </p:sp>
      <p:sp>
        <p:nvSpPr>
          <p:cNvPr id="13" name="Shape 11"/>
          <p:cNvSpPr/>
          <p:nvPr/>
        </p:nvSpPr>
        <p:spPr>
          <a:xfrm>
            <a:off x="548640" y="4206240"/>
            <a:ext cx="11064240" cy="1828800"/>
          </a:xfrm>
          <a:prstGeom prst="rect">
            <a:avLst/>
          </a:prstGeom>
          <a:solidFill>
            <a:srgbClr val="131313"/>
          </a:solidFill>
          <a:ln>
            <a:noFill/>
          </a:ln>
        </p:spPr>
        <p:txBody>
          <a:bodyPr/>
          <a:p/>
        </p:txBody>
      </p:sp>
      <p:sp>
        <p:nvSpPr>
          <p:cNvPr id="14" name="Text 12"/>
          <p:cNvSpPr/>
          <p:nvPr/>
        </p:nvSpPr>
        <p:spPr>
          <a:xfrm>
            <a:off x="914400" y="4343400"/>
            <a:ext cx="54864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PRINCIPLE</a:t>
            </a:r>
            <a:endParaRPr lang="en-US" sz="1100" dirty="0"/>
          </a:p>
        </p:txBody>
      </p:sp>
      <p:sp>
        <p:nvSpPr>
          <p:cNvPr id="15" name="Text 13"/>
          <p:cNvSpPr/>
          <p:nvPr/>
        </p:nvSpPr>
        <p:spPr>
          <a:xfrm>
            <a:off x="914400" y="4663440"/>
            <a:ext cx="10332720" cy="640080"/>
          </a:xfrm>
          <a:prstGeom prst="rect">
            <a:avLst/>
          </a:prstGeom>
          <a:noFill/>
          <a:ln>
            <a:noFill/>
          </a:ln>
        </p:spPr>
        <p:txBody>
          <a:bodyPr wrap="square" lIns="0" tIns="0" rIns="0" bIns="0" rtlCol="0" anchor="t"/>
          <a:lstStyle/>
          <a:p>
            <a:pPr indent="0" marL="0">
              <a:buNone/>
            </a:pPr>
            <a:r>
              <a:rPr lang="en-US" sz="1800" b="1" dirty="0">
                <a:solidFill>
                  <a:srgbClr val="FFFFFF"/>
                </a:solidFill>
                <a:latin typeface="Avenir Next Heavy" pitchFamily="34" charset="0"/>
                <a:ea typeface="Avenir Next Heavy" pitchFamily="34" charset="-122"/>
                <a:cs typeface="Avenir Next Heavy" pitchFamily="34" charset="-120"/>
              </a:rPr>
              <a:t>Don't market until the bucket stops leaking. Don't fix the bucket until the data tells you which leaks matter.</a:t>
            </a:r>
            <a:endParaRPr lang="en-US" sz="1800" dirty="0"/>
          </a:p>
        </p:txBody>
      </p:sp>
      <p:sp>
        <p:nvSpPr>
          <p:cNvPr id="16" name="Text 14"/>
          <p:cNvSpPr/>
          <p:nvPr/>
        </p:nvSpPr>
        <p:spPr>
          <a:xfrm>
            <a:off x="914400" y="5349240"/>
            <a:ext cx="10332720" cy="548640"/>
          </a:xfrm>
          <a:prstGeom prst="rect">
            <a:avLst/>
          </a:prstGeom>
          <a:noFill/>
          <a:ln>
            <a:noFill/>
          </a:ln>
        </p:spPr>
        <p:txBody>
          <a:bodyPr wrap="square" lIns="0" tIns="0" rIns="0" bIns="0" rtlCol="0" anchor="t"/>
          <a:lstStyle/>
          <a:p>
            <a:pPr indent="0" marL="0">
              <a:buNone/>
            </a:pPr>
            <a:r>
              <a:rPr lang="en-US" sz="1300" i="1" dirty="0">
                <a:solidFill>
                  <a:srgbClr val="D1D5DB"/>
                </a:solidFill>
                <a:latin typeface="Avenir Next" pitchFamily="34" charset="0"/>
                <a:ea typeface="Avenir Next" pitchFamily="34" charset="-122"/>
                <a:cs typeface="Avenir Next" pitchFamily="34" charset="-120"/>
              </a:rPr>
              <a:t>Operations first. Then plumbing. Then identity. Then acceleration. Each phase has a gate — we don't move forward until the prior phase is functionally working.</a:t>
            </a:r>
            <a:endParaRPr lang="en-US" sz="1300" dirty="0"/>
          </a:p>
        </p:txBody>
      </p:sp>
      <p:sp>
        <p:nvSpPr>
          <p:cNvPr id="17" name="Text 15"/>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6 / 22</a:t>
            </a:r>
            <a:endParaRPr lang="en-US" sz="900" dirty="0"/>
          </a:p>
        </p:txBody>
      </p:sp>
      <p:pic>
        <p:nvPicPr>
          <p:cNvPr id="18" name="Picture 17"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THE ROADMAP</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Four phases — sequenced, overlap where safe</a:t>
            </a:r>
            <a:endParaRPr lang="en-US" sz="2800" dirty="0"/>
          </a:p>
        </p:txBody>
      </p:sp>
      <p:sp>
        <p:nvSpPr>
          <p:cNvPr id="4" name="Shape 2"/>
          <p:cNvSpPr/>
          <p:nvPr/>
        </p:nvSpPr>
        <p:spPr>
          <a:xfrm>
            <a:off x="548640" y="2011680"/>
            <a:ext cx="11064240" cy="2286000"/>
          </a:xfrm>
          <a:prstGeom prst="rect">
            <a:avLst/>
          </a:prstGeom>
          <a:solidFill>
            <a:srgbClr val="F4F4F5"/>
          </a:solidFill>
          <a:ln>
            <a:noFill/>
          </a:ln>
        </p:spPr>
        <p:txBody>
          <a:bodyPr/>
          <a:p/>
        </p:txBody>
      </p:sp>
      <p:sp>
        <p:nvSpPr>
          <p:cNvPr id="5" name="Shape 3"/>
          <p:cNvSpPr/>
          <p:nvPr/>
        </p:nvSpPr>
        <p:spPr>
          <a:xfrm>
            <a:off x="822960" y="2011680"/>
            <a:ext cx="0" cy="2286000"/>
          </a:xfrm>
          <a:prstGeom prst="line">
            <a:avLst/>
          </a:prstGeom>
          <a:noFill/>
          <a:ln w="6350">
            <a:solidFill>
              <a:srgbClr val="E5E7EB"/>
            </a:solidFill>
            <a:prstDash val="solid"/>
          </a:ln>
        </p:spPr>
        <p:txBody>
          <a:bodyPr/>
          <a:p/>
        </p:txBody>
      </p:sp>
      <p:sp>
        <p:nvSpPr>
          <p:cNvPr id="6" name="Text 4"/>
          <p:cNvSpPr/>
          <p:nvPr/>
        </p:nvSpPr>
        <p:spPr>
          <a:xfrm>
            <a:off x="548640"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W0</a:t>
            </a:r>
            <a:endParaRPr lang="en-US" sz="800" dirty="0"/>
          </a:p>
        </p:txBody>
      </p:sp>
      <p:sp>
        <p:nvSpPr>
          <p:cNvPr id="7" name="Shape 5"/>
          <p:cNvSpPr/>
          <p:nvPr/>
        </p:nvSpPr>
        <p:spPr>
          <a:xfrm>
            <a:off x="2325189" y="2011680"/>
            <a:ext cx="0" cy="2286000"/>
          </a:xfrm>
          <a:prstGeom prst="line">
            <a:avLst/>
          </a:prstGeom>
          <a:noFill/>
          <a:ln w="6350">
            <a:solidFill>
              <a:srgbClr val="E5E7EB"/>
            </a:solidFill>
            <a:prstDash val="solid"/>
          </a:ln>
        </p:spPr>
        <p:txBody>
          <a:bodyPr/>
          <a:p/>
        </p:txBody>
      </p:sp>
      <p:sp>
        <p:nvSpPr>
          <p:cNvPr id="8" name="Text 6"/>
          <p:cNvSpPr/>
          <p:nvPr/>
        </p:nvSpPr>
        <p:spPr>
          <a:xfrm>
            <a:off x="2050869"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W2</a:t>
            </a:r>
            <a:endParaRPr lang="en-US" sz="800" dirty="0"/>
          </a:p>
        </p:txBody>
      </p:sp>
      <p:sp>
        <p:nvSpPr>
          <p:cNvPr id="9" name="Shape 7"/>
          <p:cNvSpPr/>
          <p:nvPr/>
        </p:nvSpPr>
        <p:spPr>
          <a:xfrm>
            <a:off x="3827417" y="2011680"/>
            <a:ext cx="0" cy="2286000"/>
          </a:xfrm>
          <a:prstGeom prst="line">
            <a:avLst/>
          </a:prstGeom>
          <a:noFill/>
          <a:ln w="6350">
            <a:solidFill>
              <a:srgbClr val="E5E7EB"/>
            </a:solidFill>
            <a:prstDash val="solid"/>
          </a:ln>
        </p:spPr>
        <p:txBody>
          <a:bodyPr/>
          <a:p/>
        </p:txBody>
      </p:sp>
      <p:sp>
        <p:nvSpPr>
          <p:cNvPr id="10" name="Text 8"/>
          <p:cNvSpPr/>
          <p:nvPr/>
        </p:nvSpPr>
        <p:spPr>
          <a:xfrm>
            <a:off x="3553097"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W4</a:t>
            </a:r>
            <a:endParaRPr lang="en-US" sz="800" dirty="0"/>
          </a:p>
        </p:txBody>
      </p:sp>
      <p:sp>
        <p:nvSpPr>
          <p:cNvPr id="11" name="Shape 9"/>
          <p:cNvSpPr/>
          <p:nvPr/>
        </p:nvSpPr>
        <p:spPr>
          <a:xfrm>
            <a:off x="5329646" y="2011680"/>
            <a:ext cx="0" cy="2286000"/>
          </a:xfrm>
          <a:prstGeom prst="line">
            <a:avLst/>
          </a:prstGeom>
          <a:noFill/>
          <a:ln w="6350">
            <a:solidFill>
              <a:srgbClr val="E5E7EB"/>
            </a:solidFill>
            <a:prstDash val="solid"/>
          </a:ln>
        </p:spPr>
        <p:txBody>
          <a:bodyPr/>
          <a:p/>
        </p:txBody>
      </p:sp>
      <p:sp>
        <p:nvSpPr>
          <p:cNvPr id="12" name="Text 10"/>
          <p:cNvSpPr/>
          <p:nvPr/>
        </p:nvSpPr>
        <p:spPr>
          <a:xfrm>
            <a:off x="5055326"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W6</a:t>
            </a:r>
            <a:endParaRPr lang="en-US" sz="800" dirty="0"/>
          </a:p>
        </p:txBody>
      </p:sp>
      <p:sp>
        <p:nvSpPr>
          <p:cNvPr id="13" name="Shape 11"/>
          <p:cNvSpPr/>
          <p:nvPr/>
        </p:nvSpPr>
        <p:spPr>
          <a:xfrm>
            <a:off x="6831874" y="2011680"/>
            <a:ext cx="0" cy="2286000"/>
          </a:xfrm>
          <a:prstGeom prst="line">
            <a:avLst/>
          </a:prstGeom>
          <a:noFill/>
          <a:ln w="6350">
            <a:solidFill>
              <a:srgbClr val="E5E7EB"/>
            </a:solidFill>
            <a:prstDash val="solid"/>
          </a:ln>
        </p:spPr>
        <p:txBody>
          <a:bodyPr/>
          <a:p/>
        </p:txBody>
      </p:sp>
      <p:sp>
        <p:nvSpPr>
          <p:cNvPr id="14" name="Text 12"/>
          <p:cNvSpPr/>
          <p:nvPr/>
        </p:nvSpPr>
        <p:spPr>
          <a:xfrm>
            <a:off x="6557554"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W8</a:t>
            </a:r>
            <a:endParaRPr lang="en-US" sz="800" dirty="0"/>
          </a:p>
        </p:txBody>
      </p:sp>
      <p:sp>
        <p:nvSpPr>
          <p:cNvPr id="15" name="Shape 13"/>
          <p:cNvSpPr/>
          <p:nvPr/>
        </p:nvSpPr>
        <p:spPr>
          <a:xfrm>
            <a:off x="8334103" y="2011680"/>
            <a:ext cx="0" cy="2286000"/>
          </a:xfrm>
          <a:prstGeom prst="line">
            <a:avLst/>
          </a:prstGeom>
          <a:noFill/>
          <a:ln w="6350">
            <a:solidFill>
              <a:srgbClr val="E5E7EB"/>
            </a:solidFill>
            <a:prstDash val="solid"/>
          </a:ln>
        </p:spPr>
        <p:txBody>
          <a:bodyPr/>
          <a:p/>
        </p:txBody>
      </p:sp>
      <p:sp>
        <p:nvSpPr>
          <p:cNvPr id="16" name="Text 14"/>
          <p:cNvSpPr/>
          <p:nvPr/>
        </p:nvSpPr>
        <p:spPr>
          <a:xfrm>
            <a:off x="8059783"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W10</a:t>
            </a:r>
            <a:endParaRPr lang="en-US" sz="800" dirty="0"/>
          </a:p>
        </p:txBody>
      </p:sp>
      <p:sp>
        <p:nvSpPr>
          <p:cNvPr id="17" name="Shape 15"/>
          <p:cNvSpPr/>
          <p:nvPr/>
        </p:nvSpPr>
        <p:spPr>
          <a:xfrm>
            <a:off x="9836331" y="2011680"/>
            <a:ext cx="0" cy="2286000"/>
          </a:xfrm>
          <a:prstGeom prst="line">
            <a:avLst/>
          </a:prstGeom>
          <a:noFill/>
          <a:ln w="6350">
            <a:solidFill>
              <a:srgbClr val="E5E7EB"/>
            </a:solidFill>
            <a:prstDash val="solid"/>
          </a:ln>
        </p:spPr>
        <p:txBody>
          <a:bodyPr/>
          <a:p/>
        </p:txBody>
      </p:sp>
      <p:sp>
        <p:nvSpPr>
          <p:cNvPr id="18" name="Text 16"/>
          <p:cNvSpPr/>
          <p:nvPr/>
        </p:nvSpPr>
        <p:spPr>
          <a:xfrm>
            <a:off x="9562011"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W12</a:t>
            </a:r>
            <a:endParaRPr lang="en-US" sz="800" dirty="0"/>
          </a:p>
        </p:txBody>
      </p:sp>
      <p:sp>
        <p:nvSpPr>
          <p:cNvPr id="19" name="Shape 17"/>
          <p:cNvSpPr/>
          <p:nvPr/>
        </p:nvSpPr>
        <p:spPr>
          <a:xfrm>
            <a:off x="11338560" y="2011680"/>
            <a:ext cx="0" cy="2286000"/>
          </a:xfrm>
          <a:prstGeom prst="line">
            <a:avLst/>
          </a:prstGeom>
          <a:noFill/>
          <a:ln w="6350">
            <a:solidFill>
              <a:srgbClr val="E5E7EB"/>
            </a:solidFill>
            <a:prstDash val="solid"/>
          </a:ln>
        </p:spPr>
        <p:txBody>
          <a:bodyPr/>
          <a:p/>
        </p:txBody>
      </p:sp>
      <p:sp>
        <p:nvSpPr>
          <p:cNvPr id="20" name="Text 18"/>
          <p:cNvSpPr/>
          <p:nvPr/>
        </p:nvSpPr>
        <p:spPr>
          <a:xfrm>
            <a:off x="11064240" y="4315968"/>
            <a:ext cx="548640" cy="228600"/>
          </a:xfrm>
          <a:prstGeom prst="rect">
            <a:avLst/>
          </a:prstGeom>
          <a:noFill/>
          <a:ln>
            <a:noFill/>
          </a:ln>
        </p:spPr>
        <p:txBody>
          <a:bodyPr wrap="square" lIns="0" tIns="0" rIns="0" bIns="0" rtlCol="0" anchor="ctr"/>
          <a:lstStyle/>
          <a:p>
            <a:pPr algn="ctr" indent="0" marL="0">
              <a:buNone/>
            </a:pPr>
            <a:r>
              <a:rPr lang="en-US" sz="800" dirty="0">
                <a:solidFill>
                  <a:srgbClr val="6B7280"/>
                </a:solidFill>
                <a:latin typeface="Avenir Next" pitchFamily="34" charset="0"/>
                <a:ea typeface="Avenir Next" pitchFamily="34" charset="-122"/>
                <a:cs typeface="Avenir Next" pitchFamily="34" charset="-120"/>
              </a:rPr>
              <a:t>W14</a:t>
            </a:r>
            <a:endParaRPr lang="en-US" sz="800" dirty="0"/>
          </a:p>
        </p:txBody>
      </p:sp>
      <p:sp>
        <p:nvSpPr>
          <p:cNvPr id="21" name="Shape 19"/>
          <p:cNvSpPr/>
          <p:nvPr/>
        </p:nvSpPr>
        <p:spPr>
          <a:xfrm>
            <a:off x="822960" y="2103120"/>
            <a:ext cx="3004457" cy="365760"/>
          </a:xfrm>
          <a:prstGeom prst="rect">
            <a:avLst/>
          </a:prstGeom>
          <a:solidFill>
            <a:srgbClr val="A21E22"/>
          </a:solidFill>
          <a:ln>
            <a:noFill/>
          </a:ln>
        </p:spPr>
        <p:txBody>
          <a:bodyPr/>
          <a:p/>
        </p:txBody>
      </p:sp>
      <p:sp>
        <p:nvSpPr>
          <p:cNvPr id="22" name="Text 20"/>
          <p:cNvSpPr/>
          <p:nvPr/>
        </p:nvSpPr>
        <p:spPr>
          <a:xfrm>
            <a:off x="914400" y="2103120"/>
            <a:ext cx="2821577" cy="365760"/>
          </a:xfrm>
          <a:prstGeom prst="rect">
            <a:avLst/>
          </a:prstGeom>
          <a:noFill/>
          <a:ln>
            <a:noFill/>
          </a:ln>
        </p:spPr>
        <p:txBody>
          <a:bodyPr wrap="square" lIns="0" tIns="0" rIns="0" bIns="0" rtlCol="0" anchor="ctr"/>
          <a:lstStyle/>
          <a:p>
            <a:pPr indent="0" marL="0">
              <a:buNone/>
            </a:pPr>
            <a:r>
              <a:rPr lang="en-US" sz="1100" b="1" dirty="0">
                <a:solidFill>
                  <a:srgbClr val="FFFFFF"/>
                </a:solidFill>
                <a:latin typeface="Avenir Next Heavy" pitchFamily="34" charset="0"/>
                <a:ea typeface="Avenir Next Heavy" pitchFamily="34" charset="-122"/>
                <a:cs typeface="Avenir Next Heavy" pitchFamily="34" charset="-120"/>
              </a:rPr>
              <a:t>PHASE 0  ·  FOUNDATION</a:t>
            </a:r>
            <a:endParaRPr lang="en-US" sz="1100" dirty="0"/>
          </a:p>
        </p:txBody>
      </p:sp>
      <p:sp>
        <p:nvSpPr>
          <p:cNvPr id="23" name="Shape 21"/>
          <p:cNvSpPr/>
          <p:nvPr/>
        </p:nvSpPr>
        <p:spPr>
          <a:xfrm>
            <a:off x="2325189" y="2606040"/>
            <a:ext cx="3004457" cy="365760"/>
          </a:xfrm>
          <a:prstGeom prst="rect">
            <a:avLst/>
          </a:prstGeom>
          <a:solidFill>
            <a:srgbClr val="C2484B"/>
          </a:solidFill>
          <a:ln>
            <a:noFill/>
          </a:ln>
        </p:spPr>
        <p:txBody>
          <a:bodyPr/>
          <a:p/>
        </p:txBody>
      </p:sp>
      <p:sp>
        <p:nvSpPr>
          <p:cNvPr id="24" name="Text 22"/>
          <p:cNvSpPr/>
          <p:nvPr/>
        </p:nvSpPr>
        <p:spPr>
          <a:xfrm>
            <a:off x="2416629" y="2606040"/>
            <a:ext cx="2821577" cy="365760"/>
          </a:xfrm>
          <a:prstGeom prst="rect">
            <a:avLst/>
          </a:prstGeom>
          <a:noFill/>
          <a:ln>
            <a:noFill/>
          </a:ln>
        </p:spPr>
        <p:txBody>
          <a:bodyPr wrap="square" lIns="0" tIns="0" rIns="0" bIns="0" rtlCol="0" anchor="ctr"/>
          <a:lstStyle/>
          <a:p>
            <a:pPr indent="0" marL="0">
              <a:buNone/>
            </a:pPr>
            <a:r>
              <a:rPr lang="en-US" sz="1100" b="1" dirty="0">
                <a:solidFill>
                  <a:srgbClr val="FFFFFF"/>
                </a:solidFill>
                <a:latin typeface="Avenir Next Heavy" pitchFamily="34" charset="0"/>
                <a:ea typeface="Avenir Next Heavy" pitchFamily="34" charset="-122"/>
                <a:cs typeface="Avenir Next Heavy" pitchFamily="34" charset="-120"/>
              </a:rPr>
              <a:t>PHASE 1  ·  PLUMBING</a:t>
            </a:r>
            <a:endParaRPr lang="en-US" sz="1100" dirty="0"/>
          </a:p>
        </p:txBody>
      </p:sp>
      <p:sp>
        <p:nvSpPr>
          <p:cNvPr id="25" name="Shape 23"/>
          <p:cNvSpPr/>
          <p:nvPr/>
        </p:nvSpPr>
        <p:spPr>
          <a:xfrm>
            <a:off x="4578531" y="3108960"/>
            <a:ext cx="5257800" cy="365760"/>
          </a:xfrm>
          <a:prstGeom prst="rect">
            <a:avLst/>
          </a:prstGeom>
          <a:solidFill>
            <a:srgbClr val="A21E22"/>
          </a:solidFill>
          <a:ln>
            <a:noFill/>
          </a:ln>
        </p:spPr>
        <p:txBody>
          <a:bodyPr/>
          <a:p/>
        </p:txBody>
      </p:sp>
      <p:sp>
        <p:nvSpPr>
          <p:cNvPr id="26" name="Text 24"/>
          <p:cNvSpPr/>
          <p:nvPr/>
        </p:nvSpPr>
        <p:spPr>
          <a:xfrm>
            <a:off x="4669971" y="3108960"/>
            <a:ext cx="5074920" cy="365760"/>
          </a:xfrm>
          <a:prstGeom prst="rect">
            <a:avLst/>
          </a:prstGeom>
          <a:noFill/>
          <a:ln>
            <a:noFill/>
          </a:ln>
        </p:spPr>
        <p:txBody>
          <a:bodyPr wrap="square" lIns="0" tIns="0" rIns="0" bIns="0" rtlCol="0" anchor="ctr"/>
          <a:lstStyle/>
          <a:p>
            <a:pPr indent="0" marL="0">
              <a:buNone/>
            </a:pPr>
            <a:r>
              <a:rPr lang="en-US" sz="1100" b="1" dirty="0">
                <a:solidFill>
                  <a:srgbClr val="FFFFFF"/>
                </a:solidFill>
                <a:latin typeface="Avenir Next Heavy" pitchFamily="34" charset="0"/>
                <a:ea typeface="Avenir Next Heavy" pitchFamily="34" charset="-122"/>
                <a:cs typeface="Avenir Next Heavy" pitchFamily="34" charset="-120"/>
              </a:rPr>
              <a:t>PHASE 2  ·  IDENTITY</a:t>
            </a:r>
            <a:endParaRPr lang="en-US" sz="1100" dirty="0"/>
          </a:p>
        </p:txBody>
      </p:sp>
      <p:sp>
        <p:nvSpPr>
          <p:cNvPr id="27" name="Shape 25"/>
          <p:cNvSpPr/>
          <p:nvPr/>
        </p:nvSpPr>
        <p:spPr>
          <a:xfrm>
            <a:off x="8334103" y="3611880"/>
            <a:ext cx="3004457" cy="365760"/>
          </a:xfrm>
          <a:prstGeom prst="rect">
            <a:avLst/>
          </a:prstGeom>
          <a:solidFill>
            <a:srgbClr val="A21E22"/>
          </a:solidFill>
          <a:ln>
            <a:noFill/>
          </a:ln>
        </p:spPr>
        <p:txBody>
          <a:bodyPr/>
          <a:p/>
        </p:txBody>
      </p:sp>
      <p:sp>
        <p:nvSpPr>
          <p:cNvPr id="28" name="Text 26"/>
          <p:cNvSpPr/>
          <p:nvPr/>
        </p:nvSpPr>
        <p:spPr>
          <a:xfrm>
            <a:off x="8425543" y="3611880"/>
            <a:ext cx="2821577" cy="365760"/>
          </a:xfrm>
          <a:prstGeom prst="rect">
            <a:avLst/>
          </a:prstGeom>
          <a:noFill/>
          <a:ln>
            <a:noFill/>
          </a:ln>
        </p:spPr>
        <p:txBody>
          <a:bodyPr wrap="square" lIns="0" tIns="0" rIns="0" bIns="0" rtlCol="0" anchor="ctr"/>
          <a:lstStyle/>
          <a:p>
            <a:pPr indent="0" marL="0">
              <a:buNone/>
            </a:pPr>
            <a:r>
              <a:rPr lang="en-US" sz="1100" b="1" dirty="0">
                <a:solidFill>
                  <a:srgbClr val="FFFFFF"/>
                </a:solidFill>
                <a:latin typeface="Avenir Next Heavy" pitchFamily="34" charset="0"/>
                <a:ea typeface="Avenir Next Heavy" pitchFamily="34" charset="-122"/>
                <a:cs typeface="Avenir Next Heavy" pitchFamily="34" charset="-120"/>
              </a:rPr>
              <a:t>PHASE 3  ·  ACCELERATE</a:t>
            </a:r>
            <a:endParaRPr lang="en-US" sz="1100" dirty="0"/>
          </a:p>
        </p:txBody>
      </p:sp>
      <p:sp>
        <p:nvSpPr>
          <p:cNvPr id="29" name="Shape 27"/>
          <p:cNvSpPr/>
          <p:nvPr/>
        </p:nvSpPr>
        <p:spPr>
          <a:xfrm>
            <a:off x="548640" y="4800600"/>
            <a:ext cx="73152" cy="1463040"/>
          </a:xfrm>
          <a:prstGeom prst="rect">
            <a:avLst/>
          </a:prstGeom>
          <a:solidFill>
            <a:srgbClr val="A21E22"/>
          </a:solidFill>
          <a:ln>
            <a:noFill/>
          </a:ln>
        </p:spPr>
        <p:txBody>
          <a:bodyPr/>
          <a:p/>
        </p:txBody>
      </p:sp>
      <p:sp>
        <p:nvSpPr>
          <p:cNvPr id="30" name="Text 28"/>
          <p:cNvSpPr/>
          <p:nvPr/>
        </p:nvSpPr>
        <p:spPr>
          <a:xfrm>
            <a:off x="731520" y="4800600"/>
            <a:ext cx="2583180" cy="228600"/>
          </a:xfrm>
          <a:prstGeom prst="rect">
            <a:avLst/>
          </a:prstGeom>
          <a:noFill/>
          <a:ln>
            <a:noFill/>
          </a:ln>
        </p:spPr>
        <p:txBody>
          <a:bodyPr wrap="square" lIns="0" tIns="0" rIns="0" bIns="0" rtlCol="0" anchor="ctr"/>
          <a:lstStyle/>
          <a:p>
            <a:pPr indent="0" marL="0">
              <a:buNone/>
            </a:pPr>
            <a:r>
              <a:rPr lang="en-US" sz="1000" b="1" spc="300" kern="0" dirty="0">
                <a:solidFill>
                  <a:srgbClr val="A21E22"/>
                </a:solidFill>
                <a:latin typeface="Avenir Next Heavy" pitchFamily="34" charset="0"/>
                <a:ea typeface="Avenir Next Heavy" pitchFamily="34" charset="-122"/>
                <a:cs typeface="Avenir Next Heavy" pitchFamily="34" charset="-120"/>
              </a:rPr>
              <a:t>PHASE 0</a:t>
            </a:r>
            <a:endParaRPr lang="en-US" sz="1000" dirty="0"/>
          </a:p>
        </p:txBody>
      </p:sp>
      <p:sp>
        <p:nvSpPr>
          <p:cNvPr id="31" name="Text 29"/>
          <p:cNvSpPr/>
          <p:nvPr/>
        </p:nvSpPr>
        <p:spPr>
          <a:xfrm>
            <a:off x="731520" y="5001768"/>
            <a:ext cx="258318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FOUNDATION</a:t>
            </a:r>
            <a:endParaRPr lang="en-US" sz="1500" dirty="0"/>
          </a:p>
        </p:txBody>
      </p:sp>
      <p:sp>
        <p:nvSpPr>
          <p:cNvPr id="32" name="Text 30"/>
          <p:cNvSpPr/>
          <p:nvPr/>
        </p:nvSpPr>
        <p:spPr>
          <a:xfrm>
            <a:off x="731520" y="5330952"/>
            <a:ext cx="2583180" cy="228600"/>
          </a:xfrm>
          <a:prstGeom prst="rect">
            <a:avLst/>
          </a:prstGeom>
          <a:noFill/>
          <a:ln>
            <a:noFill/>
          </a:ln>
        </p:spPr>
        <p:txBody>
          <a:bodyPr wrap="square" lIns="0" tIns="0" rIns="0" bIns="0" rtlCol="0" anchor="ctr"/>
          <a:lstStyle/>
          <a:p>
            <a:pPr indent="0" marL="0">
              <a:buNone/>
            </a:pPr>
            <a:r>
              <a:rPr lang="en-US" sz="1000" i="1" dirty="0">
                <a:solidFill>
                  <a:srgbClr val="6B7280"/>
                </a:solidFill>
                <a:latin typeface="Avenir Next" pitchFamily="34" charset="0"/>
                <a:ea typeface="Avenir Next" pitchFamily="34" charset="-122"/>
                <a:cs typeface="Avenir Next" pitchFamily="34" charset="-120"/>
              </a:rPr>
              <a:t>Weeks 0–4</a:t>
            </a:r>
            <a:endParaRPr lang="en-US" sz="1000" dirty="0"/>
          </a:p>
        </p:txBody>
      </p:sp>
      <p:sp>
        <p:nvSpPr>
          <p:cNvPr id="33" name="Text 31"/>
          <p:cNvSpPr/>
          <p:nvPr/>
        </p:nvSpPr>
        <p:spPr>
          <a:xfrm>
            <a:off x="731520" y="5577840"/>
            <a:ext cx="2491740" cy="731520"/>
          </a:xfrm>
          <a:prstGeom prst="rect">
            <a:avLst/>
          </a:prstGeom>
          <a:noFill/>
          <a:ln>
            <a:noFill/>
          </a:ln>
        </p:spPr>
        <p:txBody>
          <a:bodyPr wrap="square" lIns="0" tIns="0" rIns="0" bIns="0" rtlCol="0" anchor="t"/>
          <a:lstStyle/>
          <a:p>
            <a:pPr indent="0" marL="0">
              <a:buNone/>
            </a:pPr>
            <a:r>
              <a:rPr lang="en-US" sz="1100" dirty="0">
                <a:solidFill>
                  <a:srgbClr val="131313"/>
                </a:solidFill>
                <a:latin typeface="Avenir Next" pitchFamily="34" charset="0"/>
                <a:ea typeface="Avenir Next" pitchFamily="34" charset="-122"/>
                <a:cs typeface="Avenir Next" pitchFamily="34" charset="-120"/>
              </a:rPr>
              <a:t>Data, membership taxonomy, billing tightness</a:t>
            </a:r>
            <a:endParaRPr lang="en-US" sz="1100" dirty="0"/>
          </a:p>
        </p:txBody>
      </p:sp>
      <p:sp>
        <p:nvSpPr>
          <p:cNvPr id="34" name="Shape 32"/>
          <p:cNvSpPr/>
          <p:nvPr/>
        </p:nvSpPr>
        <p:spPr>
          <a:xfrm>
            <a:off x="3314700" y="4800600"/>
            <a:ext cx="73152" cy="1463040"/>
          </a:xfrm>
          <a:prstGeom prst="rect">
            <a:avLst/>
          </a:prstGeom>
          <a:solidFill>
            <a:srgbClr val="C2484B"/>
          </a:solidFill>
          <a:ln>
            <a:noFill/>
          </a:ln>
        </p:spPr>
        <p:txBody>
          <a:bodyPr/>
          <a:p/>
        </p:txBody>
      </p:sp>
      <p:sp>
        <p:nvSpPr>
          <p:cNvPr id="35" name="Text 33"/>
          <p:cNvSpPr/>
          <p:nvPr/>
        </p:nvSpPr>
        <p:spPr>
          <a:xfrm>
            <a:off x="3497580" y="4800600"/>
            <a:ext cx="2583180" cy="228600"/>
          </a:xfrm>
          <a:prstGeom prst="rect">
            <a:avLst/>
          </a:prstGeom>
          <a:noFill/>
          <a:ln>
            <a:noFill/>
          </a:ln>
        </p:spPr>
        <p:txBody>
          <a:bodyPr wrap="square" lIns="0" tIns="0" rIns="0" bIns="0" rtlCol="0" anchor="ctr"/>
          <a:lstStyle/>
          <a:p>
            <a:pPr indent="0" marL="0">
              <a:buNone/>
            </a:pPr>
            <a:r>
              <a:rPr lang="en-US" sz="1000" b="1" spc="300" kern="0" dirty="0">
                <a:solidFill>
                  <a:srgbClr val="C2484B"/>
                </a:solidFill>
                <a:latin typeface="Avenir Next Heavy" pitchFamily="34" charset="0"/>
                <a:ea typeface="Avenir Next Heavy" pitchFamily="34" charset="-122"/>
                <a:cs typeface="Avenir Next Heavy" pitchFamily="34" charset="-120"/>
              </a:rPr>
              <a:t>PHASE 1</a:t>
            </a:r>
            <a:endParaRPr lang="en-US" sz="1000" dirty="0"/>
          </a:p>
        </p:txBody>
      </p:sp>
      <p:sp>
        <p:nvSpPr>
          <p:cNvPr id="36" name="Text 34"/>
          <p:cNvSpPr/>
          <p:nvPr/>
        </p:nvSpPr>
        <p:spPr>
          <a:xfrm>
            <a:off x="3497580" y="5001768"/>
            <a:ext cx="258318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PLUMBING</a:t>
            </a:r>
            <a:endParaRPr lang="en-US" sz="1500" dirty="0"/>
          </a:p>
        </p:txBody>
      </p:sp>
      <p:sp>
        <p:nvSpPr>
          <p:cNvPr id="37" name="Text 35"/>
          <p:cNvSpPr/>
          <p:nvPr/>
        </p:nvSpPr>
        <p:spPr>
          <a:xfrm>
            <a:off x="3497580" y="5330952"/>
            <a:ext cx="2583180" cy="228600"/>
          </a:xfrm>
          <a:prstGeom prst="rect">
            <a:avLst/>
          </a:prstGeom>
          <a:noFill/>
          <a:ln>
            <a:noFill/>
          </a:ln>
        </p:spPr>
        <p:txBody>
          <a:bodyPr wrap="square" lIns="0" tIns="0" rIns="0" bIns="0" rtlCol="0" anchor="ctr"/>
          <a:lstStyle/>
          <a:p>
            <a:pPr indent="0" marL="0">
              <a:buNone/>
            </a:pPr>
            <a:r>
              <a:rPr lang="en-US" sz="1000" i="1" dirty="0">
                <a:solidFill>
                  <a:srgbClr val="6B7280"/>
                </a:solidFill>
                <a:latin typeface="Avenir Next" pitchFamily="34" charset="0"/>
                <a:ea typeface="Avenir Next" pitchFamily="34" charset="-122"/>
                <a:cs typeface="Avenir Next" pitchFamily="34" charset="-120"/>
              </a:rPr>
              <a:t>Weeks 2–6</a:t>
            </a:r>
            <a:endParaRPr lang="en-US" sz="1000" dirty="0"/>
          </a:p>
        </p:txBody>
      </p:sp>
      <p:sp>
        <p:nvSpPr>
          <p:cNvPr id="38" name="Text 36"/>
          <p:cNvSpPr/>
          <p:nvPr/>
        </p:nvSpPr>
        <p:spPr>
          <a:xfrm>
            <a:off x="3497580" y="5577840"/>
            <a:ext cx="2491740" cy="731520"/>
          </a:xfrm>
          <a:prstGeom prst="rect">
            <a:avLst/>
          </a:prstGeom>
          <a:noFill/>
          <a:ln>
            <a:noFill/>
          </a:ln>
        </p:spPr>
        <p:txBody>
          <a:bodyPr wrap="square" lIns="0" tIns="0" rIns="0" bIns="0" rtlCol="0" anchor="t"/>
          <a:lstStyle/>
          <a:p>
            <a:pPr indent="0" marL="0">
              <a:buNone/>
            </a:pPr>
            <a:r>
              <a:rPr lang="en-US" sz="1100" dirty="0">
                <a:solidFill>
                  <a:srgbClr val="131313"/>
                </a:solidFill>
                <a:latin typeface="Avenir Next" pitchFamily="34" charset="0"/>
                <a:ea typeface="Avenir Next" pitchFamily="34" charset="-122"/>
                <a:cs typeface="Avenir Next" pitchFamily="34" charset="-120"/>
              </a:rPr>
              <a:t>Channel unification, lifecycle automation, website fixes</a:t>
            </a:r>
            <a:endParaRPr lang="en-US" sz="1100" dirty="0"/>
          </a:p>
        </p:txBody>
      </p:sp>
      <p:sp>
        <p:nvSpPr>
          <p:cNvPr id="39" name="Shape 37"/>
          <p:cNvSpPr/>
          <p:nvPr/>
        </p:nvSpPr>
        <p:spPr>
          <a:xfrm>
            <a:off x="6080760" y="4800600"/>
            <a:ext cx="73152" cy="1463040"/>
          </a:xfrm>
          <a:prstGeom prst="rect">
            <a:avLst/>
          </a:prstGeom>
          <a:solidFill>
            <a:srgbClr val="A21E22"/>
          </a:solidFill>
          <a:ln>
            <a:noFill/>
          </a:ln>
        </p:spPr>
        <p:txBody>
          <a:bodyPr/>
          <a:p/>
        </p:txBody>
      </p:sp>
      <p:sp>
        <p:nvSpPr>
          <p:cNvPr id="40" name="Text 38"/>
          <p:cNvSpPr/>
          <p:nvPr/>
        </p:nvSpPr>
        <p:spPr>
          <a:xfrm>
            <a:off x="6263640" y="4800600"/>
            <a:ext cx="2583180" cy="228600"/>
          </a:xfrm>
          <a:prstGeom prst="rect">
            <a:avLst/>
          </a:prstGeom>
          <a:noFill/>
          <a:ln>
            <a:noFill/>
          </a:ln>
        </p:spPr>
        <p:txBody>
          <a:bodyPr wrap="square" lIns="0" tIns="0" rIns="0" bIns="0" rtlCol="0" anchor="ctr"/>
          <a:lstStyle/>
          <a:p>
            <a:pPr indent="0" marL="0">
              <a:buNone/>
            </a:pPr>
            <a:r>
              <a:rPr lang="en-US" sz="1000" b="1" spc="300" kern="0" dirty="0">
                <a:solidFill>
                  <a:srgbClr val="A21E22"/>
                </a:solidFill>
                <a:latin typeface="Avenir Next Heavy" pitchFamily="34" charset="0"/>
                <a:ea typeface="Avenir Next Heavy" pitchFamily="34" charset="-122"/>
                <a:cs typeface="Avenir Next Heavy" pitchFamily="34" charset="-120"/>
              </a:rPr>
              <a:t>PHASE 2</a:t>
            </a:r>
            <a:endParaRPr lang="en-US" sz="1000" dirty="0"/>
          </a:p>
        </p:txBody>
      </p:sp>
      <p:sp>
        <p:nvSpPr>
          <p:cNvPr id="41" name="Text 39"/>
          <p:cNvSpPr/>
          <p:nvPr/>
        </p:nvSpPr>
        <p:spPr>
          <a:xfrm>
            <a:off x="6263640" y="5001768"/>
            <a:ext cx="258318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IDENTITY</a:t>
            </a:r>
            <a:endParaRPr lang="en-US" sz="1500" dirty="0"/>
          </a:p>
        </p:txBody>
      </p:sp>
      <p:sp>
        <p:nvSpPr>
          <p:cNvPr id="42" name="Text 40"/>
          <p:cNvSpPr/>
          <p:nvPr/>
        </p:nvSpPr>
        <p:spPr>
          <a:xfrm>
            <a:off x="6263640" y="5330952"/>
            <a:ext cx="2583180" cy="228600"/>
          </a:xfrm>
          <a:prstGeom prst="rect">
            <a:avLst/>
          </a:prstGeom>
          <a:noFill/>
          <a:ln>
            <a:noFill/>
          </a:ln>
        </p:spPr>
        <p:txBody>
          <a:bodyPr wrap="square" lIns="0" tIns="0" rIns="0" bIns="0" rtlCol="0" anchor="ctr"/>
          <a:lstStyle/>
          <a:p>
            <a:pPr indent="0" marL="0">
              <a:buNone/>
            </a:pPr>
            <a:r>
              <a:rPr lang="en-US" sz="1000" i="1" dirty="0">
                <a:solidFill>
                  <a:srgbClr val="6B7280"/>
                </a:solidFill>
                <a:latin typeface="Avenir Next" pitchFamily="34" charset="0"/>
                <a:ea typeface="Avenir Next" pitchFamily="34" charset="-122"/>
                <a:cs typeface="Avenir Next" pitchFamily="34" charset="-120"/>
              </a:rPr>
              <a:t>Weeks 5–12</a:t>
            </a:r>
            <a:endParaRPr lang="en-US" sz="1000" dirty="0"/>
          </a:p>
        </p:txBody>
      </p:sp>
      <p:sp>
        <p:nvSpPr>
          <p:cNvPr id="43" name="Text 41"/>
          <p:cNvSpPr/>
          <p:nvPr/>
        </p:nvSpPr>
        <p:spPr>
          <a:xfrm>
            <a:off x="6263640" y="5577840"/>
            <a:ext cx="2491740" cy="731520"/>
          </a:xfrm>
          <a:prstGeom prst="rect">
            <a:avLst/>
          </a:prstGeom>
          <a:noFill/>
          <a:ln>
            <a:noFill/>
          </a:ln>
        </p:spPr>
        <p:txBody>
          <a:bodyPr wrap="square" lIns="0" tIns="0" rIns="0" bIns="0" rtlCol="0" anchor="t"/>
          <a:lstStyle/>
          <a:p>
            <a:pPr indent="0" marL="0">
              <a:buNone/>
            </a:pPr>
            <a:r>
              <a:rPr lang="en-US" sz="1100" dirty="0">
                <a:solidFill>
                  <a:srgbClr val="131313"/>
                </a:solidFill>
                <a:latin typeface="Avenir Next" pitchFamily="34" charset="0"/>
                <a:ea typeface="Avenir Next" pitchFamily="34" charset="-122"/>
                <a:cs typeface="Avenir Next" pitchFamily="34" charset="-120"/>
              </a:rPr>
              <a:t>Brand voice, avatar, content engine launches</a:t>
            </a:r>
            <a:endParaRPr lang="en-US" sz="1100" dirty="0"/>
          </a:p>
        </p:txBody>
      </p:sp>
      <p:sp>
        <p:nvSpPr>
          <p:cNvPr id="44" name="Shape 42"/>
          <p:cNvSpPr/>
          <p:nvPr/>
        </p:nvSpPr>
        <p:spPr>
          <a:xfrm>
            <a:off x="8846820" y="4800600"/>
            <a:ext cx="73152" cy="1463040"/>
          </a:xfrm>
          <a:prstGeom prst="rect">
            <a:avLst/>
          </a:prstGeom>
          <a:solidFill>
            <a:srgbClr val="A21E22"/>
          </a:solidFill>
          <a:ln>
            <a:noFill/>
          </a:ln>
        </p:spPr>
        <p:txBody>
          <a:bodyPr/>
          <a:p/>
        </p:txBody>
      </p:sp>
      <p:sp>
        <p:nvSpPr>
          <p:cNvPr id="45" name="Text 43"/>
          <p:cNvSpPr/>
          <p:nvPr/>
        </p:nvSpPr>
        <p:spPr>
          <a:xfrm>
            <a:off x="9029700" y="4800600"/>
            <a:ext cx="2583180" cy="228600"/>
          </a:xfrm>
          <a:prstGeom prst="rect">
            <a:avLst/>
          </a:prstGeom>
          <a:noFill/>
          <a:ln>
            <a:noFill/>
          </a:ln>
        </p:spPr>
        <p:txBody>
          <a:bodyPr wrap="square" lIns="0" tIns="0" rIns="0" bIns="0" rtlCol="0" anchor="ctr"/>
          <a:lstStyle/>
          <a:p>
            <a:pPr indent="0" marL="0">
              <a:buNone/>
            </a:pPr>
            <a:r>
              <a:rPr lang="en-US" sz="1000" b="1" spc="300" kern="0" dirty="0">
                <a:solidFill>
                  <a:srgbClr val="A21E22"/>
                </a:solidFill>
                <a:latin typeface="Avenir Next Heavy" pitchFamily="34" charset="0"/>
                <a:ea typeface="Avenir Next Heavy" pitchFamily="34" charset="-122"/>
                <a:cs typeface="Avenir Next Heavy" pitchFamily="34" charset="-120"/>
              </a:rPr>
              <a:t>PHASE 3</a:t>
            </a:r>
            <a:endParaRPr lang="en-US" sz="1000" dirty="0"/>
          </a:p>
        </p:txBody>
      </p:sp>
      <p:sp>
        <p:nvSpPr>
          <p:cNvPr id="46" name="Text 44"/>
          <p:cNvSpPr/>
          <p:nvPr/>
        </p:nvSpPr>
        <p:spPr>
          <a:xfrm>
            <a:off x="9029700" y="5001768"/>
            <a:ext cx="258318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ACCELERATE</a:t>
            </a:r>
            <a:endParaRPr lang="en-US" sz="1500" dirty="0"/>
          </a:p>
        </p:txBody>
      </p:sp>
      <p:sp>
        <p:nvSpPr>
          <p:cNvPr id="47" name="Text 45"/>
          <p:cNvSpPr/>
          <p:nvPr/>
        </p:nvSpPr>
        <p:spPr>
          <a:xfrm>
            <a:off x="9029700" y="5330952"/>
            <a:ext cx="2583180" cy="228600"/>
          </a:xfrm>
          <a:prstGeom prst="rect">
            <a:avLst/>
          </a:prstGeom>
          <a:noFill/>
          <a:ln>
            <a:noFill/>
          </a:ln>
        </p:spPr>
        <p:txBody>
          <a:bodyPr wrap="square" lIns="0" tIns="0" rIns="0" bIns="0" rtlCol="0" anchor="ctr"/>
          <a:lstStyle/>
          <a:p>
            <a:pPr indent="0" marL="0">
              <a:buNone/>
            </a:pPr>
            <a:r>
              <a:rPr lang="en-US" sz="1000" i="1" dirty="0">
                <a:solidFill>
                  <a:srgbClr val="6B7280"/>
                </a:solidFill>
                <a:latin typeface="Avenir Next" pitchFamily="34" charset="0"/>
                <a:ea typeface="Avenir Next" pitchFamily="34" charset="-122"/>
                <a:cs typeface="Avenir Next" pitchFamily="34" charset="-120"/>
              </a:rPr>
              <a:t>Month 3+</a:t>
            </a:r>
            <a:endParaRPr lang="en-US" sz="1000" dirty="0"/>
          </a:p>
        </p:txBody>
      </p:sp>
      <p:sp>
        <p:nvSpPr>
          <p:cNvPr id="48" name="Text 46"/>
          <p:cNvSpPr/>
          <p:nvPr/>
        </p:nvSpPr>
        <p:spPr>
          <a:xfrm>
            <a:off x="9029700" y="5577840"/>
            <a:ext cx="2491740" cy="731520"/>
          </a:xfrm>
          <a:prstGeom prst="rect">
            <a:avLst/>
          </a:prstGeom>
          <a:noFill/>
          <a:ln>
            <a:noFill/>
          </a:ln>
        </p:spPr>
        <p:txBody>
          <a:bodyPr wrap="square" lIns="0" tIns="0" rIns="0" bIns="0" rtlCol="0" anchor="t"/>
          <a:lstStyle/>
          <a:p>
            <a:pPr indent="0" marL="0">
              <a:buNone/>
            </a:pPr>
            <a:r>
              <a:rPr lang="en-US" sz="1100" dirty="0">
                <a:solidFill>
                  <a:srgbClr val="131313"/>
                </a:solidFill>
                <a:latin typeface="Avenir Next" pitchFamily="34" charset="0"/>
                <a:ea typeface="Avenir Next" pitchFamily="34" charset="-122"/>
                <a:cs typeface="Avenir Next" pitchFamily="34" charset="-120"/>
              </a:rPr>
              <a:t>Partners, events, referral program, paid ads</a:t>
            </a:r>
            <a:endParaRPr lang="en-US" sz="1100" dirty="0"/>
          </a:p>
        </p:txBody>
      </p:sp>
      <p:sp>
        <p:nvSpPr>
          <p:cNvPr id="49" name="Text 47"/>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7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0  ·  WEEKS 0–4</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Foundation: clean data, tight billing</a:t>
            </a:r>
            <a:endParaRPr lang="en-US" sz="2800" dirty="0"/>
          </a:p>
        </p:txBody>
      </p:sp>
      <p:sp>
        <p:nvSpPr>
          <p:cNvPr id="4" name="Text 2"/>
          <p:cNvSpPr/>
          <p:nvPr/>
        </p:nvSpPr>
        <p:spPr>
          <a:xfrm>
            <a:off x="548640" y="1828800"/>
            <a:ext cx="64008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WHY THIS COMES FIRST</a:t>
            </a:r>
            <a:endParaRPr lang="en-US" sz="1100" dirty="0"/>
          </a:p>
        </p:txBody>
      </p:sp>
      <p:sp>
        <p:nvSpPr>
          <p:cNvPr id="5" name="Text 3"/>
          <p:cNvSpPr/>
          <p:nvPr/>
        </p:nvSpPr>
        <p:spPr>
          <a:xfrm>
            <a:off x="548640" y="2148840"/>
            <a:ext cx="6400800" cy="640080"/>
          </a:xfrm>
          <a:prstGeom prst="rect">
            <a:avLst/>
          </a:prstGeom>
          <a:noFill/>
          <a:ln>
            <a:noFill/>
          </a:ln>
        </p:spPr>
        <p:txBody>
          <a:bodyPr wrap="square" lIns="0" tIns="0" rIns="0" bIns="0" rtlCol="0" anchor="t"/>
          <a:lstStyle/>
          <a:p>
            <a:pPr indent="0" marL="0">
              <a:buNone/>
            </a:pPr>
            <a:r>
              <a:rPr lang="en-US" sz="1500" dirty="0">
                <a:solidFill>
                  <a:srgbClr val="131313"/>
                </a:solidFill>
                <a:latin typeface="Avenir Next" pitchFamily="34" charset="0"/>
                <a:ea typeface="Avenir Next" pitchFamily="34" charset="-122"/>
                <a:cs typeface="Avenir Next" pitchFamily="34" charset="-120"/>
              </a:rPr>
              <a:t>You can't measure what you can't count. Every dollar spent on growth before this is finished is flying blind.</a:t>
            </a:r>
            <a:endParaRPr lang="en-US" sz="1500" dirty="0"/>
          </a:p>
        </p:txBody>
      </p:sp>
      <p:sp>
        <p:nvSpPr>
          <p:cNvPr id="6" name="Text 4"/>
          <p:cNvSpPr/>
          <p:nvPr/>
        </p:nvSpPr>
        <p:spPr>
          <a:xfrm>
            <a:off x="548640" y="3017520"/>
            <a:ext cx="64008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WORK ITEMS</a:t>
            </a:r>
            <a:endParaRPr lang="en-US" sz="1100" dirty="0"/>
          </a:p>
        </p:txBody>
      </p:sp>
      <p:sp>
        <p:nvSpPr>
          <p:cNvPr id="7" name="Text 5"/>
          <p:cNvSpPr/>
          <p:nvPr/>
        </p:nvSpPr>
        <p:spPr>
          <a:xfrm>
            <a:off x="548640" y="3337560"/>
            <a:ext cx="6400800" cy="2743200"/>
          </a:xfrm>
          <a:prstGeom prst="rect">
            <a:avLst/>
          </a:prstGeom>
          <a:noFill/>
          <a:ln>
            <a:noFill/>
          </a:ln>
        </p:spPr>
        <p:txBody>
          <a:bodyPr wrap="square" lIns="0" tIns="0" rIns="0" bIns="0" rtlCol="0" anchor="t"/>
          <a:lstStyle/>
          <a:p>
            <a:pPr marL="342900" indent="-342900">
              <a:spcAft>
                <a:spcPts val="400"/>
              </a:spcAft>
              <a:buSzPct val="100000"/>
              <a:buChar char="•"/>
            </a:pPr>
            <a:r>
              <a:rPr lang="en-US" sz="1400" b="1" dirty="0">
                <a:solidFill>
                  <a:srgbClr val="131313"/>
                </a:solidFill>
                <a:latin typeface="Avenir Next" pitchFamily="34" charset="0"/>
                <a:ea typeface="Avenir Next" pitchFamily="34" charset="-122"/>
                <a:cs typeface="Avenir Next" pitchFamily="34" charset="-120"/>
              </a:rPr>
              <a:t>Finish WellnessLiving migration cleanup</a:t>
            </a:r>
            <a:endParaRPr lang="en-US" sz="1400" dirty="0"/>
          </a:p>
          <a:p>
            <a:pPr indent="0" marL="0">
              <a:spcAft>
                <a:spcPts val="400"/>
              </a:spcAft>
              <a:buNone/>
            </a:pPr>
            <a:r>
              <a:rPr lang="en-US" sz="1200" dirty="0">
                <a:solidFill>
                  <a:srgbClr val="6B7280"/>
                </a:solidFill>
                <a:latin typeface="Avenir Next" pitchFamily="34" charset="0"/>
                <a:ea typeface="Avenir Next" pitchFamily="34" charset="-122"/>
                <a:cs typeface="Avenir Next" pitchFamily="34" charset="-120"/>
              </a:rPr>
              <a:t>Consolidate legacy Mindbody types into the current taxonomy.</a:t>
            </a:r>
            <a:endParaRPr lang="en-US" sz="1400" dirty="0"/>
          </a:p>
          <a:p>
            <a:pPr marL="342900" indent="-342900">
              <a:spcAft>
                <a:spcPts val="400"/>
              </a:spcAft>
              <a:buSzPct val="100000"/>
              <a:buChar char="•"/>
            </a:pPr>
            <a:r>
              <a:rPr lang="en-US" sz="1400" b="1" dirty="0">
                <a:solidFill>
                  <a:srgbClr val="131313"/>
                </a:solidFill>
                <a:latin typeface="Avenir Next" pitchFamily="34" charset="0"/>
                <a:ea typeface="Avenir Next" pitchFamily="34" charset="-122"/>
                <a:cs typeface="Avenir Next" pitchFamily="34" charset="-120"/>
              </a:rPr>
              <a:t>Define the membership product catalog</a:t>
            </a:r>
            <a:endParaRPr lang="en-US" sz="1400" dirty="0"/>
          </a:p>
          <a:p>
            <a:pPr indent="0" marL="0">
              <a:spcAft>
                <a:spcPts val="400"/>
              </a:spcAft>
              <a:buNone/>
            </a:pPr>
            <a:r>
              <a:rPr lang="en-US" sz="1200" dirty="0">
                <a:solidFill>
                  <a:srgbClr val="6B7280"/>
                </a:solidFill>
                <a:latin typeface="Avenir Next" pitchFamily="34" charset="0"/>
                <a:ea typeface="Avenir Next" pitchFamily="34" charset="-122"/>
                <a:cs typeface="Avenir Next" pitchFamily="34" charset="-120"/>
              </a:rPr>
              <a:t>$99 open gym  ·  $149 unlimited  ·  Eatontown founders. Each one mapped to entitlements, locations, billing.</a:t>
            </a:r>
            <a:endParaRPr lang="en-US" sz="1400" dirty="0"/>
          </a:p>
          <a:p>
            <a:pPr marL="342900" indent="-342900">
              <a:spcAft>
                <a:spcPts val="400"/>
              </a:spcAft>
              <a:buSzPct val="100000"/>
              <a:buChar char="•"/>
            </a:pPr>
            <a:r>
              <a:rPr lang="en-US" sz="1400" b="1" dirty="0">
                <a:solidFill>
                  <a:srgbClr val="131313"/>
                </a:solidFill>
                <a:latin typeface="Avenir Next" pitchFamily="34" charset="0"/>
                <a:ea typeface="Avenir Next" pitchFamily="34" charset="-122"/>
                <a:cs typeface="Avenir Next" pitchFamily="34" charset="-120"/>
              </a:rPr>
              <a:t>Lock the billing rules — black and white</a:t>
            </a:r>
            <a:endParaRPr lang="en-US" sz="1400" dirty="0"/>
          </a:p>
          <a:p>
            <a:pPr indent="0" marL="0">
              <a:spcAft>
                <a:spcPts val="400"/>
              </a:spcAft>
              <a:buNone/>
            </a:pPr>
            <a:r>
              <a:rPr lang="en-US" sz="1200" dirty="0">
                <a:solidFill>
                  <a:srgbClr val="6B7280"/>
                </a:solidFill>
                <a:latin typeface="Avenir Next" pitchFamily="34" charset="0"/>
                <a:ea typeface="Avenir Next" pitchFamily="34" charset="-122"/>
                <a:cs typeface="Avenir Next" pitchFamily="34" charset="-120"/>
              </a:rPr>
              <a:t>Card on file. Monthly. No payment, no access. No exceptions.</a:t>
            </a:r>
            <a:endParaRPr lang="en-US" sz="1400" dirty="0"/>
          </a:p>
          <a:p>
            <a:pPr marL="342900" indent="-342900">
              <a:spcAft>
                <a:spcPts val="400"/>
              </a:spcAft>
              <a:buSzPct val="100000"/>
              <a:buChar char="•"/>
            </a:pPr>
            <a:r>
              <a:rPr lang="en-US" sz="1400" b="1" dirty="0">
                <a:solidFill>
                  <a:srgbClr val="131313"/>
                </a:solidFill>
                <a:latin typeface="Avenir Next" pitchFamily="34" charset="0"/>
                <a:ea typeface="Avenir Next" pitchFamily="34" charset="-122"/>
                <a:cs typeface="Avenir Next" pitchFamily="34" charset="-120"/>
              </a:rPr>
              <a:t>Stand up the metrics dashboard</a:t>
            </a:r>
            <a:endParaRPr lang="en-US" sz="1400" dirty="0"/>
          </a:p>
          <a:p>
            <a:pPr indent="0" marL="0">
              <a:spcAft>
                <a:spcPts val="400"/>
              </a:spcAft>
              <a:buNone/>
            </a:pPr>
            <a:r>
              <a:rPr lang="en-US" sz="1200" dirty="0">
                <a:solidFill>
                  <a:srgbClr val="6B7280"/>
                </a:solidFill>
                <a:latin typeface="Avenir Next" pitchFamily="34" charset="0"/>
                <a:ea typeface="Avenir Next" pitchFamily="34" charset="-122"/>
                <a:cs typeface="Avenir Next" pitchFamily="34" charset="-120"/>
              </a:rPr>
              <a:t>Active members by location · churn · trial-to-member · class attendance.</a:t>
            </a:r>
            <a:endParaRPr lang="en-US" sz="1400" dirty="0"/>
          </a:p>
        </p:txBody>
      </p:sp>
      <p:sp>
        <p:nvSpPr>
          <p:cNvPr id="8" name="Shape 6"/>
          <p:cNvSpPr/>
          <p:nvPr/>
        </p:nvSpPr>
        <p:spPr>
          <a:xfrm>
            <a:off x="7223760" y="1828800"/>
            <a:ext cx="4389120" cy="4389120"/>
          </a:xfrm>
          <a:prstGeom prst="rect">
            <a:avLst/>
          </a:prstGeom>
          <a:solidFill>
            <a:srgbClr val="131313"/>
          </a:solidFill>
          <a:ln>
            <a:noFill/>
          </a:ln>
        </p:spPr>
        <p:txBody>
          <a:bodyPr/>
          <a:p/>
        </p:txBody>
      </p:sp>
      <p:sp>
        <p:nvSpPr>
          <p:cNvPr id="9" name="Text 7"/>
          <p:cNvSpPr/>
          <p:nvPr/>
        </p:nvSpPr>
        <p:spPr>
          <a:xfrm>
            <a:off x="7406640" y="2011680"/>
            <a:ext cx="41148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GATE TO PHASE 1</a:t>
            </a:r>
            <a:endParaRPr lang="en-US" sz="1100" dirty="0"/>
          </a:p>
        </p:txBody>
      </p:sp>
      <p:sp>
        <p:nvSpPr>
          <p:cNvPr id="10" name="Text 8"/>
          <p:cNvSpPr/>
          <p:nvPr/>
        </p:nvSpPr>
        <p:spPr>
          <a:xfrm>
            <a:off x="7406640" y="2331720"/>
            <a:ext cx="4114800" cy="365760"/>
          </a:xfrm>
          <a:prstGeom prst="rect">
            <a:avLst/>
          </a:prstGeom>
          <a:noFill/>
          <a:ln>
            <a:noFill/>
          </a:ln>
        </p:spPr>
        <p:txBody>
          <a:bodyPr wrap="square" lIns="0" tIns="0" rIns="0" bIns="0" rtlCol="0" anchor="ctr"/>
          <a:lstStyle/>
          <a:p>
            <a:pPr indent="0" marL="0">
              <a:buNone/>
            </a:pPr>
            <a:r>
              <a:rPr lang="en-US" sz="1300" i="1" dirty="0">
                <a:solidFill>
                  <a:srgbClr val="D1D5DB"/>
                </a:solidFill>
                <a:latin typeface="Avenir Next" pitchFamily="34" charset="0"/>
                <a:ea typeface="Avenir Next" pitchFamily="34" charset="-122"/>
                <a:cs typeface="Avenir Next" pitchFamily="34" charset="-120"/>
              </a:rPr>
              <a:t>Don't move on until you can answer YES:</a:t>
            </a:r>
            <a:endParaRPr lang="en-US" sz="1300" dirty="0"/>
          </a:p>
        </p:txBody>
      </p:sp>
      <p:sp>
        <p:nvSpPr>
          <p:cNvPr id="11" name="Text 9"/>
          <p:cNvSpPr/>
          <p:nvPr/>
        </p:nvSpPr>
        <p:spPr>
          <a:xfrm>
            <a:off x="7406640" y="2834640"/>
            <a:ext cx="4114800" cy="3200400"/>
          </a:xfrm>
          <a:prstGeom prst="rect">
            <a:avLst/>
          </a:prstGeom>
          <a:noFill/>
          <a:ln>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Avenir Next" pitchFamily="34" charset="0"/>
                <a:ea typeface="Avenir Next" pitchFamily="34" charset="-122"/>
                <a:cs typeface="Avenir Next" pitchFamily="34" charset="-120"/>
              </a:rPr>
              <a:t>Every active member is on a current package</a:t>
            </a:r>
            <a:endParaRPr lang="en-US" sz="1300" dirty="0"/>
          </a:p>
          <a:p>
            <a:pPr marL="342900" indent="-342900">
              <a:spcAft>
                <a:spcPts val="800"/>
              </a:spcAft>
              <a:buSzPct val="100000"/>
              <a:buChar char="•"/>
            </a:pPr>
            <a:r>
              <a:rPr lang="en-US" sz="1300" dirty="0">
                <a:solidFill>
                  <a:srgbClr val="FFFFFF"/>
                </a:solidFill>
                <a:latin typeface="Avenir Next" pitchFamily="34" charset="0"/>
                <a:ea typeface="Avenir Next" pitchFamily="34" charset="-122"/>
                <a:cs typeface="Avenir Next" pitchFamily="34" charset="-120"/>
              </a:rPr>
              <a:t>Legacy types are archived, not visible in reports</a:t>
            </a:r>
            <a:endParaRPr lang="en-US" sz="1300" dirty="0"/>
          </a:p>
          <a:p>
            <a:pPr marL="342900" indent="-342900">
              <a:spcAft>
                <a:spcPts val="800"/>
              </a:spcAft>
              <a:buSzPct val="100000"/>
              <a:buChar char="•"/>
            </a:pPr>
            <a:r>
              <a:rPr lang="en-US" sz="1300" dirty="0">
                <a:solidFill>
                  <a:srgbClr val="FFFFFF"/>
                </a:solidFill>
                <a:latin typeface="Avenir Next" pitchFamily="34" charset="0"/>
                <a:ea typeface="Avenir Next" pitchFamily="34" charset="-122"/>
                <a:cs typeface="Avenir Next" pitchFamily="34" charset="-120"/>
              </a:rPr>
              <a:t>Billing failures are caught and flagged automatically</a:t>
            </a:r>
            <a:endParaRPr lang="en-US" sz="1300" dirty="0"/>
          </a:p>
          <a:p>
            <a:pPr marL="342900" indent="-342900">
              <a:spcAft>
                <a:spcPts val="800"/>
              </a:spcAft>
              <a:buSzPct val="100000"/>
              <a:buChar char="•"/>
            </a:pPr>
            <a:r>
              <a:rPr lang="en-US" sz="1300" dirty="0">
                <a:solidFill>
                  <a:srgbClr val="FFFFFF"/>
                </a:solidFill>
                <a:latin typeface="Avenir Next" pitchFamily="34" charset="0"/>
                <a:ea typeface="Avenir Next" pitchFamily="34" charset="-122"/>
                <a:cs typeface="Avenir Next" pitchFamily="34" charset="-120"/>
              </a:rPr>
              <a:t>Weekly numbers are trustworthy and reproducible</a:t>
            </a:r>
            <a:endParaRPr lang="en-US" sz="1300" dirty="0"/>
          </a:p>
        </p:txBody>
      </p:sp>
      <p:sp>
        <p:nvSpPr>
          <p:cNvPr id="12" name="Text 10"/>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8 / 22</a:t>
            </a:r>
            <a:endParaRPr lang="en-US" sz="900" dirty="0"/>
          </a:p>
        </p:txBody>
      </p:sp>
      <p:pic>
        <p:nvPicPr>
          <p:cNvPr id="13" name="Picture 12"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1  ·  WEEKS 2–6</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Plumbing: every lead lands in one place</a:t>
            </a:r>
            <a:endParaRPr lang="en-US" sz="2800" dirty="0"/>
          </a:p>
        </p:txBody>
      </p:sp>
      <p:sp>
        <p:nvSpPr>
          <p:cNvPr id="4" name="Text 2"/>
          <p:cNvSpPr/>
          <p:nvPr/>
        </p:nvSpPr>
        <p:spPr>
          <a:xfrm>
            <a:off x="548640" y="1691640"/>
            <a:ext cx="11064240" cy="274320"/>
          </a:xfrm>
          <a:prstGeom prst="rect">
            <a:avLst/>
          </a:prstGeom>
          <a:noFill/>
          <a:ln>
            <a:noFill/>
          </a:ln>
        </p:spPr>
        <p:txBody>
          <a:bodyPr wrap="square" lIns="0" tIns="0" rIns="0" bIns="0" rtlCol="0" anchor="ctr"/>
          <a:lstStyle/>
          <a:p>
            <a:pPr indent="0" marL="0">
              <a:buNone/>
            </a:pPr>
            <a:r>
              <a:rPr lang="en-US" sz="1300" i="1" dirty="0">
                <a:solidFill>
                  <a:srgbClr val="6B7280"/>
                </a:solidFill>
                <a:latin typeface="Avenir Next" pitchFamily="34" charset="0"/>
                <a:ea typeface="Avenir Next" pitchFamily="34" charset="-122"/>
                <a:cs typeface="Avenir Next" pitchFamily="34" charset="-120"/>
              </a:rPr>
              <a:t>Today: leads scatter and leak. Target state: one funnel.</a:t>
            </a:r>
            <a:endParaRPr lang="en-US" sz="1300" dirty="0"/>
          </a:p>
        </p:txBody>
      </p:sp>
      <p:sp>
        <p:nvSpPr>
          <p:cNvPr id="5" name="Shape 3"/>
          <p:cNvSpPr/>
          <p:nvPr/>
        </p:nvSpPr>
        <p:spPr>
          <a:xfrm>
            <a:off x="548640" y="2377440"/>
            <a:ext cx="2743200" cy="502920"/>
          </a:xfrm>
          <a:prstGeom prst="rect">
            <a:avLst/>
          </a:prstGeom>
          <a:solidFill>
            <a:srgbClr val="F4F4F5"/>
          </a:solidFill>
          <a:ln w="9525">
            <a:solidFill>
              <a:srgbClr val="E5E7EB"/>
            </a:solidFill>
            <a:prstDash val="solid"/>
          </a:ln>
        </p:spPr>
        <p:txBody>
          <a:bodyPr/>
          <a:p/>
        </p:txBody>
      </p:sp>
      <p:sp>
        <p:nvSpPr>
          <p:cNvPr id="6" name="Text 4"/>
          <p:cNvSpPr/>
          <p:nvPr/>
        </p:nvSpPr>
        <p:spPr>
          <a:xfrm>
            <a:off x="685800" y="2377440"/>
            <a:ext cx="2560320" cy="502920"/>
          </a:xfrm>
          <a:prstGeom prst="rect">
            <a:avLst/>
          </a:prstGeom>
          <a:noFill/>
          <a:ln>
            <a:noFill/>
          </a:ln>
        </p:spPr>
        <p:txBody>
          <a:bodyPr wrap="square" lIns="0" tIns="0" rIns="0" bIns="0" rtlCol="0" anchor="ctr"/>
          <a:lstStyle/>
          <a:p>
            <a:pPr indent="0" marL="0">
              <a:buNone/>
            </a:pPr>
            <a:r>
              <a:rPr lang="en-US" sz="1200" dirty="0">
                <a:solidFill>
                  <a:srgbClr val="131313"/>
                </a:solidFill>
                <a:latin typeface="Avenir Next" pitchFamily="34" charset="0"/>
                <a:ea typeface="Avenir Next" pitchFamily="34" charset="-122"/>
                <a:cs typeface="Avenir Next" pitchFamily="34" charset="-120"/>
              </a:rPr>
              <a:t>Squarespace form</a:t>
            </a:r>
            <a:endParaRPr lang="en-US" sz="1200" dirty="0"/>
          </a:p>
        </p:txBody>
      </p:sp>
      <p:sp>
        <p:nvSpPr>
          <p:cNvPr id="7" name="Shape 5"/>
          <p:cNvSpPr/>
          <p:nvPr/>
        </p:nvSpPr>
        <p:spPr>
          <a:xfrm>
            <a:off x="3291840" y="2628900"/>
            <a:ext cx="1554480" cy="0"/>
          </a:xfrm>
          <a:prstGeom prst="line">
            <a:avLst/>
          </a:prstGeom>
          <a:noFill/>
          <a:ln w="19050">
            <a:solidFill>
              <a:srgbClr val="A21E22"/>
            </a:solidFill>
            <a:prstDash val="solid"/>
            <a:tailEnd type="triangle"/>
          </a:ln>
        </p:spPr>
        <p:txBody>
          <a:bodyPr/>
          <a:p/>
        </p:txBody>
      </p:sp>
      <p:sp>
        <p:nvSpPr>
          <p:cNvPr id="8" name="Shape 6"/>
          <p:cNvSpPr/>
          <p:nvPr/>
        </p:nvSpPr>
        <p:spPr>
          <a:xfrm>
            <a:off x="548640" y="3017520"/>
            <a:ext cx="2743200" cy="502920"/>
          </a:xfrm>
          <a:prstGeom prst="rect">
            <a:avLst/>
          </a:prstGeom>
          <a:solidFill>
            <a:srgbClr val="F4F4F5"/>
          </a:solidFill>
          <a:ln w="9525">
            <a:solidFill>
              <a:srgbClr val="E5E7EB"/>
            </a:solidFill>
            <a:prstDash val="solid"/>
          </a:ln>
        </p:spPr>
        <p:txBody>
          <a:bodyPr/>
          <a:p/>
        </p:txBody>
      </p:sp>
      <p:sp>
        <p:nvSpPr>
          <p:cNvPr id="9" name="Text 7"/>
          <p:cNvSpPr/>
          <p:nvPr/>
        </p:nvSpPr>
        <p:spPr>
          <a:xfrm>
            <a:off x="685800" y="3017520"/>
            <a:ext cx="2560320" cy="502920"/>
          </a:xfrm>
          <a:prstGeom prst="rect">
            <a:avLst/>
          </a:prstGeom>
          <a:noFill/>
          <a:ln>
            <a:noFill/>
          </a:ln>
        </p:spPr>
        <p:txBody>
          <a:bodyPr wrap="square" lIns="0" tIns="0" rIns="0" bIns="0" rtlCol="0" anchor="ctr"/>
          <a:lstStyle/>
          <a:p>
            <a:pPr indent="0" marL="0">
              <a:buNone/>
            </a:pPr>
            <a:r>
              <a:rPr lang="en-US" sz="1200" dirty="0">
                <a:solidFill>
                  <a:srgbClr val="131313"/>
                </a:solidFill>
                <a:latin typeface="Avenir Next" pitchFamily="34" charset="0"/>
                <a:ea typeface="Avenir Next" pitchFamily="34" charset="-122"/>
                <a:cs typeface="Avenir Next" pitchFamily="34" charset="-120"/>
              </a:rPr>
              <a:t>Instagram DM</a:t>
            </a:r>
            <a:endParaRPr lang="en-US" sz="1200" dirty="0"/>
          </a:p>
        </p:txBody>
      </p:sp>
      <p:sp>
        <p:nvSpPr>
          <p:cNvPr id="10" name="Shape 8"/>
          <p:cNvSpPr/>
          <p:nvPr/>
        </p:nvSpPr>
        <p:spPr>
          <a:xfrm>
            <a:off x="3291840" y="3268980"/>
            <a:ext cx="1554480" cy="0"/>
          </a:xfrm>
          <a:prstGeom prst="line">
            <a:avLst/>
          </a:prstGeom>
          <a:noFill/>
          <a:ln w="19050">
            <a:solidFill>
              <a:srgbClr val="A21E22"/>
            </a:solidFill>
            <a:prstDash val="solid"/>
            <a:tailEnd type="triangle"/>
          </a:ln>
        </p:spPr>
        <p:txBody>
          <a:bodyPr/>
          <a:p/>
        </p:txBody>
      </p:sp>
      <p:sp>
        <p:nvSpPr>
          <p:cNvPr id="11" name="Shape 9"/>
          <p:cNvSpPr/>
          <p:nvPr/>
        </p:nvSpPr>
        <p:spPr>
          <a:xfrm>
            <a:off x="548640" y="3657600"/>
            <a:ext cx="2743200" cy="502920"/>
          </a:xfrm>
          <a:prstGeom prst="rect">
            <a:avLst/>
          </a:prstGeom>
          <a:solidFill>
            <a:srgbClr val="F4F4F5"/>
          </a:solidFill>
          <a:ln w="9525">
            <a:solidFill>
              <a:srgbClr val="E5E7EB"/>
            </a:solidFill>
            <a:prstDash val="solid"/>
          </a:ln>
        </p:spPr>
        <p:txBody>
          <a:bodyPr/>
          <a:p/>
        </p:txBody>
      </p:sp>
      <p:sp>
        <p:nvSpPr>
          <p:cNvPr id="12" name="Text 10"/>
          <p:cNvSpPr/>
          <p:nvPr/>
        </p:nvSpPr>
        <p:spPr>
          <a:xfrm>
            <a:off x="685800" y="3657600"/>
            <a:ext cx="2560320" cy="502920"/>
          </a:xfrm>
          <a:prstGeom prst="rect">
            <a:avLst/>
          </a:prstGeom>
          <a:noFill/>
          <a:ln>
            <a:noFill/>
          </a:ln>
        </p:spPr>
        <p:txBody>
          <a:bodyPr wrap="square" lIns="0" tIns="0" rIns="0" bIns="0" rtlCol="0" anchor="ctr"/>
          <a:lstStyle/>
          <a:p>
            <a:pPr indent="0" marL="0">
              <a:buNone/>
            </a:pPr>
            <a:r>
              <a:rPr lang="en-US" sz="1200" dirty="0">
                <a:solidFill>
                  <a:srgbClr val="131313"/>
                </a:solidFill>
                <a:latin typeface="Avenir Next" pitchFamily="34" charset="0"/>
                <a:ea typeface="Avenir Next" pitchFamily="34" charset="-122"/>
                <a:cs typeface="Avenir Next" pitchFamily="34" charset="-120"/>
              </a:rPr>
              <a:t>Phone call / missed call</a:t>
            </a:r>
            <a:endParaRPr lang="en-US" sz="1200" dirty="0"/>
          </a:p>
        </p:txBody>
      </p:sp>
      <p:sp>
        <p:nvSpPr>
          <p:cNvPr id="13" name="Shape 11"/>
          <p:cNvSpPr/>
          <p:nvPr/>
        </p:nvSpPr>
        <p:spPr>
          <a:xfrm>
            <a:off x="3291840" y="3909060"/>
            <a:ext cx="1554480" cy="0"/>
          </a:xfrm>
          <a:prstGeom prst="line">
            <a:avLst/>
          </a:prstGeom>
          <a:noFill/>
          <a:ln w="19050">
            <a:solidFill>
              <a:srgbClr val="A21E22"/>
            </a:solidFill>
            <a:prstDash val="solid"/>
            <a:tailEnd type="triangle"/>
          </a:ln>
        </p:spPr>
        <p:txBody>
          <a:bodyPr/>
          <a:p/>
        </p:txBody>
      </p:sp>
      <p:sp>
        <p:nvSpPr>
          <p:cNvPr id="14" name="Shape 12"/>
          <p:cNvSpPr/>
          <p:nvPr/>
        </p:nvSpPr>
        <p:spPr>
          <a:xfrm>
            <a:off x="548640" y="4297680"/>
            <a:ext cx="2743200" cy="502920"/>
          </a:xfrm>
          <a:prstGeom prst="rect">
            <a:avLst/>
          </a:prstGeom>
          <a:solidFill>
            <a:srgbClr val="F4F4F5"/>
          </a:solidFill>
          <a:ln w="9525">
            <a:solidFill>
              <a:srgbClr val="E5E7EB"/>
            </a:solidFill>
            <a:prstDash val="solid"/>
          </a:ln>
        </p:spPr>
        <p:txBody>
          <a:bodyPr/>
          <a:p/>
        </p:txBody>
      </p:sp>
      <p:sp>
        <p:nvSpPr>
          <p:cNvPr id="15" name="Text 13"/>
          <p:cNvSpPr/>
          <p:nvPr/>
        </p:nvSpPr>
        <p:spPr>
          <a:xfrm>
            <a:off x="685800" y="4297680"/>
            <a:ext cx="2560320" cy="502920"/>
          </a:xfrm>
          <a:prstGeom prst="rect">
            <a:avLst/>
          </a:prstGeom>
          <a:noFill/>
          <a:ln>
            <a:noFill/>
          </a:ln>
        </p:spPr>
        <p:txBody>
          <a:bodyPr wrap="square" lIns="0" tIns="0" rIns="0" bIns="0" rtlCol="0" anchor="ctr"/>
          <a:lstStyle/>
          <a:p>
            <a:pPr indent="0" marL="0">
              <a:buNone/>
            </a:pPr>
            <a:r>
              <a:rPr lang="en-US" sz="1200" dirty="0">
                <a:solidFill>
                  <a:srgbClr val="131313"/>
                </a:solidFill>
                <a:latin typeface="Avenir Next" pitchFamily="34" charset="0"/>
                <a:ea typeface="Avenir Next" pitchFamily="34" charset="-122"/>
                <a:cs typeface="Avenir Next" pitchFamily="34" charset="-120"/>
              </a:rPr>
              <a:t>Walk-in / front desk</a:t>
            </a:r>
            <a:endParaRPr lang="en-US" sz="1200" dirty="0"/>
          </a:p>
        </p:txBody>
      </p:sp>
      <p:sp>
        <p:nvSpPr>
          <p:cNvPr id="16" name="Shape 14"/>
          <p:cNvSpPr/>
          <p:nvPr/>
        </p:nvSpPr>
        <p:spPr>
          <a:xfrm>
            <a:off x="3291840" y="4549140"/>
            <a:ext cx="1554480" cy="0"/>
          </a:xfrm>
          <a:prstGeom prst="line">
            <a:avLst/>
          </a:prstGeom>
          <a:noFill/>
          <a:ln w="19050">
            <a:solidFill>
              <a:srgbClr val="A21E22"/>
            </a:solidFill>
            <a:prstDash val="solid"/>
            <a:tailEnd type="triangle"/>
          </a:ln>
        </p:spPr>
        <p:txBody>
          <a:bodyPr/>
          <a:p/>
        </p:txBody>
      </p:sp>
      <p:sp>
        <p:nvSpPr>
          <p:cNvPr id="17" name="Shape 15"/>
          <p:cNvSpPr/>
          <p:nvPr/>
        </p:nvSpPr>
        <p:spPr>
          <a:xfrm>
            <a:off x="548640" y="4937760"/>
            <a:ext cx="2743200" cy="502920"/>
          </a:xfrm>
          <a:prstGeom prst="rect">
            <a:avLst/>
          </a:prstGeom>
          <a:solidFill>
            <a:srgbClr val="F4F4F5"/>
          </a:solidFill>
          <a:ln w="9525">
            <a:solidFill>
              <a:srgbClr val="E5E7EB"/>
            </a:solidFill>
            <a:prstDash val="solid"/>
          </a:ln>
        </p:spPr>
        <p:txBody>
          <a:bodyPr/>
          <a:p/>
        </p:txBody>
      </p:sp>
      <p:sp>
        <p:nvSpPr>
          <p:cNvPr id="18" name="Text 16"/>
          <p:cNvSpPr/>
          <p:nvPr/>
        </p:nvSpPr>
        <p:spPr>
          <a:xfrm>
            <a:off x="685800" y="4937760"/>
            <a:ext cx="2560320" cy="502920"/>
          </a:xfrm>
          <a:prstGeom prst="rect">
            <a:avLst/>
          </a:prstGeom>
          <a:noFill/>
          <a:ln>
            <a:noFill/>
          </a:ln>
        </p:spPr>
        <p:txBody>
          <a:bodyPr wrap="square" lIns="0" tIns="0" rIns="0" bIns="0" rtlCol="0" anchor="ctr"/>
          <a:lstStyle/>
          <a:p>
            <a:pPr indent="0" marL="0">
              <a:buNone/>
            </a:pPr>
            <a:r>
              <a:rPr lang="en-US" sz="1200" dirty="0">
                <a:solidFill>
                  <a:srgbClr val="131313"/>
                </a:solidFill>
                <a:latin typeface="Avenir Next" pitchFamily="34" charset="0"/>
                <a:ea typeface="Avenir Next" pitchFamily="34" charset="-122"/>
                <a:cs typeface="Avenir Next" pitchFamily="34" charset="-120"/>
              </a:rPr>
              <a:t>Google Business Profile</a:t>
            </a:r>
            <a:endParaRPr lang="en-US" sz="1200" dirty="0"/>
          </a:p>
        </p:txBody>
      </p:sp>
      <p:sp>
        <p:nvSpPr>
          <p:cNvPr id="19" name="Shape 17"/>
          <p:cNvSpPr/>
          <p:nvPr/>
        </p:nvSpPr>
        <p:spPr>
          <a:xfrm>
            <a:off x="3291840" y="5189220"/>
            <a:ext cx="1554480" cy="0"/>
          </a:xfrm>
          <a:prstGeom prst="line">
            <a:avLst/>
          </a:prstGeom>
          <a:noFill/>
          <a:ln w="19050">
            <a:solidFill>
              <a:srgbClr val="A21E22"/>
            </a:solidFill>
            <a:prstDash val="solid"/>
            <a:tailEnd type="triangle"/>
          </a:ln>
        </p:spPr>
        <p:txBody>
          <a:bodyPr/>
          <a:p/>
        </p:txBody>
      </p:sp>
      <p:sp>
        <p:nvSpPr>
          <p:cNvPr id="20" name="Shape 18"/>
          <p:cNvSpPr/>
          <p:nvPr/>
        </p:nvSpPr>
        <p:spPr>
          <a:xfrm>
            <a:off x="4754880" y="3108960"/>
            <a:ext cx="3291840" cy="1737360"/>
          </a:xfrm>
          <a:prstGeom prst="rect">
            <a:avLst/>
          </a:prstGeom>
          <a:solidFill>
            <a:srgbClr val="131313"/>
          </a:solidFill>
          <a:ln>
            <a:noFill/>
          </a:ln>
        </p:spPr>
        <p:txBody>
          <a:bodyPr/>
          <a:p/>
        </p:txBody>
      </p:sp>
      <p:sp>
        <p:nvSpPr>
          <p:cNvPr id="21" name="Text 19"/>
          <p:cNvSpPr/>
          <p:nvPr/>
        </p:nvSpPr>
        <p:spPr>
          <a:xfrm>
            <a:off x="4754880" y="3291840"/>
            <a:ext cx="3291840" cy="274320"/>
          </a:xfrm>
          <a:prstGeom prst="rect">
            <a:avLst/>
          </a:prstGeom>
          <a:noFill/>
          <a:ln>
            <a:noFill/>
          </a:ln>
        </p:spPr>
        <p:txBody>
          <a:bodyPr wrap="square" lIns="0" tIns="0" rIns="0" bIns="0" rtlCol="0" anchor="ctr"/>
          <a:lstStyle/>
          <a:p>
            <a:pPr algn="ctr" indent="0" marL="0">
              <a:buNone/>
            </a:pPr>
            <a:r>
              <a:rPr lang="en-US" sz="1000" b="1" spc="400" kern="0" dirty="0">
                <a:solidFill>
                  <a:srgbClr val="A21E22"/>
                </a:solidFill>
                <a:latin typeface="Avenir Next Heavy" pitchFamily="34" charset="0"/>
                <a:ea typeface="Avenir Next Heavy" pitchFamily="34" charset="-122"/>
                <a:cs typeface="Avenir Next Heavy" pitchFamily="34" charset="-120"/>
              </a:rPr>
              <a:t>ONE FUNNEL</a:t>
            </a:r>
            <a:endParaRPr lang="en-US" sz="1000" dirty="0"/>
          </a:p>
        </p:txBody>
      </p:sp>
      <p:sp>
        <p:nvSpPr>
          <p:cNvPr id="22" name="Text 20"/>
          <p:cNvSpPr/>
          <p:nvPr/>
        </p:nvSpPr>
        <p:spPr>
          <a:xfrm>
            <a:off x="4754880" y="3611880"/>
            <a:ext cx="3291840" cy="365760"/>
          </a:xfrm>
          <a:prstGeom prst="rect">
            <a:avLst/>
          </a:prstGeom>
          <a:noFill/>
          <a:ln>
            <a:noFill/>
          </a:ln>
        </p:spPr>
        <p:txBody>
          <a:bodyPr wrap="square" lIns="0" tIns="0" rIns="0" bIns="0" rtlCol="0" anchor="ctr"/>
          <a:lstStyle/>
          <a:p>
            <a:pPr algn="ctr" indent="0" marL="0">
              <a:buNone/>
            </a:pPr>
            <a:r>
              <a:rPr lang="en-US" sz="1700" b="1" dirty="0">
                <a:solidFill>
                  <a:srgbClr val="FFFFFF"/>
                </a:solidFill>
                <a:latin typeface="Avenir Next Heavy" pitchFamily="34" charset="0"/>
                <a:ea typeface="Avenir Next Heavy" pitchFamily="34" charset="-122"/>
                <a:cs typeface="Avenir Next Heavy" pitchFamily="34" charset="-120"/>
              </a:rPr>
              <a:t>WellnessLiving</a:t>
            </a:r>
            <a:endParaRPr lang="en-US" sz="1700" dirty="0"/>
          </a:p>
        </p:txBody>
      </p:sp>
      <p:sp>
        <p:nvSpPr>
          <p:cNvPr id="23" name="Text 21"/>
          <p:cNvSpPr/>
          <p:nvPr/>
        </p:nvSpPr>
        <p:spPr>
          <a:xfrm>
            <a:off x="4754880" y="3950208"/>
            <a:ext cx="3291840" cy="365760"/>
          </a:xfrm>
          <a:prstGeom prst="rect">
            <a:avLst/>
          </a:prstGeom>
          <a:noFill/>
          <a:ln>
            <a:noFill/>
          </a:ln>
        </p:spPr>
        <p:txBody>
          <a:bodyPr wrap="square" lIns="0" tIns="0" rIns="0" bIns="0" rtlCol="0" anchor="ctr"/>
          <a:lstStyle/>
          <a:p>
            <a:pPr algn="ctr" indent="0" marL="0">
              <a:buNone/>
            </a:pPr>
            <a:r>
              <a:rPr lang="en-US" sz="1700" b="1" dirty="0">
                <a:solidFill>
                  <a:srgbClr val="FFFFFF"/>
                </a:solidFill>
                <a:latin typeface="Avenir Next Heavy" pitchFamily="34" charset="0"/>
                <a:ea typeface="Avenir Next Heavy" pitchFamily="34" charset="-122"/>
                <a:cs typeface="Avenir Next Heavy" pitchFamily="34" charset="-120"/>
              </a:rPr>
              <a:t>Marketing Suite</a:t>
            </a:r>
            <a:endParaRPr lang="en-US" sz="1700" dirty="0"/>
          </a:p>
        </p:txBody>
      </p:sp>
      <p:sp>
        <p:nvSpPr>
          <p:cNvPr id="24" name="Text 22"/>
          <p:cNvSpPr/>
          <p:nvPr/>
        </p:nvSpPr>
        <p:spPr>
          <a:xfrm>
            <a:off x="4754880" y="4297680"/>
            <a:ext cx="3291840" cy="274320"/>
          </a:xfrm>
          <a:prstGeom prst="rect">
            <a:avLst/>
          </a:prstGeom>
          <a:noFill/>
          <a:ln>
            <a:noFill/>
          </a:ln>
        </p:spPr>
        <p:txBody>
          <a:bodyPr wrap="square" lIns="0" tIns="0" rIns="0" bIns="0" rtlCol="0" anchor="ctr"/>
          <a:lstStyle/>
          <a:p>
            <a:pPr algn="ctr" indent="0" marL="0">
              <a:buNone/>
            </a:pPr>
            <a:r>
              <a:rPr lang="en-US" sz="1200" i="1" dirty="0">
                <a:solidFill>
                  <a:srgbClr val="D1D5DB"/>
                </a:solidFill>
                <a:latin typeface="Avenir Next" pitchFamily="34" charset="0"/>
                <a:ea typeface="Avenir Next" pitchFamily="34" charset="-122"/>
                <a:cs typeface="Avenir Next" pitchFamily="34" charset="-120"/>
              </a:rPr>
              <a:t>or GoHighLevel</a:t>
            </a:r>
            <a:endParaRPr lang="en-US" sz="1200" dirty="0"/>
          </a:p>
        </p:txBody>
      </p:sp>
      <p:sp>
        <p:nvSpPr>
          <p:cNvPr id="25" name="Text 23"/>
          <p:cNvSpPr/>
          <p:nvPr/>
        </p:nvSpPr>
        <p:spPr>
          <a:xfrm>
            <a:off x="4754880" y="4572000"/>
            <a:ext cx="3291840" cy="274320"/>
          </a:xfrm>
          <a:prstGeom prst="rect">
            <a:avLst/>
          </a:prstGeom>
          <a:noFill/>
          <a:ln>
            <a:noFill/>
          </a:ln>
        </p:spPr>
        <p:txBody>
          <a:bodyPr wrap="square" lIns="0" tIns="0" rIns="0" bIns="0" rtlCol="0" anchor="ctr"/>
          <a:lstStyle/>
          <a:p>
            <a:pPr algn="ctr" indent="0" marL="0">
              <a:buNone/>
            </a:pPr>
            <a:r>
              <a:rPr lang="en-US" sz="900" dirty="0">
                <a:solidFill>
                  <a:srgbClr val="6B7280"/>
                </a:solidFill>
                <a:latin typeface="Avenir Next" pitchFamily="34" charset="0"/>
                <a:ea typeface="Avenir Next" pitchFamily="34" charset="-122"/>
                <a:cs typeface="Avenir Next" pitchFamily="34" charset="-120"/>
              </a:rPr>
              <a:t>Source tagged · auto-routed · timestamped</a:t>
            </a:r>
            <a:endParaRPr lang="en-US" sz="900" dirty="0"/>
          </a:p>
        </p:txBody>
      </p:sp>
      <p:sp>
        <p:nvSpPr>
          <p:cNvPr id="26" name="Shape 24"/>
          <p:cNvSpPr/>
          <p:nvPr/>
        </p:nvSpPr>
        <p:spPr>
          <a:xfrm>
            <a:off x="8046720" y="3977640"/>
            <a:ext cx="731520" cy="0"/>
          </a:xfrm>
          <a:prstGeom prst="line">
            <a:avLst/>
          </a:prstGeom>
          <a:noFill/>
          <a:ln w="25400">
            <a:solidFill>
              <a:srgbClr val="A21E22"/>
            </a:solidFill>
            <a:prstDash val="solid"/>
            <a:tailEnd type="triangle"/>
          </a:ln>
        </p:spPr>
        <p:txBody>
          <a:bodyPr/>
          <a:p/>
        </p:txBody>
      </p:sp>
      <p:sp>
        <p:nvSpPr>
          <p:cNvPr id="27" name="Shape 25"/>
          <p:cNvSpPr/>
          <p:nvPr/>
        </p:nvSpPr>
        <p:spPr>
          <a:xfrm>
            <a:off x="8778240" y="2834640"/>
            <a:ext cx="2926080" cy="640080"/>
          </a:xfrm>
          <a:prstGeom prst="rect">
            <a:avLst/>
          </a:prstGeom>
          <a:solidFill>
            <a:srgbClr val="F6EAEA"/>
          </a:solidFill>
          <a:ln>
            <a:noFill/>
          </a:ln>
        </p:spPr>
        <p:txBody>
          <a:bodyPr/>
          <a:p/>
        </p:txBody>
      </p:sp>
      <p:sp>
        <p:nvSpPr>
          <p:cNvPr id="28" name="Shape 26"/>
          <p:cNvSpPr/>
          <p:nvPr/>
        </p:nvSpPr>
        <p:spPr>
          <a:xfrm>
            <a:off x="8778240" y="2834640"/>
            <a:ext cx="73152" cy="640080"/>
          </a:xfrm>
          <a:prstGeom prst="rect">
            <a:avLst/>
          </a:prstGeom>
          <a:solidFill>
            <a:srgbClr val="A21E22"/>
          </a:solidFill>
          <a:ln>
            <a:noFill/>
          </a:ln>
        </p:spPr>
        <p:txBody>
          <a:bodyPr/>
          <a:p/>
        </p:txBody>
      </p:sp>
      <p:sp>
        <p:nvSpPr>
          <p:cNvPr id="29" name="Text 27"/>
          <p:cNvSpPr/>
          <p:nvPr/>
        </p:nvSpPr>
        <p:spPr>
          <a:xfrm>
            <a:off x="8961120" y="2880360"/>
            <a:ext cx="2743200" cy="274320"/>
          </a:xfrm>
          <a:prstGeom prst="rect">
            <a:avLst/>
          </a:prstGeom>
          <a:noFill/>
          <a:ln>
            <a:noFill/>
          </a:ln>
        </p:spPr>
        <p:txBody>
          <a:bodyPr wrap="square" lIns="0" tIns="0" rIns="0" bIns="0" rtlCol="0" anchor="ctr"/>
          <a:lstStyle/>
          <a:p>
            <a:pPr indent="0" marL="0">
              <a:buNone/>
            </a:pPr>
            <a:r>
              <a:rPr lang="en-US" sz="1100" b="1" spc="300" kern="0" dirty="0">
                <a:solidFill>
                  <a:srgbClr val="A21E22"/>
                </a:solidFill>
                <a:latin typeface="Avenir Next Heavy" pitchFamily="34" charset="0"/>
                <a:ea typeface="Avenir Next Heavy" pitchFamily="34" charset="-122"/>
                <a:cs typeface="Avenir Next Heavy" pitchFamily="34" charset="-120"/>
              </a:rPr>
              <a:t>LEAD NURTURE</a:t>
            </a:r>
            <a:endParaRPr lang="en-US" sz="1100" dirty="0"/>
          </a:p>
        </p:txBody>
      </p:sp>
      <p:sp>
        <p:nvSpPr>
          <p:cNvPr id="30" name="Text 28"/>
          <p:cNvSpPr/>
          <p:nvPr/>
        </p:nvSpPr>
        <p:spPr>
          <a:xfrm>
            <a:off x="8961120" y="3127248"/>
            <a:ext cx="2743200" cy="320040"/>
          </a:xfrm>
          <a:prstGeom prst="rect">
            <a:avLst/>
          </a:prstGeom>
          <a:noFill/>
          <a:ln>
            <a:noFill/>
          </a:ln>
        </p:spPr>
        <p:txBody>
          <a:bodyPr wrap="square" lIns="0" tIns="0" rIns="0" bIns="0" rtlCol="0" anchor="ctr"/>
          <a:lstStyle/>
          <a:p>
            <a:pPr indent="0" marL="0">
              <a:buNone/>
            </a:pPr>
            <a:r>
              <a:rPr lang="en-US" sz="1100" dirty="0">
                <a:solidFill>
                  <a:srgbClr val="131313"/>
                </a:solidFill>
                <a:latin typeface="Avenir Next" pitchFamily="34" charset="0"/>
                <a:ea typeface="Avenir Next" pitchFamily="34" charset="-122"/>
                <a:cs typeface="Avenir Next" pitchFamily="34" charset="-120"/>
              </a:rPr>
              <a:t>Instant SMS, sequence to first visit</a:t>
            </a:r>
            <a:endParaRPr lang="en-US" sz="1100" dirty="0"/>
          </a:p>
        </p:txBody>
      </p:sp>
      <p:sp>
        <p:nvSpPr>
          <p:cNvPr id="31" name="Shape 29"/>
          <p:cNvSpPr/>
          <p:nvPr/>
        </p:nvSpPr>
        <p:spPr>
          <a:xfrm>
            <a:off x="8778240" y="3611880"/>
            <a:ext cx="2926080" cy="640080"/>
          </a:xfrm>
          <a:prstGeom prst="rect">
            <a:avLst/>
          </a:prstGeom>
          <a:solidFill>
            <a:srgbClr val="F6EAEA"/>
          </a:solidFill>
          <a:ln>
            <a:noFill/>
          </a:ln>
        </p:spPr>
        <p:txBody>
          <a:bodyPr/>
          <a:p/>
        </p:txBody>
      </p:sp>
      <p:sp>
        <p:nvSpPr>
          <p:cNvPr id="32" name="Shape 30"/>
          <p:cNvSpPr/>
          <p:nvPr/>
        </p:nvSpPr>
        <p:spPr>
          <a:xfrm>
            <a:off x="8778240" y="3611880"/>
            <a:ext cx="73152" cy="640080"/>
          </a:xfrm>
          <a:prstGeom prst="rect">
            <a:avLst/>
          </a:prstGeom>
          <a:solidFill>
            <a:srgbClr val="A21E22"/>
          </a:solidFill>
          <a:ln>
            <a:noFill/>
          </a:ln>
        </p:spPr>
        <p:txBody>
          <a:bodyPr/>
          <a:p/>
        </p:txBody>
      </p:sp>
      <p:sp>
        <p:nvSpPr>
          <p:cNvPr id="33" name="Text 31"/>
          <p:cNvSpPr/>
          <p:nvPr/>
        </p:nvSpPr>
        <p:spPr>
          <a:xfrm>
            <a:off x="8961120" y="3657600"/>
            <a:ext cx="2743200" cy="274320"/>
          </a:xfrm>
          <a:prstGeom prst="rect">
            <a:avLst/>
          </a:prstGeom>
          <a:noFill/>
          <a:ln>
            <a:noFill/>
          </a:ln>
        </p:spPr>
        <p:txBody>
          <a:bodyPr wrap="square" lIns="0" tIns="0" rIns="0" bIns="0" rtlCol="0" anchor="ctr"/>
          <a:lstStyle/>
          <a:p>
            <a:pPr indent="0" marL="0">
              <a:buNone/>
            </a:pPr>
            <a:r>
              <a:rPr lang="en-US" sz="1100" b="1" spc="300" kern="0" dirty="0">
                <a:solidFill>
                  <a:srgbClr val="A21E22"/>
                </a:solidFill>
                <a:latin typeface="Avenir Next Heavy" pitchFamily="34" charset="0"/>
                <a:ea typeface="Avenir Next Heavy" pitchFamily="34" charset="-122"/>
                <a:cs typeface="Avenir Next Heavy" pitchFamily="34" charset="-120"/>
              </a:rPr>
              <a:t>RETENTION</a:t>
            </a:r>
            <a:endParaRPr lang="en-US" sz="1100" dirty="0"/>
          </a:p>
        </p:txBody>
      </p:sp>
      <p:sp>
        <p:nvSpPr>
          <p:cNvPr id="34" name="Text 32"/>
          <p:cNvSpPr/>
          <p:nvPr/>
        </p:nvSpPr>
        <p:spPr>
          <a:xfrm>
            <a:off x="8961120" y="3904488"/>
            <a:ext cx="2743200" cy="320040"/>
          </a:xfrm>
          <a:prstGeom prst="rect">
            <a:avLst/>
          </a:prstGeom>
          <a:noFill/>
          <a:ln>
            <a:noFill/>
          </a:ln>
        </p:spPr>
        <p:txBody>
          <a:bodyPr wrap="square" lIns="0" tIns="0" rIns="0" bIns="0" rtlCol="0" anchor="ctr"/>
          <a:lstStyle/>
          <a:p>
            <a:pPr indent="0" marL="0">
              <a:buNone/>
            </a:pPr>
            <a:r>
              <a:rPr lang="en-US" sz="1100" dirty="0">
                <a:solidFill>
                  <a:srgbClr val="131313"/>
                </a:solidFill>
                <a:latin typeface="Avenir Next" pitchFamily="34" charset="0"/>
                <a:ea typeface="Avenir Next" pitchFamily="34" charset="-122"/>
                <a:cs typeface="Avenir Next" pitchFamily="34" charset="-120"/>
              </a:rPr>
              <a:t>90-day check-ins, milestone touches</a:t>
            </a:r>
            <a:endParaRPr lang="en-US" sz="1100" dirty="0"/>
          </a:p>
        </p:txBody>
      </p:sp>
      <p:sp>
        <p:nvSpPr>
          <p:cNvPr id="35" name="Shape 33"/>
          <p:cNvSpPr/>
          <p:nvPr/>
        </p:nvSpPr>
        <p:spPr>
          <a:xfrm>
            <a:off x="8778240" y="4389120"/>
            <a:ext cx="2926080" cy="640080"/>
          </a:xfrm>
          <a:prstGeom prst="rect">
            <a:avLst/>
          </a:prstGeom>
          <a:solidFill>
            <a:srgbClr val="F6EAEA"/>
          </a:solidFill>
          <a:ln>
            <a:noFill/>
          </a:ln>
        </p:spPr>
        <p:txBody>
          <a:bodyPr/>
          <a:p/>
        </p:txBody>
      </p:sp>
      <p:sp>
        <p:nvSpPr>
          <p:cNvPr id="36" name="Shape 34"/>
          <p:cNvSpPr/>
          <p:nvPr/>
        </p:nvSpPr>
        <p:spPr>
          <a:xfrm>
            <a:off x="8778240" y="4389120"/>
            <a:ext cx="73152" cy="640080"/>
          </a:xfrm>
          <a:prstGeom prst="rect">
            <a:avLst/>
          </a:prstGeom>
          <a:solidFill>
            <a:srgbClr val="A21E22"/>
          </a:solidFill>
          <a:ln>
            <a:noFill/>
          </a:ln>
        </p:spPr>
        <p:txBody>
          <a:bodyPr/>
          <a:p/>
        </p:txBody>
      </p:sp>
      <p:sp>
        <p:nvSpPr>
          <p:cNvPr id="37" name="Text 35"/>
          <p:cNvSpPr/>
          <p:nvPr/>
        </p:nvSpPr>
        <p:spPr>
          <a:xfrm>
            <a:off x="8961120" y="4434840"/>
            <a:ext cx="2743200" cy="274320"/>
          </a:xfrm>
          <a:prstGeom prst="rect">
            <a:avLst/>
          </a:prstGeom>
          <a:noFill/>
          <a:ln>
            <a:noFill/>
          </a:ln>
        </p:spPr>
        <p:txBody>
          <a:bodyPr wrap="square" lIns="0" tIns="0" rIns="0" bIns="0" rtlCol="0" anchor="ctr"/>
          <a:lstStyle/>
          <a:p>
            <a:pPr indent="0" marL="0">
              <a:buNone/>
            </a:pPr>
            <a:r>
              <a:rPr lang="en-US" sz="1100" b="1" spc="300" kern="0" dirty="0">
                <a:solidFill>
                  <a:srgbClr val="A21E22"/>
                </a:solidFill>
                <a:latin typeface="Avenir Next Heavy" pitchFamily="34" charset="0"/>
                <a:ea typeface="Avenir Next Heavy" pitchFamily="34" charset="-122"/>
                <a:cs typeface="Avenir Next Heavy" pitchFamily="34" charset="-120"/>
              </a:rPr>
              <a:t>WIN-BACK</a:t>
            </a:r>
            <a:endParaRPr lang="en-US" sz="1100" dirty="0"/>
          </a:p>
        </p:txBody>
      </p:sp>
      <p:sp>
        <p:nvSpPr>
          <p:cNvPr id="38" name="Text 36"/>
          <p:cNvSpPr/>
          <p:nvPr/>
        </p:nvSpPr>
        <p:spPr>
          <a:xfrm>
            <a:off x="8961120" y="4681728"/>
            <a:ext cx="2743200" cy="320040"/>
          </a:xfrm>
          <a:prstGeom prst="rect">
            <a:avLst/>
          </a:prstGeom>
          <a:noFill/>
          <a:ln>
            <a:noFill/>
          </a:ln>
        </p:spPr>
        <p:txBody>
          <a:bodyPr wrap="square" lIns="0" tIns="0" rIns="0" bIns="0" rtlCol="0" anchor="ctr"/>
          <a:lstStyle/>
          <a:p>
            <a:pPr indent="0" marL="0">
              <a:buNone/>
            </a:pPr>
            <a:r>
              <a:rPr lang="en-US" sz="1100" dirty="0">
                <a:solidFill>
                  <a:srgbClr val="131313"/>
                </a:solidFill>
                <a:latin typeface="Avenir Next" pitchFamily="34" charset="0"/>
                <a:ea typeface="Avenir Next" pitchFamily="34" charset="-122"/>
                <a:cs typeface="Avenir Next" pitchFamily="34" charset="-120"/>
              </a:rPr>
              <a:t>Missed 2 weeks → automated outreach</a:t>
            </a:r>
            <a:endParaRPr lang="en-US" sz="1100" dirty="0"/>
          </a:p>
        </p:txBody>
      </p:sp>
      <p:sp>
        <p:nvSpPr>
          <p:cNvPr id="39" name="Text 37"/>
          <p:cNvSpPr/>
          <p:nvPr/>
        </p:nvSpPr>
        <p:spPr>
          <a:xfrm>
            <a:off x="548640" y="5943600"/>
            <a:ext cx="11064240" cy="457200"/>
          </a:xfrm>
          <a:prstGeom prst="rect">
            <a:avLst/>
          </a:prstGeom>
          <a:noFill/>
          <a:ln>
            <a:noFill/>
          </a:ln>
        </p:spPr>
        <p:txBody>
          <a:bodyPr wrap="square" lIns="0" tIns="0" rIns="0" bIns="0" rtlCol="0" anchor="ctr"/>
          <a:lstStyle/>
          <a:p>
            <a:pPr indent="0" marL="0">
              <a:buNone/>
            </a:pPr>
            <a:r>
              <a:rPr lang="en-US" sz="1200" b="1" i="1" dirty="0">
                <a:solidFill>
                  <a:srgbClr val="131313"/>
                </a:solidFill>
                <a:latin typeface="Avenir Next" pitchFamily="34" charset="0"/>
                <a:ea typeface="Avenir Next" pitchFamily="34" charset="-122"/>
                <a:cs typeface="Avenir Next" pitchFamily="34" charset="-120"/>
              </a:rPr>
              <a:t>GATE  →  Phase 2 starts when:  every inbound channel creates a CRM lead, and 3 lifecycle automations are live and tested.</a:t>
            </a:r>
            <a:endParaRPr lang="en-US" sz="1200" dirty="0"/>
          </a:p>
        </p:txBody>
      </p:sp>
      <p:sp>
        <p:nvSpPr>
          <p:cNvPr id="40" name="Text 38"/>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10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1  ·  PARALLEL TRACK</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Make the website agent-ready</a:t>
            </a:r>
            <a:endParaRPr lang="en-US" sz="2800" dirty="0"/>
          </a:p>
        </p:txBody>
      </p:sp>
      <p:sp>
        <p:nvSpPr>
          <p:cNvPr id="4" name="Shape 2"/>
          <p:cNvSpPr/>
          <p:nvPr/>
        </p:nvSpPr>
        <p:spPr>
          <a:xfrm>
            <a:off x="548640" y="1828800"/>
            <a:ext cx="4846320" cy="4389120"/>
          </a:xfrm>
          <a:prstGeom prst="rect">
            <a:avLst/>
          </a:prstGeom>
          <a:solidFill>
            <a:srgbClr val="F4F4F5"/>
          </a:solidFill>
          <a:ln w="12700">
            <a:solidFill>
              <a:srgbClr val="E5E7EB"/>
            </a:solidFill>
            <a:prstDash val="dash"/>
          </a:ln>
        </p:spPr>
        <p:txBody>
          <a:bodyPr/>
          <a:p/>
        </p:txBody>
      </p:sp>
      <p:sp>
        <p:nvSpPr>
          <p:cNvPr id="5" name="Shape 3"/>
          <p:cNvSpPr/>
          <p:nvPr/>
        </p:nvSpPr>
        <p:spPr>
          <a:xfrm>
            <a:off x="731520" y="2011680"/>
            <a:ext cx="548640" cy="201168"/>
          </a:xfrm>
          <a:prstGeom prst="rect">
            <a:avLst/>
          </a:prstGeom>
          <a:solidFill>
            <a:srgbClr val="A21E22"/>
          </a:solidFill>
          <a:ln>
            <a:noFill/>
          </a:ln>
        </p:spPr>
        <p:txBody>
          <a:bodyPr/>
          <a:p/>
        </p:txBody>
      </p:sp>
      <p:sp>
        <p:nvSpPr>
          <p:cNvPr id="6" name="Text 4"/>
          <p:cNvSpPr/>
          <p:nvPr/>
        </p:nvSpPr>
        <p:spPr>
          <a:xfrm>
            <a:off x="731520" y="2011680"/>
            <a:ext cx="548640" cy="201168"/>
          </a:xfrm>
          <a:prstGeom prst="rect">
            <a:avLst/>
          </a:prstGeom>
          <a:noFill/>
          <a:ln>
            <a:noFill/>
          </a:ln>
        </p:spPr>
        <p:txBody>
          <a:bodyPr wrap="square" lIns="0" tIns="0" rIns="0" bIns="0" rtlCol="0" anchor="ctr"/>
          <a:lstStyle/>
          <a:p>
            <a:pPr algn="ctr" indent="0" marL="0">
              <a:buNone/>
            </a:pPr>
            <a:r>
              <a:rPr lang="en-US" sz="1000" b="1" spc="200" kern="0" dirty="0">
                <a:solidFill>
                  <a:srgbClr val="FFFFFF"/>
                </a:solidFill>
                <a:latin typeface="Avenir Next Heavy" pitchFamily="34" charset="0"/>
                <a:ea typeface="Avenir Next Heavy" pitchFamily="34" charset="-122"/>
                <a:cs typeface="Avenir Next Heavy" pitchFamily="34" charset="-120"/>
              </a:rPr>
              <a:t>CUE</a:t>
            </a:r>
            <a:endParaRPr lang="en-US" sz="1000" dirty="0"/>
          </a:p>
        </p:txBody>
      </p:sp>
      <p:sp>
        <p:nvSpPr>
          <p:cNvPr id="7" name="Text 5"/>
          <p:cNvSpPr/>
          <p:nvPr/>
        </p:nvSpPr>
        <p:spPr>
          <a:xfrm>
            <a:off x="731520" y="2331720"/>
            <a:ext cx="4480560" cy="45720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Cue: arch-training.com/membership</a:t>
            </a:r>
            <a:endParaRPr lang="en-US" sz="1400" dirty="0"/>
          </a:p>
        </p:txBody>
      </p:sp>
      <p:sp>
        <p:nvSpPr>
          <p:cNvPr id="8" name="Text 6"/>
          <p:cNvSpPr/>
          <p:nvPr/>
        </p:nvSpPr>
        <p:spPr>
          <a:xfrm>
            <a:off x="731520" y="2788920"/>
            <a:ext cx="4480560" cy="3291840"/>
          </a:xfrm>
          <a:prstGeom prst="rect">
            <a:avLst/>
          </a:prstGeom>
          <a:noFill/>
          <a:ln>
            <a:noFill/>
          </a:ln>
        </p:spPr>
        <p:txBody>
          <a:bodyPr wrap="square" lIns="0" tIns="0" rIns="0" bIns="0" rtlCol="0" anchor="t"/>
          <a:lstStyle/>
          <a:p>
            <a:pPr indent="0" marL="0">
              <a:buNone/>
            </a:pPr>
            <a:r>
              <a:rPr lang="en-US" sz="1100" i="1" dirty="0">
                <a:solidFill>
                  <a:srgbClr val="6B7280"/>
                </a:solidFill>
                <a:latin typeface="Avenir Next" pitchFamily="34" charset="0"/>
                <a:ea typeface="Avenir Next" pitchFamily="34" charset="-122"/>
                <a:cs typeface="Avenir Next" pitchFamily="34" charset="-120"/>
              </a:rPr>
              <a:t>Walk through: arch-training.com/robots.txt blocks the AI crawlers and the site carries no schema. There's almost nothing structured for AI search to read or cite about ARCH.</a:t>
            </a:r>
            <a:endParaRPr lang="en-US" sz="1100" dirty="0"/>
          </a:p>
        </p:txBody>
      </p:sp>
      <p:sp>
        <p:nvSpPr>
          <p:cNvPr id="9" name="Text 7"/>
          <p:cNvSpPr/>
          <p:nvPr/>
        </p:nvSpPr>
        <p:spPr>
          <a:xfrm>
            <a:off x="5943600" y="1828800"/>
            <a:ext cx="576072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FIXES</a:t>
            </a:r>
            <a:endParaRPr lang="en-US" sz="1100" dirty="0"/>
          </a:p>
        </p:txBody>
      </p:sp>
      <p:sp>
        <p:nvSpPr>
          <p:cNvPr id="10" name="Shape 8"/>
          <p:cNvSpPr/>
          <p:nvPr/>
        </p:nvSpPr>
        <p:spPr>
          <a:xfrm>
            <a:off x="5943600" y="2286000"/>
            <a:ext cx="228600" cy="228600"/>
          </a:xfrm>
          <a:prstGeom prst="ellipse">
            <a:avLst/>
          </a:prstGeom>
          <a:solidFill>
            <a:srgbClr val="A21E22"/>
          </a:solidFill>
          <a:ln>
            <a:noFill/>
          </a:ln>
        </p:spPr>
        <p:txBody>
          <a:bodyPr/>
          <a:p/>
        </p:txBody>
      </p:sp>
      <p:sp>
        <p:nvSpPr>
          <p:cNvPr id="11" name="Text 9"/>
          <p:cNvSpPr/>
          <p:nvPr/>
        </p:nvSpPr>
        <p:spPr>
          <a:xfrm>
            <a:off x="6263640" y="219456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Open up to AI search</a:t>
            </a:r>
            <a:endParaRPr lang="en-US" sz="1300" dirty="0"/>
          </a:p>
        </p:txBody>
      </p:sp>
      <p:sp>
        <p:nvSpPr>
          <p:cNvPr id="12" name="Text 10"/>
          <p:cNvSpPr/>
          <p:nvPr/>
        </p:nvSpPr>
        <p:spPr>
          <a:xfrm>
            <a:off x="6263640" y="246888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Allow the AI search crawlers (Claude-SearchBot, OAI-SearchBot, PerplexityBot) plus Google. Training-bot blocks are fine to keep.</a:t>
            </a:r>
            <a:endParaRPr lang="en-US" sz="1100" dirty="0"/>
          </a:p>
        </p:txBody>
      </p:sp>
      <p:sp>
        <p:nvSpPr>
          <p:cNvPr id="13" name="Shape 11"/>
          <p:cNvSpPr/>
          <p:nvPr/>
        </p:nvSpPr>
        <p:spPr>
          <a:xfrm>
            <a:off x="5943600" y="2926080"/>
            <a:ext cx="228600" cy="228600"/>
          </a:xfrm>
          <a:prstGeom prst="ellipse">
            <a:avLst/>
          </a:prstGeom>
          <a:solidFill>
            <a:srgbClr val="A21E22"/>
          </a:solidFill>
          <a:ln>
            <a:noFill/>
          </a:ln>
        </p:spPr>
        <p:txBody>
          <a:bodyPr/>
          <a:p/>
        </p:txBody>
      </p:sp>
      <p:sp>
        <p:nvSpPr>
          <p:cNvPr id="14" name="Text 12"/>
          <p:cNvSpPr/>
          <p:nvPr/>
        </p:nvSpPr>
        <p:spPr>
          <a:xfrm>
            <a:off x="6263640" y="283464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Add llms.txt</a:t>
            </a:r>
            <a:endParaRPr lang="en-US" sz="1300" dirty="0"/>
          </a:p>
        </p:txBody>
      </p:sp>
      <p:sp>
        <p:nvSpPr>
          <p:cNvPr id="15" name="Text 13"/>
          <p:cNvSpPr/>
          <p:nvPr/>
        </p:nvSpPr>
        <p:spPr>
          <a:xfrm>
            <a:off x="6263640" y="310896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Emerging convention (Anthropic &amp; Perplexity read it; Google doesn’t yet). 15-min hygiene step, not a traffic driver.</a:t>
            </a:r>
            <a:endParaRPr lang="en-US" sz="1100" dirty="0"/>
          </a:p>
        </p:txBody>
      </p:sp>
      <p:sp>
        <p:nvSpPr>
          <p:cNvPr id="16" name="Shape 14"/>
          <p:cNvSpPr/>
          <p:nvPr/>
        </p:nvSpPr>
        <p:spPr>
          <a:xfrm>
            <a:off x="5943600" y="3566160"/>
            <a:ext cx="228600" cy="228600"/>
          </a:xfrm>
          <a:prstGeom prst="ellipse">
            <a:avLst/>
          </a:prstGeom>
          <a:solidFill>
            <a:srgbClr val="A21E22"/>
          </a:solidFill>
          <a:ln>
            <a:noFill/>
          </a:ln>
        </p:spPr>
        <p:txBody>
          <a:bodyPr/>
          <a:p/>
        </p:txBody>
      </p:sp>
      <p:sp>
        <p:nvSpPr>
          <p:cNvPr id="17" name="Text 15"/>
          <p:cNvSpPr/>
          <p:nvPr/>
        </p:nvSpPr>
        <p:spPr>
          <a:xfrm>
            <a:off x="6263640" y="347472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Schema markup</a:t>
            </a:r>
            <a:endParaRPr lang="en-US" sz="1300" dirty="0"/>
          </a:p>
        </p:txBody>
      </p:sp>
      <p:sp>
        <p:nvSpPr>
          <p:cNvPr id="18" name="Text 16"/>
          <p:cNvSpPr/>
          <p:nvPr/>
        </p:nvSpPr>
        <p:spPr>
          <a:xfrm>
            <a:off x="6263640" y="374904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LocalBusiness · HealthClub · Offer schema on every page.</a:t>
            </a:r>
            <a:endParaRPr lang="en-US" sz="1100" dirty="0"/>
          </a:p>
        </p:txBody>
      </p:sp>
      <p:sp>
        <p:nvSpPr>
          <p:cNvPr id="19" name="Shape 17"/>
          <p:cNvSpPr/>
          <p:nvPr/>
        </p:nvSpPr>
        <p:spPr>
          <a:xfrm>
            <a:off x="5943600" y="4206240"/>
            <a:ext cx="228600" cy="228600"/>
          </a:xfrm>
          <a:prstGeom prst="ellipse">
            <a:avLst/>
          </a:prstGeom>
          <a:solidFill>
            <a:srgbClr val="A21E22"/>
          </a:solidFill>
          <a:ln>
            <a:noFill/>
          </a:ln>
        </p:spPr>
        <p:txBody>
          <a:bodyPr/>
          <a:p/>
        </p:txBody>
      </p:sp>
      <p:sp>
        <p:nvSpPr>
          <p:cNvPr id="20" name="Text 18"/>
          <p:cNvSpPr/>
          <p:nvPr/>
        </p:nvSpPr>
        <p:spPr>
          <a:xfrm>
            <a:off x="6263640" y="411480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Three real location pages</a:t>
            </a:r>
            <a:endParaRPr lang="en-US" sz="1300" dirty="0"/>
          </a:p>
        </p:txBody>
      </p:sp>
      <p:sp>
        <p:nvSpPr>
          <p:cNvPr id="21" name="Text 19"/>
          <p:cNvSpPr/>
          <p:nvPr/>
        </p:nvSpPr>
        <p:spPr>
          <a:xfrm>
            <a:off x="6263640" y="438912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Marlboro · Freehold · Eatontown — each indexed separately.</a:t>
            </a:r>
            <a:endParaRPr lang="en-US" sz="1100" dirty="0"/>
          </a:p>
        </p:txBody>
      </p:sp>
      <p:sp>
        <p:nvSpPr>
          <p:cNvPr id="22" name="Shape 20"/>
          <p:cNvSpPr/>
          <p:nvPr/>
        </p:nvSpPr>
        <p:spPr>
          <a:xfrm>
            <a:off x="5943600" y="4846320"/>
            <a:ext cx="228600" cy="228600"/>
          </a:xfrm>
          <a:prstGeom prst="ellipse">
            <a:avLst/>
          </a:prstGeom>
          <a:solidFill>
            <a:srgbClr val="A21E22"/>
          </a:solidFill>
          <a:ln>
            <a:noFill/>
          </a:ln>
        </p:spPr>
        <p:txBody>
          <a:bodyPr/>
          <a:p/>
        </p:txBody>
      </p:sp>
      <p:sp>
        <p:nvSpPr>
          <p:cNvPr id="23" name="Text 21"/>
          <p:cNvSpPr/>
          <p:nvPr/>
        </p:nvSpPr>
        <p:spPr>
          <a:xfrm>
            <a:off x="6263640" y="475488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Link-in-bio redesign</a:t>
            </a:r>
            <a:endParaRPr lang="en-US" sz="1300" dirty="0"/>
          </a:p>
        </p:txBody>
      </p:sp>
      <p:sp>
        <p:nvSpPr>
          <p:cNvPr id="24" name="Text 22"/>
          <p:cNvSpPr/>
          <p:nvPr/>
        </p:nvSpPr>
        <p:spPr>
          <a:xfrm>
            <a:off x="6263640" y="502920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One tap from Reel to a single CTA. Mobile first.</a:t>
            </a:r>
            <a:endParaRPr lang="en-US" sz="1100" dirty="0"/>
          </a:p>
        </p:txBody>
      </p:sp>
      <p:sp>
        <p:nvSpPr>
          <p:cNvPr id="25" name="Shape 23"/>
          <p:cNvSpPr/>
          <p:nvPr/>
        </p:nvSpPr>
        <p:spPr>
          <a:xfrm>
            <a:off x="5943600" y="5486400"/>
            <a:ext cx="228600" cy="228600"/>
          </a:xfrm>
          <a:prstGeom prst="ellipse">
            <a:avLst/>
          </a:prstGeom>
          <a:solidFill>
            <a:srgbClr val="A21E22"/>
          </a:solidFill>
          <a:ln>
            <a:noFill/>
          </a:ln>
        </p:spPr>
        <p:txBody>
          <a:bodyPr/>
          <a:p/>
        </p:txBody>
      </p:sp>
      <p:sp>
        <p:nvSpPr>
          <p:cNvPr id="26" name="Text 24"/>
          <p:cNvSpPr/>
          <p:nvPr/>
        </p:nvSpPr>
        <p:spPr>
          <a:xfrm>
            <a:off x="6263640" y="5394960"/>
            <a:ext cx="548640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All 3 Google Business Profiles</a:t>
            </a:r>
            <a:endParaRPr lang="en-US" sz="1300" dirty="0"/>
          </a:p>
        </p:txBody>
      </p:sp>
      <p:sp>
        <p:nvSpPr>
          <p:cNvPr id="27" name="Text 25"/>
          <p:cNvSpPr/>
          <p:nvPr/>
        </p:nvSpPr>
        <p:spPr>
          <a:xfrm>
            <a:off x="6263640" y="5669280"/>
            <a:ext cx="5486400" cy="3657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Verified, optimized, photos refreshed monthly.</a:t>
            </a:r>
            <a:endParaRPr lang="en-US" sz="1100" dirty="0"/>
          </a:p>
        </p:txBody>
      </p:sp>
      <p:sp>
        <p:nvSpPr>
          <p:cNvPr id="28" name="Text 26"/>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11 / 22</a:t>
            </a:r>
            <a:endParaRPr lang="en-US" sz="900" dirty="0"/>
          </a:p>
        </p:txBody>
      </p:sp>
      <p:pic>
        <p:nvPicPr>
          <p:cNvPr id="29" name="Picture 28"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2  ·  WEEKS 5–12</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Sharpen the brand. Filter the leads.</a:t>
            </a:r>
            <a:endParaRPr lang="en-US" sz="2800" dirty="0"/>
          </a:p>
        </p:txBody>
      </p:sp>
      <p:sp>
        <p:nvSpPr>
          <p:cNvPr id="4" name="Shape 2"/>
          <p:cNvSpPr/>
          <p:nvPr/>
        </p:nvSpPr>
        <p:spPr>
          <a:xfrm>
            <a:off x="548640" y="1737360"/>
            <a:ext cx="11064240" cy="1554480"/>
          </a:xfrm>
          <a:prstGeom prst="rect">
            <a:avLst/>
          </a:prstGeom>
          <a:solidFill>
            <a:srgbClr val="F6EAEA"/>
          </a:solidFill>
          <a:ln>
            <a:noFill/>
          </a:ln>
        </p:spPr>
        <p:txBody>
          <a:bodyPr/>
          <a:p/>
        </p:txBody>
      </p:sp>
      <p:sp>
        <p:nvSpPr>
          <p:cNvPr id="5" name="Shape 3"/>
          <p:cNvSpPr/>
          <p:nvPr/>
        </p:nvSpPr>
        <p:spPr>
          <a:xfrm>
            <a:off x="548640" y="1737360"/>
            <a:ext cx="109728" cy="1554480"/>
          </a:xfrm>
          <a:prstGeom prst="rect">
            <a:avLst/>
          </a:prstGeom>
          <a:solidFill>
            <a:srgbClr val="A21E22"/>
          </a:solidFill>
          <a:ln>
            <a:noFill/>
          </a:ln>
        </p:spPr>
        <p:txBody>
          <a:bodyPr/>
          <a:p/>
        </p:txBody>
      </p:sp>
      <p:sp>
        <p:nvSpPr>
          <p:cNvPr id="6" name="Text 4"/>
          <p:cNvSpPr/>
          <p:nvPr/>
        </p:nvSpPr>
        <p:spPr>
          <a:xfrm>
            <a:off x="914400" y="1874520"/>
            <a:ext cx="100584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AVATAR — ONE PARAGRAPH, ON THE WALL</a:t>
            </a:r>
            <a:endParaRPr lang="en-US" sz="1100" dirty="0"/>
          </a:p>
        </p:txBody>
      </p:sp>
      <p:sp>
        <p:nvSpPr>
          <p:cNvPr id="7" name="Text 5"/>
          <p:cNvSpPr/>
          <p:nvPr/>
        </p:nvSpPr>
        <p:spPr>
          <a:xfrm>
            <a:off x="914400" y="2194560"/>
            <a:ext cx="10515600" cy="1097280"/>
          </a:xfrm>
          <a:prstGeom prst="rect">
            <a:avLst/>
          </a:prstGeom>
          <a:noFill/>
          <a:ln>
            <a:noFill/>
          </a:ln>
        </p:spPr>
        <p:txBody>
          <a:bodyPr wrap="square" lIns="0" tIns="0" rIns="0" bIns="0" rtlCol="0" anchor="t"/>
          <a:lstStyle/>
          <a:p>
            <a:pPr indent="0" marL="0">
              <a:buNone/>
            </a:pPr>
            <a:r>
              <a:rPr lang="en-US" sz="1400" i="1" dirty="0">
                <a:solidFill>
                  <a:srgbClr val="131313"/>
                </a:solidFill>
                <a:latin typeface="Avenir Next" pitchFamily="34" charset="0"/>
                <a:ea typeface="Avenir Next" pitchFamily="34" charset="-122"/>
                <a:cs typeface="Avenir Next" pitchFamily="34" charset="-120"/>
              </a:rPr>
              <a:t>ARCH is for people in Monmouth County who train for a goal — HYROX, a sport, a physique, a PR, recovery from injury. They want coaches who know what they're doing, equipment that doesn't suck, and a room with other serious people. They are not looking for a $20 gym.</a:t>
            </a:r>
            <a:endParaRPr lang="en-US" sz="1400" dirty="0"/>
          </a:p>
        </p:txBody>
      </p:sp>
      <p:sp>
        <p:nvSpPr>
          <p:cNvPr id="8" name="Text 6"/>
          <p:cNvSpPr/>
          <p:nvPr/>
        </p:nvSpPr>
        <p:spPr>
          <a:xfrm>
            <a:off x="548640" y="3657600"/>
            <a:ext cx="5349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WORDS ARCH USES</a:t>
            </a:r>
            <a:endParaRPr lang="en-US" sz="1100" dirty="0"/>
          </a:p>
        </p:txBody>
      </p:sp>
      <p:sp>
        <p:nvSpPr>
          <p:cNvPr id="9" name="Text 7"/>
          <p:cNvSpPr/>
          <p:nvPr/>
        </p:nvSpPr>
        <p:spPr>
          <a:xfrm>
            <a:off x="548640" y="3977640"/>
            <a:ext cx="5349240" cy="548640"/>
          </a:xfrm>
          <a:prstGeom prst="rect">
            <a:avLst/>
          </a:prstGeom>
          <a:noFill/>
          <a:ln>
            <a:noFill/>
          </a:ln>
        </p:spPr>
        <p:txBody>
          <a:bodyPr wrap="square" lIns="0" tIns="0" rIns="0" bIns="0" rtlCol="0" anchor="t"/>
          <a:lstStyle/>
          <a:p>
            <a:pPr indent="0" marL="0">
              <a:buNone/>
            </a:pPr>
            <a:r>
              <a:rPr lang="en-US" sz="1400" dirty="0">
                <a:solidFill>
                  <a:srgbClr val="131313"/>
                </a:solidFill>
                <a:latin typeface="Avenir Next" pitchFamily="34" charset="0"/>
                <a:ea typeface="Avenir Next" pitchFamily="34" charset="-122"/>
                <a:cs typeface="Avenir Next" pitchFamily="34" charset="-120"/>
              </a:rPr>
              <a:t>train · work · coach · performance · recovery · community · serious · accountable</a:t>
            </a:r>
            <a:endParaRPr lang="en-US" sz="1400" dirty="0"/>
          </a:p>
        </p:txBody>
      </p:sp>
      <p:sp>
        <p:nvSpPr>
          <p:cNvPr id="10" name="Text 8"/>
          <p:cNvSpPr/>
          <p:nvPr/>
        </p:nvSpPr>
        <p:spPr>
          <a:xfrm>
            <a:off x="6263640" y="3657600"/>
            <a:ext cx="5349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WORDS ARCH DOESN'T</a:t>
            </a:r>
            <a:endParaRPr lang="en-US" sz="1100" dirty="0"/>
          </a:p>
        </p:txBody>
      </p:sp>
      <p:sp>
        <p:nvSpPr>
          <p:cNvPr id="11" name="Text 9"/>
          <p:cNvSpPr/>
          <p:nvPr/>
        </p:nvSpPr>
        <p:spPr>
          <a:xfrm>
            <a:off x="6263640" y="3977640"/>
            <a:ext cx="5349240" cy="548640"/>
          </a:xfrm>
          <a:prstGeom prst="rect">
            <a:avLst/>
          </a:prstGeom>
          <a:noFill/>
          <a:ln>
            <a:noFill/>
          </a:ln>
        </p:spPr>
        <p:txBody>
          <a:bodyPr wrap="square" lIns="0" tIns="0" rIns="0" bIns="0" rtlCol="0" anchor="t"/>
          <a:lstStyle/>
          <a:p>
            <a:pPr indent="0" marL="0">
              <a:buNone/>
            </a:pPr>
            <a:r>
              <a:rPr lang="en-US" sz="1400" dirty="0">
                <a:solidFill>
                  <a:srgbClr val="131313"/>
                </a:solidFill>
                <a:latin typeface="Avenir Next" pitchFamily="34" charset="0"/>
                <a:ea typeface="Avenir Next" pitchFamily="34" charset="-122"/>
                <a:cs typeface="Avenir Next" pitchFamily="34" charset="-120"/>
              </a:rPr>
              <a:t>workout buddy · sweat sesh · fit fam · journey · no judgment · transform</a:t>
            </a:r>
            <a:endParaRPr lang="en-US" sz="1400" dirty="0"/>
          </a:p>
        </p:txBody>
      </p:sp>
      <p:sp>
        <p:nvSpPr>
          <p:cNvPr id="12" name="Shape 10"/>
          <p:cNvSpPr/>
          <p:nvPr/>
        </p:nvSpPr>
        <p:spPr>
          <a:xfrm>
            <a:off x="548640" y="4937760"/>
            <a:ext cx="11064240" cy="1280160"/>
          </a:xfrm>
          <a:prstGeom prst="rect">
            <a:avLst/>
          </a:prstGeom>
          <a:solidFill>
            <a:srgbClr val="131313"/>
          </a:solidFill>
          <a:ln>
            <a:noFill/>
          </a:ln>
        </p:spPr>
        <p:txBody>
          <a:bodyPr/>
          <a:p/>
        </p:txBody>
      </p:sp>
      <p:sp>
        <p:nvSpPr>
          <p:cNvPr id="13" name="Text 11"/>
          <p:cNvSpPr/>
          <p:nvPr/>
        </p:nvSpPr>
        <p:spPr>
          <a:xfrm>
            <a:off x="914400" y="5074920"/>
            <a:ext cx="100584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ADD A QUALIFICATION STEP TO THE FUNNEL</a:t>
            </a:r>
            <a:endParaRPr lang="en-US" sz="1100" dirty="0"/>
          </a:p>
        </p:txBody>
      </p:sp>
      <p:sp>
        <p:nvSpPr>
          <p:cNvPr id="14" name="Text 12"/>
          <p:cNvSpPr/>
          <p:nvPr/>
        </p:nvSpPr>
        <p:spPr>
          <a:xfrm>
            <a:off x="914400" y="5376672"/>
            <a:ext cx="10332720" cy="411480"/>
          </a:xfrm>
          <a:prstGeom prst="rect">
            <a:avLst/>
          </a:prstGeom>
          <a:noFill/>
          <a:ln>
            <a:noFill/>
          </a:ln>
        </p:spPr>
        <p:txBody>
          <a:bodyPr wrap="square" lIns="0" tIns="0" rIns="0" bIns="0" rtlCol="0" anchor="t"/>
          <a:lstStyle/>
          <a:p>
            <a:pPr indent="0" marL="0">
              <a:buNone/>
            </a:pPr>
            <a:r>
              <a:rPr lang="en-US" sz="1400" b="1" dirty="0">
                <a:solidFill>
                  <a:srgbClr val="FFFFFF"/>
                </a:solidFill>
                <a:latin typeface="Avenir Next" pitchFamily="34" charset="0"/>
                <a:ea typeface="Avenir Next" pitchFamily="34" charset="-122"/>
                <a:cs typeface="Avenir Next" pitchFamily="34" charset="-120"/>
              </a:rPr>
              <a:t>Three questions in the lead form (or CAASI conversation):  What's your goal?  What's your current routine?  What's your budget?</a:t>
            </a:r>
            <a:endParaRPr lang="en-US" sz="1400" dirty="0"/>
          </a:p>
        </p:txBody>
      </p:sp>
      <p:sp>
        <p:nvSpPr>
          <p:cNvPr id="15" name="Text 13"/>
          <p:cNvSpPr/>
          <p:nvPr/>
        </p:nvSpPr>
        <p:spPr>
          <a:xfrm>
            <a:off x="914400" y="5779008"/>
            <a:ext cx="10332720" cy="365760"/>
          </a:xfrm>
          <a:prstGeom prst="rect">
            <a:avLst/>
          </a:prstGeom>
          <a:noFill/>
          <a:ln>
            <a:noFill/>
          </a:ln>
        </p:spPr>
        <p:txBody>
          <a:bodyPr wrap="square" lIns="0" tIns="0" rIns="0" bIns="0" rtlCol="0" anchor="ctr"/>
          <a:lstStyle/>
          <a:p>
            <a:pPr indent="0" marL="0">
              <a:buNone/>
            </a:pPr>
            <a:r>
              <a:rPr lang="en-US" sz="1200" i="1" dirty="0">
                <a:solidFill>
                  <a:srgbClr val="D1D5DB"/>
                </a:solidFill>
                <a:latin typeface="Avenir Next" pitchFamily="34" charset="0"/>
                <a:ea typeface="Avenir Next" pitchFamily="34" charset="-122"/>
                <a:cs typeface="Avenir Next" pitchFamily="34" charset="-120"/>
              </a:rPr>
              <a:t>Not a hard gate — a filter. Price-shoppers self-select out. Good-fit leads get prioritized.</a:t>
            </a:r>
            <a:endParaRPr lang="en-US" sz="1200" dirty="0"/>
          </a:p>
        </p:txBody>
      </p:sp>
      <p:sp>
        <p:nvSpPr>
          <p:cNvPr id="16" name="Text 14"/>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12 / 22</a:t>
            </a:r>
            <a:endParaRPr lang="en-US" sz="900" dirty="0"/>
          </a:p>
        </p:txBody>
      </p:sp>
      <p:pic>
        <p:nvPicPr>
          <p:cNvPr id="17" name="Picture 16"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2  ·  THE ENGINE</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Content Pyramid: 1 pillar → 15 pieces</a:t>
            </a:r>
            <a:endParaRPr lang="en-US" sz="2800" dirty="0"/>
          </a:p>
        </p:txBody>
      </p:sp>
      <p:sp>
        <p:nvSpPr>
          <p:cNvPr id="4" name="Shape 2"/>
          <p:cNvSpPr/>
          <p:nvPr/>
        </p:nvSpPr>
        <p:spPr>
          <a:xfrm>
            <a:off x="4572000" y="1828800"/>
            <a:ext cx="3017520" cy="640080"/>
          </a:xfrm>
          <a:prstGeom prst="rect">
            <a:avLst/>
          </a:prstGeom>
          <a:solidFill>
            <a:srgbClr val="131313"/>
          </a:solidFill>
          <a:ln>
            <a:noFill/>
          </a:ln>
        </p:spPr>
        <p:txBody>
          <a:bodyPr/>
          <a:p/>
        </p:txBody>
      </p:sp>
      <p:sp>
        <p:nvSpPr>
          <p:cNvPr id="5" name="Text 3"/>
          <p:cNvSpPr/>
          <p:nvPr/>
        </p:nvSpPr>
        <p:spPr>
          <a:xfrm>
            <a:off x="4572000" y="1828800"/>
            <a:ext cx="3017520" cy="320040"/>
          </a:xfrm>
          <a:prstGeom prst="rect">
            <a:avLst/>
          </a:prstGeom>
          <a:noFill/>
          <a:ln>
            <a:noFill/>
          </a:ln>
        </p:spPr>
        <p:txBody>
          <a:bodyPr wrap="square" lIns="0" tIns="0" rIns="0" bIns="0" rtlCol="0" anchor="ctr"/>
          <a:lstStyle/>
          <a:p>
            <a:pPr algn="ctr" indent="0" marL="0">
              <a:buNone/>
            </a:pPr>
            <a:r>
              <a:rPr lang="en-US" sz="1100" b="1" spc="300" kern="0" dirty="0">
                <a:solidFill>
                  <a:srgbClr val="A21E22"/>
                </a:solidFill>
                <a:latin typeface="Avenir Next Heavy" pitchFamily="34" charset="0"/>
                <a:ea typeface="Avenir Next Heavy" pitchFamily="34" charset="-122"/>
                <a:cs typeface="Avenir Next Heavy" pitchFamily="34" charset="-120"/>
              </a:rPr>
              <a:t>1 PILLAR / WEEK</a:t>
            </a:r>
            <a:endParaRPr lang="en-US" sz="1100" dirty="0"/>
          </a:p>
        </p:txBody>
      </p:sp>
      <p:sp>
        <p:nvSpPr>
          <p:cNvPr id="6" name="Text 4"/>
          <p:cNvSpPr/>
          <p:nvPr/>
        </p:nvSpPr>
        <p:spPr>
          <a:xfrm>
            <a:off x="4572000" y="2121408"/>
            <a:ext cx="3017520" cy="320040"/>
          </a:xfrm>
          <a:prstGeom prst="rect">
            <a:avLst/>
          </a:prstGeom>
          <a:noFill/>
          <a:ln>
            <a:noFill/>
          </a:ln>
        </p:spPr>
        <p:txBody>
          <a:bodyPr wrap="square" lIns="0" tIns="0" rIns="0" bIns="0" rtlCol="0" anchor="ctr"/>
          <a:lstStyle/>
          <a:p>
            <a:pPr algn="ctr" indent="0" marL="0">
              <a:buNone/>
            </a:pPr>
            <a:r>
              <a:rPr lang="en-US" sz="1100" i="1" dirty="0">
                <a:solidFill>
                  <a:srgbClr val="FFFFFF"/>
                </a:solidFill>
                <a:latin typeface="Avenir Next" pitchFamily="34" charset="0"/>
                <a:ea typeface="Avenir Next" pitchFamily="34" charset="-122"/>
                <a:cs typeface="Avenir Next" pitchFamily="34" charset="-120"/>
              </a:rPr>
              <a:t>Dom + Jordan, 30–45 min recorded conversation</a:t>
            </a:r>
            <a:endParaRPr lang="en-US" sz="1100" dirty="0"/>
          </a:p>
        </p:txBody>
      </p:sp>
      <p:sp>
        <p:nvSpPr>
          <p:cNvPr id="7" name="Shape 5"/>
          <p:cNvSpPr/>
          <p:nvPr/>
        </p:nvSpPr>
        <p:spPr>
          <a:xfrm>
            <a:off x="3657600" y="2651760"/>
            <a:ext cx="4846320" cy="548640"/>
          </a:xfrm>
          <a:prstGeom prst="rect">
            <a:avLst/>
          </a:prstGeom>
          <a:solidFill>
            <a:srgbClr val="A21E22"/>
          </a:solidFill>
          <a:ln>
            <a:noFill/>
          </a:ln>
        </p:spPr>
        <p:txBody>
          <a:bodyPr/>
          <a:p/>
        </p:txBody>
      </p:sp>
      <p:sp>
        <p:nvSpPr>
          <p:cNvPr id="8" name="Text 6"/>
          <p:cNvSpPr/>
          <p:nvPr/>
        </p:nvSpPr>
        <p:spPr>
          <a:xfrm>
            <a:off x="3657600" y="2651760"/>
            <a:ext cx="4846320" cy="548640"/>
          </a:xfrm>
          <a:prstGeom prst="rect">
            <a:avLst/>
          </a:prstGeom>
          <a:noFill/>
          <a:ln>
            <a:noFill/>
          </a:ln>
        </p:spPr>
        <p:txBody>
          <a:bodyPr wrap="square" lIns="0" tIns="0" rIns="0" bIns="0" rtlCol="0" anchor="ctr"/>
          <a:lstStyle/>
          <a:p>
            <a:pPr algn="ctr" indent="0" marL="0">
              <a:buNone/>
            </a:pPr>
            <a:r>
              <a:rPr lang="en-US" sz="1200" b="1" dirty="0">
                <a:solidFill>
                  <a:srgbClr val="FFFFFF"/>
                </a:solidFill>
                <a:latin typeface="Avenir Next" pitchFamily="34" charset="0"/>
                <a:ea typeface="Avenir Next" pitchFamily="34" charset="-122"/>
                <a:cs typeface="Avenir Next" pitchFamily="34" charset="-120"/>
              </a:rPr>
              <a:t>YouTube long-form  ·  Podcast (Spotify/Apple)  ·  Blog post (SEO + LLM food)</a:t>
            </a:r>
            <a:endParaRPr lang="en-US" sz="1200" dirty="0"/>
          </a:p>
        </p:txBody>
      </p:sp>
      <p:sp>
        <p:nvSpPr>
          <p:cNvPr id="9" name="Shape 7"/>
          <p:cNvSpPr/>
          <p:nvPr/>
        </p:nvSpPr>
        <p:spPr>
          <a:xfrm>
            <a:off x="2743200" y="3291840"/>
            <a:ext cx="6675120" cy="548640"/>
          </a:xfrm>
          <a:prstGeom prst="rect">
            <a:avLst/>
          </a:prstGeom>
          <a:solidFill>
            <a:srgbClr val="C2484B"/>
          </a:solidFill>
          <a:ln>
            <a:noFill/>
          </a:ln>
        </p:spPr>
        <p:txBody>
          <a:bodyPr/>
          <a:p/>
        </p:txBody>
      </p:sp>
      <p:sp>
        <p:nvSpPr>
          <p:cNvPr id="10" name="Text 8"/>
          <p:cNvSpPr/>
          <p:nvPr/>
        </p:nvSpPr>
        <p:spPr>
          <a:xfrm>
            <a:off x="2743200" y="3291840"/>
            <a:ext cx="6675120" cy="548640"/>
          </a:xfrm>
          <a:prstGeom prst="rect">
            <a:avLst/>
          </a:prstGeom>
          <a:noFill/>
          <a:ln>
            <a:noFill/>
          </a:ln>
        </p:spPr>
        <p:txBody>
          <a:bodyPr wrap="square" lIns="0" tIns="0" rIns="0" bIns="0" rtlCol="0" anchor="ctr"/>
          <a:lstStyle/>
          <a:p>
            <a:pPr algn="ctr" indent="0" marL="0">
              <a:buNone/>
            </a:pPr>
            <a:r>
              <a:rPr lang="en-US" sz="1200" b="1" dirty="0">
                <a:solidFill>
                  <a:srgbClr val="FFFFFF"/>
                </a:solidFill>
                <a:latin typeface="Avenir Next" pitchFamily="34" charset="0"/>
                <a:ea typeface="Avenir Next" pitchFamily="34" charset="-122"/>
                <a:cs typeface="Avenir Next" pitchFamily="34" charset="-120"/>
              </a:rPr>
              <a:t>5–8 Reels / TikTok / Shorts  ·  1–2 IG carousels  ·  1 X thread</a:t>
            </a:r>
            <a:endParaRPr lang="en-US" sz="1200" dirty="0"/>
          </a:p>
        </p:txBody>
      </p:sp>
      <p:sp>
        <p:nvSpPr>
          <p:cNvPr id="11" name="Shape 9"/>
          <p:cNvSpPr/>
          <p:nvPr/>
        </p:nvSpPr>
        <p:spPr>
          <a:xfrm>
            <a:off x="1828800" y="3931920"/>
            <a:ext cx="8503920" cy="548640"/>
          </a:xfrm>
          <a:prstGeom prst="rect">
            <a:avLst/>
          </a:prstGeom>
          <a:solidFill>
            <a:srgbClr val="E8C9CA"/>
          </a:solidFill>
          <a:ln>
            <a:noFill/>
          </a:ln>
        </p:spPr>
        <p:txBody>
          <a:bodyPr/>
          <a:p/>
        </p:txBody>
      </p:sp>
      <p:sp>
        <p:nvSpPr>
          <p:cNvPr id="12" name="Text 10"/>
          <p:cNvSpPr/>
          <p:nvPr/>
        </p:nvSpPr>
        <p:spPr>
          <a:xfrm>
            <a:off x="1828800" y="3931920"/>
            <a:ext cx="8503920" cy="548640"/>
          </a:xfrm>
          <a:prstGeom prst="rect">
            <a:avLst/>
          </a:prstGeom>
          <a:noFill/>
          <a:ln>
            <a:noFill/>
          </a:ln>
        </p:spPr>
        <p:txBody>
          <a:bodyPr wrap="square" lIns="0" tIns="0" rIns="0" bIns="0" rtlCol="0" anchor="ctr"/>
          <a:lstStyle/>
          <a:p>
            <a:pPr algn="ctr" indent="0" marL="0">
              <a:buNone/>
            </a:pPr>
            <a:r>
              <a:rPr lang="en-US" sz="1200" b="1" dirty="0">
                <a:solidFill>
                  <a:srgbClr val="131313"/>
                </a:solidFill>
                <a:latin typeface="Avenir Next" pitchFamily="34" charset="0"/>
                <a:ea typeface="Avenir Next" pitchFamily="34" charset="-122"/>
                <a:cs typeface="Avenir Next" pitchFamily="34" charset="-120"/>
              </a:rPr>
              <a:t>Email to member list  ·  Stories  ·  Monthly lead magnet (gated PDF)</a:t>
            </a:r>
            <a:endParaRPr lang="en-US" sz="1200" dirty="0"/>
          </a:p>
        </p:txBody>
      </p:sp>
      <p:sp>
        <p:nvSpPr>
          <p:cNvPr id="13" name="Text 11"/>
          <p:cNvSpPr/>
          <p:nvPr/>
        </p:nvSpPr>
        <p:spPr>
          <a:xfrm>
            <a:off x="548640" y="512064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WHY THIS WORKS FOR ARCH</a:t>
            </a:r>
            <a:endParaRPr lang="en-US" sz="1100" dirty="0"/>
          </a:p>
        </p:txBody>
      </p:sp>
      <p:sp>
        <p:nvSpPr>
          <p:cNvPr id="14" name="Text 12"/>
          <p:cNvSpPr/>
          <p:nvPr/>
        </p:nvSpPr>
        <p:spPr>
          <a:xfrm>
            <a:off x="548640" y="5440680"/>
            <a:ext cx="11064240" cy="10058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pitchFamily="34" charset="0"/>
                <a:ea typeface="Avenir Next" pitchFamily="34" charset="-122"/>
                <a:cs typeface="Avenir Next" pitchFamily="34" charset="-120"/>
              </a:rPr>
              <a:t>Nobody owns NJ HYROX thought leadership.</a:t>
            </a:r>
            <a:endParaRPr lang="en-US" sz="1300" dirty="0"/>
          </a:p>
          <a:p>
            <a:pPr indent="0" marL="0">
              <a:buNone/>
            </a:pPr>
            <a:r>
              <a:rPr lang="en-US" sz="1300" dirty="0">
                <a:solidFill>
                  <a:srgbClr val="6B7280"/>
                </a:solidFill>
                <a:latin typeface="Avenir Next" pitchFamily="34" charset="0"/>
                <a:ea typeface="Avenir Next" pitchFamily="34" charset="-122"/>
                <a:cs typeface="Avenir Next" pitchFamily="34" charset="-120"/>
              </a:rPr>
              <a:t>Jordan's an Army veteran; Dom went from member to running the gym while Jordan served. 16 years of operating knowledge and a founder story nobody else has, that's the moat. The blog post is the asset AI engines cite when someone asks “best HYROX gym in NJ.”</a:t>
            </a:r>
            <a:endParaRPr lang="en-US" sz="1300" dirty="0"/>
          </a:p>
        </p:txBody>
      </p:sp>
      <p:sp>
        <p:nvSpPr>
          <p:cNvPr id="15" name="Text 13"/>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13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2  ·  HOW WE DECIDE WHAT TO MAKE</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Research, not guess</a:t>
            </a:r>
            <a:endParaRPr lang="en-US" sz="2800" dirty="0"/>
          </a:p>
        </p:txBody>
      </p:sp>
      <p:sp>
        <p:nvSpPr>
          <p:cNvPr id="4" name="Text 2"/>
          <p:cNvSpPr/>
          <p:nvPr/>
        </p:nvSpPr>
        <p:spPr>
          <a:xfrm>
            <a:off x="548640" y="1828800"/>
            <a:ext cx="54864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TRAP</a:t>
            </a:r>
            <a:endParaRPr lang="en-US" sz="1100" dirty="0"/>
          </a:p>
        </p:txBody>
      </p:sp>
      <p:sp>
        <p:nvSpPr>
          <p:cNvPr id="5" name="Text 3"/>
          <p:cNvSpPr/>
          <p:nvPr/>
        </p:nvSpPr>
        <p:spPr>
          <a:xfrm>
            <a:off x="548640" y="2148840"/>
            <a:ext cx="5486400" cy="1005840"/>
          </a:xfrm>
          <a:prstGeom prst="rect">
            <a:avLst/>
          </a:prstGeom>
          <a:noFill/>
          <a:ln>
            <a:noFill/>
          </a:ln>
        </p:spPr>
        <p:txBody>
          <a:bodyPr wrap="square" lIns="0" tIns="0" rIns="0" bIns="0" rtlCol="0" anchor="t"/>
          <a:lstStyle/>
          <a:p>
            <a:pPr indent="0" marL="0">
              <a:buNone/>
            </a:pPr>
            <a:r>
              <a:rPr lang="en-US" sz="2000" b="1" i="1" dirty="0">
                <a:solidFill>
                  <a:srgbClr val="131313"/>
                </a:solidFill>
                <a:latin typeface="Avenir Next Heavy" pitchFamily="34" charset="0"/>
                <a:ea typeface="Avenir Next Heavy" pitchFamily="34" charset="-122"/>
                <a:cs typeface="Avenir Next Heavy" pitchFamily="34" charset="-120"/>
              </a:rPr>
              <a:t>“What should we talk about this week?”</a:t>
            </a:r>
            <a:endParaRPr lang="en-US" sz="2000" dirty="0"/>
          </a:p>
        </p:txBody>
      </p:sp>
      <p:sp>
        <p:nvSpPr>
          <p:cNvPr id="6" name="Text 4"/>
          <p:cNvSpPr/>
          <p:nvPr/>
        </p:nvSpPr>
        <p:spPr>
          <a:xfrm>
            <a:off x="548640" y="3154680"/>
            <a:ext cx="5486400" cy="731520"/>
          </a:xfrm>
          <a:prstGeom prst="rect">
            <a:avLst/>
          </a:prstGeom>
          <a:noFill/>
          <a:ln>
            <a:noFill/>
          </a:ln>
        </p:spPr>
        <p:txBody>
          <a:bodyPr wrap="square" lIns="0" tIns="0" rIns="0" bIns="0" rtlCol="0" anchor="t"/>
          <a:lstStyle/>
          <a:p>
            <a:pPr indent="0" marL="0">
              <a:buNone/>
            </a:pPr>
            <a:r>
              <a:rPr lang="en-US" sz="1300" dirty="0">
                <a:solidFill>
                  <a:srgbClr val="6B7280"/>
                </a:solidFill>
                <a:latin typeface="Avenir Next" pitchFamily="34" charset="0"/>
                <a:ea typeface="Avenir Next" pitchFamily="34" charset="-122"/>
                <a:cs typeface="Avenir Next" pitchFamily="34" charset="-120"/>
              </a:rPr>
              <a:t>Most gym content fails here — operators sit down to record without a plan, guess at topics, and the algorithm never picks it up.</a:t>
            </a:r>
            <a:endParaRPr lang="en-US" sz="1300" dirty="0"/>
          </a:p>
        </p:txBody>
      </p:sp>
      <p:sp>
        <p:nvSpPr>
          <p:cNvPr id="7" name="Shape 5"/>
          <p:cNvSpPr/>
          <p:nvPr/>
        </p:nvSpPr>
        <p:spPr>
          <a:xfrm>
            <a:off x="548640" y="3749040"/>
            <a:ext cx="5486400" cy="2377440"/>
          </a:xfrm>
          <a:prstGeom prst="rect">
            <a:avLst/>
          </a:prstGeom>
          <a:solidFill>
            <a:srgbClr val="131313"/>
          </a:solidFill>
          <a:ln>
            <a:noFill/>
          </a:ln>
        </p:spPr>
        <p:txBody>
          <a:bodyPr/>
          <a:p/>
        </p:txBody>
      </p:sp>
      <p:sp>
        <p:nvSpPr>
          <p:cNvPr id="8" name="Text 6"/>
          <p:cNvSpPr/>
          <p:nvPr/>
        </p:nvSpPr>
        <p:spPr>
          <a:xfrm>
            <a:off x="822960" y="3931920"/>
            <a:ext cx="493776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METHOD</a:t>
            </a:r>
            <a:endParaRPr lang="en-US" sz="1100" dirty="0"/>
          </a:p>
        </p:txBody>
      </p:sp>
      <p:sp>
        <p:nvSpPr>
          <p:cNvPr id="9" name="Text 7"/>
          <p:cNvSpPr/>
          <p:nvPr/>
        </p:nvSpPr>
        <p:spPr>
          <a:xfrm>
            <a:off x="822960" y="4251960"/>
            <a:ext cx="4937760" cy="822960"/>
          </a:xfrm>
          <a:prstGeom prst="rect">
            <a:avLst/>
          </a:prstGeom>
          <a:noFill/>
          <a:ln>
            <a:noFill/>
          </a:ln>
        </p:spPr>
        <p:txBody>
          <a:bodyPr wrap="square" lIns="0" tIns="0" rIns="0" bIns="0" rtlCol="0" anchor="t"/>
          <a:lstStyle/>
          <a:p>
            <a:pPr indent="0" marL="0">
              <a:buNone/>
            </a:pPr>
            <a:r>
              <a:rPr lang="en-US" sz="1600" b="1" dirty="0">
                <a:solidFill>
                  <a:srgbClr val="FFFFFF"/>
                </a:solidFill>
                <a:latin typeface="Avenir Next Heavy" pitchFamily="34" charset="0"/>
                <a:ea typeface="Avenir Next Heavy" pitchFamily="34" charset="-122"/>
                <a:cs typeface="Avenir Next Heavy" pitchFamily="34" charset="-120"/>
              </a:rPr>
              <a:t>Dom and Jordan don't have to figure out what to talk about. We tell them.</a:t>
            </a:r>
            <a:endParaRPr lang="en-US" sz="1600" dirty="0"/>
          </a:p>
        </p:txBody>
      </p:sp>
      <p:sp>
        <p:nvSpPr>
          <p:cNvPr id="10" name="Text 8"/>
          <p:cNvSpPr/>
          <p:nvPr/>
        </p:nvSpPr>
        <p:spPr>
          <a:xfrm>
            <a:off x="822960" y="5120640"/>
            <a:ext cx="4937760" cy="914400"/>
          </a:xfrm>
          <a:prstGeom prst="rect">
            <a:avLst/>
          </a:prstGeom>
          <a:noFill/>
          <a:ln>
            <a:noFill/>
          </a:ln>
        </p:spPr>
        <p:txBody>
          <a:bodyPr wrap="square" lIns="0" tIns="0" rIns="0" bIns="0" rtlCol="0" anchor="t"/>
          <a:lstStyle/>
          <a:p>
            <a:pPr indent="0" marL="0">
              <a:buNone/>
            </a:pPr>
            <a:r>
              <a:rPr lang="en-US" sz="1300" i="1" dirty="0">
                <a:solidFill>
                  <a:srgbClr val="D1D5DB"/>
                </a:solidFill>
                <a:latin typeface="Avenir Next" pitchFamily="34" charset="0"/>
                <a:ea typeface="Avenir Next" pitchFamily="34" charset="-122"/>
                <a:cs typeface="Avenir Next" pitchFamily="34" charset="-120"/>
              </a:rPr>
              <a:t>Every week we hand them a brief: topic, hook, 3 talking points, why it works. They hit record. That's it.</a:t>
            </a:r>
            <a:endParaRPr lang="en-US" sz="1300" dirty="0"/>
          </a:p>
        </p:txBody>
      </p:sp>
      <p:sp>
        <p:nvSpPr>
          <p:cNvPr id="11" name="Text 9"/>
          <p:cNvSpPr/>
          <p:nvPr/>
        </p:nvSpPr>
        <p:spPr>
          <a:xfrm>
            <a:off x="6492240" y="1828800"/>
            <a:ext cx="521208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HOW THE BRIEF GETS BUILT</a:t>
            </a:r>
            <a:endParaRPr lang="en-US" sz="1100" dirty="0"/>
          </a:p>
        </p:txBody>
      </p:sp>
      <p:sp>
        <p:nvSpPr>
          <p:cNvPr id="12" name="Text 10"/>
          <p:cNvSpPr/>
          <p:nvPr/>
        </p:nvSpPr>
        <p:spPr>
          <a:xfrm>
            <a:off x="6492240" y="2194560"/>
            <a:ext cx="640080" cy="365760"/>
          </a:xfrm>
          <a:prstGeom prst="rect">
            <a:avLst/>
          </a:prstGeom>
          <a:noFill/>
          <a:ln>
            <a:noFill/>
          </a:ln>
        </p:spPr>
        <p:txBody>
          <a:bodyPr wrap="square" lIns="0" tIns="0" rIns="0" bIns="0" rtlCol="0" anchor="t"/>
          <a:lstStyle/>
          <a:p>
            <a:pPr indent="0" marL="0">
              <a:buNone/>
            </a:pPr>
            <a:r>
              <a:rPr lang="en-US" sz="1800" b="1" dirty="0">
                <a:solidFill>
                  <a:srgbClr val="A21E22"/>
                </a:solidFill>
                <a:latin typeface="Avenir Next Heavy" pitchFamily="34" charset="0"/>
                <a:ea typeface="Avenir Next Heavy" pitchFamily="34" charset="-122"/>
                <a:cs typeface="Avenir Next Heavy" pitchFamily="34" charset="-120"/>
              </a:rPr>
              <a:t>01</a:t>
            </a:r>
            <a:endParaRPr lang="en-US" sz="1800" dirty="0"/>
          </a:p>
        </p:txBody>
      </p:sp>
      <p:sp>
        <p:nvSpPr>
          <p:cNvPr id="13" name="Text 11"/>
          <p:cNvSpPr/>
          <p:nvPr/>
        </p:nvSpPr>
        <p:spPr>
          <a:xfrm>
            <a:off x="7132320" y="2194560"/>
            <a:ext cx="4572000" cy="32004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Monitor what's working</a:t>
            </a:r>
            <a:endParaRPr lang="en-US" sz="1400" dirty="0"/>
          </a:p>
        </p:txBody>
      </p:sp>
      <p:sp>
        <p:nvSpPr>
          <p:cNvPr id="14" name="Text 12"/>
          <p:cNvSpPr/>
          <p:nvPr/>
        </p:nvSpPr>
        <p:spPr>
          <a:xfrm>
            <a:off x="7132320" y="2487168"/>
            <a:ext cx="4572000" cy="5943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Track 10–15 HYROX, strength, and recovery accounts that already perform.</a:t>
            </a:r>
            <a:endParaRPr lang="en-US" sz="1100" dirty="0"/>
          </a:p>
        </p:txBody>
      </p:sp>
      <p:sp>
        <p:nvSpPr>
          <p:cNvPr id="15" name="Text 13"/>
          <p:cNvSpPr/>
          <p:nvPr/>
        </p:nvSpPr>
        <p:spPr>
          <a:xfrm>
            <a:off x="6492240" y="3108960"/>
            <a:ext cx="640080" cy="365760"/>
          </a:xfrm>
          <a:prstGeom prst="rect">
            <a:avLst/>
          </a:prstGeom>
          <a:noFill/>
          <a:ln>
            <a:noFill/>
          </a:ln>
        </p:spPr>
        <p:txBody>
          <a:bodyPr wrap="square" lIns="0" tIns="0" rIns="0" bIns="0" rtlCol="0" anchor="t"/>
          <a:lstStyle/>
          <a:p>
            <a:pPr indent="0" marL="0">
              <a:buNone/>
            </a:pPr>
            <a:r>
              <a:rPr lang="en-US" sz="1800" b="1" dirty="0">
                <a:solidFill>
                  <a:srgbClr val="A21E22"/>
                </a:solidFill>
                <a:latin typeface="Avenir Next Heavy" pitchFamily="34" charset="0"/>
                <a:ea typeface="Avenir Next Heavy" pitchFamily="34" charset="-122"/>
                <a:cs typeface="Avenir Next Heavy" pitchFamily="34" charset="-120"/>
              </a:rPr>
              <a:t>02</a:t>
            </a:r>
            <a:endParaRPr lang="en-US" sz="1800" dirty="0"/>
          </a:p>
        </p:txBody>
      </p:sp>
      <p:sp>
        <p:nvSpPr>
          <p:cNvPr id="16" name="Text 14"/>
          <p:cNvSpPr/>
          <p:nvPr/>
        </p:nvSpPr>
        <p:spPr>
          <a:xfrm>
            <a:off x="7132320" y="3108960"/>
            <a:ext cx="4572000" cy="32004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Find the outliers</a:t>
            </a:r>
            <a:endParaRPr lang="en-US" sz="1400" dirty="0"/>
          </a:p>
        </p:txBody>
      </p:sp>
      <p:sp>
        <p:nvSpPr>
          <p:cNvPr id="17" name="Text 15"/>
          <p:cNvSpPr/>
          <p:nvPr/>
        </p:nvSpPr>
        <p:spPr>
          <a:xfrm>
            <a:off x="7132320" y="3401568"/>
            <a:ext cx="4572000" cy="5943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Identify videos with 5–10× their account's average views — that's signal.</a:t>
            </a:r>
            <a:endParaRPr lang="en-US" sz="1100" dirty="0"/>
          </a:p>
        </p:txBody>
      </p:sp>
      <p:sp>
        <p:nvSpPr>
          <p:cNvPr id="18" name="Text 16"/>
          <p:cNvSpPr/>
          <p:nvPr/>
        </p:nvSpPr>
        <p:spPr>
          <a:xfrm>
            <a:off x="6492240" y="4023360"/>
            <a:ext cx="640080" cy="365760"/>
          </a:xfrm>
          <a:prstGeom prst="rect">
            <a:avLst/>
          </a:prstGeom>
          <a:noFill/>
          <a:ln>
            <a:noFill/>
          </a:ln>
        </p:spPr>
        <p:txBody>
          <a:bodyPr wrap="square" lIns="0" tIns="0" rIns="0" bIns="0" rtlCol="0" anchor="t"/>
          <a:lstStyle/>
          <a:p>
            <a:pPr indent="0" marL="0">
              <a:buNone/>
            </a:pPr>
            <a:r>
              <a:rPr lang="en-US" sz="1800" b="1" dirty="0">
                <a:solidFill>
                  <a:srgbClr val="A21E22"/>
                </a:solidFill>
                <a:latin typeface="Avenir Next Heavy" pitchFamily="34" charset="0"/>
                <a:ea typeface="Avenir Next Heavy" pitchFamily="34" charset="-122"/>
                <a:cs typeface="Avenir Next Heavy" pitchFamily="34" charset="-120"/>
              </a:rPr>
              <a:t>03</a:t>
            </a:r>
            <a:endParaRPr lang="en-US" sz="1800" dirty="0"/>
          </a:p>
        </p:txBody>
      </p:sp>
      <p:sp>
        <p:nvSpPr>
          <p:cNvPr id="19" name="Text 17"/>
          <p:cNvSpPr/>
          <p:nvPr/>
        </p:nvSpPr>
        <p:spPr>
          <a:xfrm>
            <a:off x="7132320" y="4023360"/>
            <a:ext cx="4572000" cy="32004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Borrow the structure, not the script</a:t>
            </a:r>
            <a:endParaRPr lang="en-US" sz="1400" dirty="0"/>
          </a:p>
        </p:txBody>
      </p:sp>
      <p:sp>
        <p:nvSpPr>
          <p:cNvPr id="20" name="Text 18"/>
          <p:cNvSpPr/>
          <p:nvPr/>
        </p:nvSpPr>
        <p:spPr>
          <a:xfrm>
            <a:off x="7132320" y="4315968"/>
            <a:ext cx="4572000" cy="5943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Same hook pattern, same topic angle, ARCH's voice, Dom &amp; Jordan's expertise.</a:t>
            </a:r>
            <a:endParaRPr lang="en-US" sz="1100" dirty="0"/>
          </a:p>
        </p:txBody>
      </p:sp>
      <p:sp>
        <p:nvSpPr>
          <p:cNvPr id="21" name="Text 19"/>
          <p:cNvSpPr/>
          <p:nvPr/>
        </p:nvSpPr>
        <p:spPr>
          <a:xfrm>
            <a:off x="6492240" y="4937760"/>
            <a:ext cx="640080" cy="365760"/>
          </a:xfrm>
          <a:prstGeom prst="rect">
            <a:avLst/>
          </a:prstGeom>
          <a:noFill/>
          <a:ln>
            <a:noFill/>
          </a:ln>
        </p:spPr>
        <p:txBody>
          <a:bodyPr wrap="square" lIns="0" tIns="0" rIns="0" bIns="0" rtlCol="0" anchor="t"/>
          <a:lstStyle/>
          <a:p>
            <a:pPr indent="0" marL="0">
              <a:buNone/>
            </a:pPr>
            <a:r>
              <a:rPr lang="en-US" sz="1800" b="1" dirty="0">
                <a:solidFill>
                  <a:srgbClr val="A21E22"/>
                </a:solidFill>
                <a:latin typeface="Avenir Next Heavy" pitchFamily="34" charset="0"/>
                <a:ea typeface="Avenir Next Heavy" pitchFamily="34" charset="-122"/>
                <a:cs typeface="Avenir Next Heavy" pitchFamily="34" charset="-120"/>
              </a:rPr>
              <a:t>04</a:t>
            </a:r>
            <a:endParaRPr lang="en-US" sz="1800" dirty="0"/>
          </a:p>
        </p:txBody>
      </p:sp>
      <p:sp>
        <p:nvSpPr>
          <p:cNvPr id="22" name="Text 20"/>
          <p:cNvSpPr/>
          <p:nvPr/>
        </p:nvSpPr>
        <p:spPr>
          <a:xfrm>
            <a:off x="7132320" y="4937760"/>
            <a:ext cx="4572000" cy="320040"/>
          </a:xfrm>
          <a:prstGeom prst="rect">
            <a:avLst/>
          </a:prstGeom>
          <a:noFill/>
          <a:ln>
            <a:noFill/>
          </a:ln>
        </p:spPr>
        <p:txBody>
          <a:bodyPr wrap="square" lIns="0" tIns="0" rIns="0" bIns="0" rtlCol="0" anchor="t"/>
          <a:lstStyle/>
          <a:p>
            <a:pPr indent="0" marL="0">
              <a:buNone/>
            </a:pPr>
            <a:r>
              <a:rPr lang="en-US" sz="1400" b="1" dirty="0">
                <a:solidFill>
                  <a:srgbClr val="131313"/>
                </a:solidFill>
                <a:latin typeface="Avenir Next Heavy" pitchFamily="34" charset="0"/>
                <a:ea typeface="Avenir Next Heavy" pitchFamily="34" charset="-122"/>
                <a:cs typeface="Avenir Next Heavy" pitchFamily="34" charset="-120"/>
              </a:rPr>
              <a:t>Test, measure, double down</a:t>
            </a:r>
            <a:endParaRPr lang="en-US" sz="1400" dirty="0"/>
          </a:p>
        </p:txBody>
      </p:sp>
      <p:sp>
        <p:nvSpPr>
          <p:cNvPr id="23" name="Text 21"/>
          <p:cNvSpPr/>
          <p:nvPr/>
        </p:nvSpPr>
        <p:spPr>
          <a:xfrm>
            <a:off x="7132320" y="5230368"/>
            <a:ext cx="4572000" cy="594360"/>
          </a:xfrm>
          <a:prstGeom prst="rect">
            <a:avLst/>
          </a:prstGeom>
          <a:noFill/>
          <a:ln>
            <a:noFill/>
          </a:ln>
        </p:spPr>
        <p:txBody>
          <a:bodyPr wrap="square" lIns="0" tIns="0" rIns="0" bIns="0" rtlCol="0" anchor="t"/>
          <a:lstStyle/>
          <a:p>
            <a:pPr indent="0" marL="0">
              <a:buNone/>
            </a:pPr>
            <a:r>
              <a:rPr lang="en-US" sz="1100" dirty="0">
                <a:solidFill>
                  <a:srgbClr val="6B7280"/>
                </a:solidFill>
                <a:latin typeface="Avenir Next" pitchFamily="34" charset="0"/>
                <a:ea typeface="Avenir Next" pitchFamily="34" charset="-122"/>
                <a:cs typeface="Avenir Next" pitchFamily="34" charset="-120"/>
              </a:rPr>
              <a:t>Track retention, CTR, save rate. The winners become repeatable formats.</a:t>
            </a:r>
            <a:endParaRPr lang="en-US" sz="1100" dirty="0"/>
          </a:p>
        </p:txBody>
      </p:sp>
      <p:sp>
        <p:nvSpPr>
          <p:cNvPr id="24" name="Text 22"/>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15 / 22</a:t>
            </a:r>
            <a:endParaRPr lang="en-US" sz="900" dirty="0"/>
          </a:p>
        </p:txBody>
      </p:sp>
      <p:pic>
        <p:nvPicPr>
          <p:cNvPr id="25" name="Picture 24"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THE ECONOMIC REASON</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Organic isn't just better — it makes ads cheaper</a:t>
            </a:r>
            <a:endParaRPr lang="en-US" sz="2800" dirty="0"/>
          </a:p>
        </p:txBody>
      </p:sp>
      <p:sp>
        <p:nvSpPr>
          <p:cNvPr id="4" name="Shape 2"/>
          <p:cNvSpPr/>
          <p:nvPr/>
        </p:nvSpPr>
        <p:spPr>
          <a:xfrm>
            <a:off x="548640" y="1783080"/>
            <a:ext cx="11064240" cy="1371600"/>
          </a:xfrm>
          <a:prstGeom prst="rect">
            <a:avLst/>
          </a:prstGeom>
          <a:solidFill>
            <a:srgbClr val="F6EAEA"/>
          </a:solidFill>
          <a:ln>
            <a:noFill/>
          </a:ln>
        </p:spPr>
        <p:txBody>
          <a:bodyPr/>
          <a:p/>
        </p:txBody>
      </p:sp>
      <p:sp>
        <p:nvSpPr>
          <p:cNvPr id="5" name="Shape 3"/>
          <p:cNvSpPr/>
          <p:nvPr/>
        </p:nvSpPr>
        <p:spPr>
          <a:xfrm>
            <a:off x="548640" y="1783080"/>
            <a:ext cx="109728" cy="1371600"/>
          </a:xfrm>
          <a:prstGeom prst="rect">
            <a:avLst/>
          </a:prstGeom>
          <a:solidFill>
            <a:srgbClr val="A21E22"/>
          </a:solidFill>
          <a:ln>
            <a:noFill/>
          </a:ln>
        </p:spPr>
        <p:txBody>
          <a:bodyPr/>
          <a:p/>
        </p:txBody>
      </p:sp>
      <p:sp>
        <p:nvSpPr>
          <p:cNvPr id="6" name="Text 4"/>
          <p:cNvSpPr/>
          <p:nvPr/>
        </p:nvSpPr>
        <p:spPr>
          <a:xfrm>
            <a:off x="914400" y="1920240"/>
            <a:ext cx="3200400" cy="1097280"/>
          </a:xfrm>
          <a:prstGeom prst="rect">
            <a:avLst/>
          </a:prstGeom>
          <a:noFill/>
          <a:ln>
            <a:noFill/>
          </a:ln>
        </p:spPr>
        <p:txBody>
          <a:bodyPr wrap="square" lIns="0" tIns="0" rIns="0" bIns="0" rtlCol="0" anchor="ctr"/>
          <a:lstStyle/>
          <a:p>
            <a:pPr indent="0" marL="0">
              <a:buNone/>
            </a:pPr>
            <a:r>
              <a:rPr lang="en-US" sz="5600" b="1" dirty="0">
                <a:solidFill>
                  <a:srgbClr val="A21E22"/>
                </a:solidFill>
                <a:latin typeface="Avenir Next Heavy" pitchFamily="34" charset="0"/>
                <a:ea typeface="Avenir Next Heavy" pitchFamily="34" charset="-122"/>
                <a:cs typeface="Avenir Next Heavy" pitchFamily="34" charset="-120"/>
              </a:rPr>
              <a:t>30–40%</a:t>
            </a:r>
            <a:endParaRPr lang="en-US" sz="5600" dirty="0"/>
          </a:p>
        </p:txBody>
      </p:sp>
      <p:sp>
        <p:nvSpPr>
          <p:cNvPr id="7" name="Text 5"/>
          <p:cNvSpPr/>
          <p:nvPr/>
        </p:nvSpPr>
        <p:spPr>
          <a:xfrm>
            <a:off x="4480560" y="1920240"/>
            <a:ext cx="6858000" cy="1097280"/>
          </a:xfrm>
          <a:prstGeom prst="rect">
            <a:avLst/>
          </a:prstGeom>
          <a:noFill/>
          <a:ln>
            <a:noFill/>
          </a:ln>
        </p:spPr>
        <p:txBody>
          <a:bodyPr wrap="square" lIns="0" tIns="0" rIns="0" bIns="0" rtlCol="0" anchor="ctr"/>
          <a:lstStyle/>
          <a:p>
            <a:pPr indent="0" marL="0">
              <a:buNone/>
            </a:pPr>
            <a:r>
              <a:rPr lang="en-US" sz="1400" dirty="0">
                <a:solidFill>
                  <a:srgbClr val="131313"/>
                </a:solidFill>
                <a:latin typeface="Avenir Next" pitchFamily="34" charset="0"/>
                <a:ea typeface="Avenir Next" pitchFamily="34" charset="-122"/>
                <a:cs typeface="Avenir Next" pitchFamily="34" charset="-120"/>
              </a:rPr>
              <a:t>Above-average quality ranking on Meta ads pays 30–40% less per impression than below-average.  Quality ranking is driven by engagement signals — exactly what organic content builds.</a:t>
            </a:r>
            <a:endParaRPr lang="en-US" sz="1400" dirty="0"/>
          </a:p>
        </p:txBody>
      </p:sp>
      <p:sp>
        <p:nvSpPr>
          <p:cNvPr id="8" name="Text 6"/>
          <p:cNvSpPr/>
          <p:nvPr/>
        </p:nvSpPr>
        <p:spPr>
          <a:xfrm>
            <a:off x="548640" y="342900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FLYWHEEL</a:t>
            </a:r>
            <a:endParaRPr lang="en-US" sz="1100" dirty="0"/>
          </a:p>
        </p:txBody>
      </p:sp>
      <p:sp>
        <p:nvSpPr>
          <p:cNvPr id="9" name="Shape 7"/>
          <p:cNvSpPr/>
          <p:nvPr/>
        </p:nvSpPr>
        <p:spPr>
          <a:xfrm>
            <a:off x="548640" y="3840480"/>
            <a:ext cx="2628900" cy="1371600"/>
          </a:xfrm>
          <a:prstGeom prst="rect">
            <a:avLst/>
          </a:prstGeom>
          <a:solidFill>
            <a:srgbClr val="F4F4F5"/>
          </a:solidFill>
          <a:ln>
            <a:noFill/>
          </a:ln>
        </p:spPr>
        <p:txBody>
          <a:bodyPr/>
          <a:p/>
        </p:txBody>
      </p:sp>
      <p:sp>
        <p:nvSpPr>
          <p:cNvPr id="10" name="Shape 8"/>
          <p:cNvSpPr/>
          <p:nvPr/>
        </p:nvSpPr>
        <p:spPr>
          <a:xfrm>
            <a:off x="731520" y="4023360"/>
            <a:ext cx="411480" cy="411480"/>
          </a:xfrm>
          <a:prstGeom prst="ellipse">
            <a:avLst/>
          </a:prstGeom>
          <a:solidFill>
            <a:srgbClr val="A21E22"/>
          </a:solidFill>
          <a:ln>
            <a:noFill/>
          </a:ln>
        </p:spPr>
        <p:txBody>
          <a:bodyPr/>
          <a:p/>
        </p:txBody>
      </p:sp>
      <p:sp>
        <p:nvSpPr>
          <p:cNvPr id="11" name="Text 9"/>
          <p:cNvSpPr/>
          <p:nvPr/>
        </p:nvSpPr>
        <p:spPr>
          <a:xfrm>
            <a:off x="731520" y="4023360"/>
            <a:ext cx="411480" cy="411480"/>
          </a:xfrm>
          <a:prstGeom prst="rect">
            <a:avLst/>
          </a:prstGeom>
          <a:noFill/>
          <a:ln>
            <a:noFill/>
          </a:ln>
        </p:spPr>
        <p:txBody>
          <a:bodyPr wrap="square" lIns="0" tIns="0" rIns="0" bIns="0" rtlCol="0" anchor="ctr"/>
          <a:lstStyle/>
          <a:p>
            <a:pPr algn="ctr" indent="0" marL="0">
              <a:buNone/>
            </a:pPr>
            <a:r>
              <a:rPr lang="en-US" sz="1400" b="1" dirty="0">
                <a:solidFill>
                  <a:srgbClr val="FFFFFF"/>
                </a:solidFill>
                <a:latin typeface="Avenir Next Heavy" pitchFamily="34" charset="0"/>
                <a:ea typeface="Avenir Next Heavy" pitchFamily="34" charset="-122"/>
                <a:cs typeface="Avenir Next Heavy" pitchFamily="34" charset="-120"/>
              </a:rPr>
              <a:t>1</a:t>
            </a:r>
            <a:endParaRPr lang="en-US" sz="1400" dirty="0"/>
          </a:p>
        </p:txBody>
      </p:sp>
      <p:sp>
        <p:nvSpPr>
          <p:cNvPr id="12" name="Text 10"/>
          <p:cNvSpPr/>
          <p:nvPr/>
        </p:nvSpPr>
        <p:spPr>
          <a:xfrm>
            <a:off x="731520" y="4526280"/>
            <a:ext cx="226314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Post organic</a:t>
            </a:r>
            <a:endParaRPr lang="en-US" sz="1300" dirty="0"/>
          </a:p>
        </p:txBody>
      </p:sp>
      <p:sp>
        <p:nvSpPr>
          <p:cNvPr id="13" name="Text 11"/>
          <p:cNvSpPr/>
          <p:nvPr/>
        </p:nvSpPr>
        <p:spPr>
          <a:xfrm>
            <a:off x="731520" y="4800600"/>
            <a:ext cx="2263140" cy="548640"/>
          </a:xfrm>
          <a:prstGeom prst="rect">
            <a:avLst/>
          </a:prstGeom>
          <a:noFill/>
          <a:ln>
            <a:noFill/>
          </a:ln>
        </p:spPr>
        <p:txBody>
          <a:bodyPr wrap="square" lIns="0" tIns="0" rIns="0" bIns="0" rtlCol="0" anchor="t"/>
          <a:lstStyle/>
          <a:p>
            <a:pPr indent="0" marL="0">
              <a:buNone/>
            </a:pPr>
            <a:r>
              <a:rPr lang="en-US" sz="1000" dirty="0">
                <a:solidFill>
                  <a:srgbClr val="6B7280"/>
                </a:solidFill>
                <a:latin typeface="Avenir Next" pitchFamily="34" charset="0"/>
                <a:ea typeface="Avenir Next" pitchFamily="34" charset="-122"/>
                <a:cs typeface="Avenir Next" pitchFamily="34" charset="-120"/>
              </a:rPr>
              <a:t>Pillars, Reels, carousels, expertise</a:t>
            </a:r>
            <a:endParaRPr lang="en-US" sz="1000" dirty="0"/>
          </a:p>
        </p:txBody>
      </p:sp>
      <p:sp>
        <p:nvSpPr>
          <p:cNvPr id="14" name="Shape 12"/>
          <p:cNvSpPr/>
          <p:nvPr/>
        </p:nvSpPr>
        <p:spPr>
          <a:xfrm>
            <a:off x="3195828" y="4526280"/>
            <a:ext cx="137160" cy="0"/>
          </a:xfrm>
          <a:prstGeom prst="line">
            <a:avLst/>
          </a:prstGeom>
          <a:noFill/>
          <a:ln w="19050">
            <a:solidFill>
              <a:srgbClr val="A21E22"/>
            </a:solidFill>
            <a:prstDash val="solid"/>
            <a:tailEnd type="triangle"/>
          </a:ln>
        </p:spPr>
        <p:txBody>
          <a:bodyPr/>
          <a:p/>
        </p:txBody>
      </p:sp>
      <p:sp>
        <p:nvSpPr>
          <p:cNvPr id="15" name="Shape 13"/>
          <p:cNvSpPr/>
          <p:nvPr/>
        </p:nvSpPr>
        <p:spPr>
          <a:xfrm>
            <a:off x="3360420" y="3840480"/>
            <a:ext cx="2628900" cy="1371600"/>
          </a:xfrm>
          <a:prstGeom prst="rect">
            <a:avLst/>
          </a:prstGeom>
          <a:solidFill>
            <a:srgbClr val="F4F4F5"/>
          </a:solidFill>
          <a:ln>
            <a:noFill/>
          </a:ln>
        </p:spPr>
        <p:txBody>
          <a:bodyPr/>
          <a:p/>
        </p:txBody>
      </p:sp>
      <p:sp>
        <p:nvSpPr>
          <p:cNvPr id="16" name="Shape 14"/>
          <p:cNvSpPr/>
          <p:nvPr/>
        </p:nvSpPr>
        <p:spPr>
          <a:xfrm>
            <a:off x="3543300" y="4023360"/>
            <a:ext cx="411480" cy="411480"/>
          </a:xfrm>
          <a:prstGeom prst="ellipse">
            <a:avLst/>
          </a:prstGeom>
          <a:solidFill>
            <a:srgbClr val="A21E22"/>
          </a:solidFill>
          <a:ln>
            <a:noFill/>
          </a:ln>
        </p:spPr>
        <p:txBody>
          <a:bodyPr/>
          <a:p/>
        </p:txBody>
      </p:sp>
      <p:sp>
        <p:nvSpPr>
          <p:cNvPr id="17" name="Text 15"/>
          <p:cNvSpPr/>
          <p:nvPr/>
        </p:nvSpPr>
        <p:spPr>
          <a:xfrm>
            <a:off x="3543300" y="4023360"/>
            <a:ext cx="411480" cy="411480"/>
          </a:xfrm>
          <a:prstGeom prst="rect">
            <a:avLst/>
          </a:prstGeom>
          <a:noFill/>
          <a:ln>
            <a:noFill/>
          </a:ln>
        </p:spPr>
        <p:txBody>
          <a:bodyPr wrap="square" lIns="0" tIns="0" rIns="0" bIns="0" rtlCol="0" anchor="ctr"/>
          <a:lstStyle/>
          <a:p>
            <a:pPr algn="ctr" indent="0" marL="0">
              <a:buNone/>
            </a:pPr>
            <a:r>
              <a:rPr lang="en-US" sz="1400" b="1" dirty="0">
                <a:solidFill>
                  <a:srgbClr val="FFFFFF"/>
                </a:solidFill>
                <a:latin typeface="Avenir Next Heavy" pitchFamily="34" charset="0"/>
                <a:ea typeface="Avenir Next Heavy" pitchFamily="34" charset="-122"/>
                <a:cs typeface="Avenir Next Heavy" pitchFamily="34" charset="-120"/>
              </a:rPr>
              <a:t>2</a:t>
            </a:r>
            <a:endParaRPr lang="en-US" sz="1400" dirty="0"/>
          </a:p>
        </p:txBody>
      </p:sp>
      <p:sp>
        <p:nvSpPr>
          <p:cNvPr id="18" name="Text 16"/>
          <p:cNvSpPr/>
          <p:nvPr/>
        </p:nvSpPr>
        <p:spPr>
          <a:xfrm>
            <a:off x="3543300" y="4526280"/>
            <a:ext cx="226314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Platform pushes you</a:t>
            </a:r>
            <a:endParaRPr lang="en-US" sz="1300" dirty="0"/>
          </a:p>
        </p:txBody>
      </p:sp>
      <p:sp>
        <p:nvSpPr>
          <p:cNvPr id="19" name="Text 17"/>
          <p:cNvSpPr/>
          <p:nvPr/>
        </p:nvSpPr>
        <p:spPr>
          <a:xfrm>
            <a:off x="3543300" y="4800600"/>
            <a:ext cx="2263140" cy="548640"/>
          </a:xfrm>
          <a:prstGeom prst="rect">
            <a:avLst/>
          </a:prstGeom>
          <a:noFill/>
          <a:ln>
            <a:noFill/>
          </a:ln>
        </p:spPr>
        <p:txBody>
          <a:bodyPr wrap="square" lIns="0" tIns="0" rIns="0" bIns="0" rtlCol="0" anchor="t"/>
          <a:lstStyle/>
          <a:p>
            <a:pPr indent="0" marL="0">
              <a:buNone/>
            </a:pPr>
            <a:r>
              <a:rPr lang="en-US" sz="1000" dirty="0">
                <a:solidFill>
                  <a:srgbClr val="6B7280"/>
                </a:solidFill>
                <a:latin typeface="Avenir Next" pitchFamily="34" charset="0"/>
                <a:ea typeface="Avenir Next" pitchFamily="34" charset="-122"/>
                <a:cs typeface="Avenir Next" pitchFamily="34" charset="-120"/>
              </a:rPr>
              <a:t>Algorithms reward creators who keep users on-platform</a:t>
            </a:r>
            <a:endParaRPr lang="en-US" sz="1000" dirty="0"/>
          </a:p>
        </p:txBody>
      </p:sp>
      <p:sp>
        <p:nvSpPr>
          <p:cNvPr id="20" name="Shape 18"/>
          <p:cNvSpPr/>
          <p:nvPr/>
        </p:nvSpPr>
        <p:spPr>
          <a:xfrm>
            <a:off x="6007608" y="4526280"/>
            <a:ext cx="137160" cy="0"/>
          </a:xfrm>
          <a:prstGeom prst="line">
            <a:avLst/>
          </a:prstGeom>
          <a:noFill/>
          <a:ln w="19050">
            <a:solidFill>
              <a:srgbClr val="A21E22"/>
            </a:solidFill>
            <a:prstDash val="solid"/>
            <a:tailEnd type="triangle"/>
          </a:ln>
        </p:spPr>
        <p:txBody>
          <a:bodyPr/>
          <a:p/>
        </p:txBody>
      </p:sp>
      <p:sp>
        <p:nvSpPr>
          <p:cNvPr id="21" name="Shape 19"/>
          <p:cNvSpPr/>
          <p:nvPr/>
        </p:nvSpPr>
        <p:spPr>
          <a:xfrm>
            <a:off x="6172200" y="3840480"/>
            <a:ext cx="2628900" cy="1371600"/>
          </a:xfrm>
          <a:prstGeom prst="rect">
            <a:avLst/>
          </a:prstGeom>
          <a:solidFill>
            <a:srgbClr val="F4F4F5"/>
          </a:solidFill>
          <a:ln>
            <a:noFill/>
          </a:ln>
        </p:spPr>
        <p:txBody>
          <a:bodyPr/>
          <a:p/>
        </p:txBody>
      </p:sp>
      <p:sp>
        <p:nvSpPr>
          <p:cNvPr id="22" name="Shape 20"/>
          <p:cNvSpPr/>
          <p:nvPr/>
        </p:nvSpPr>
        <p:spPr>
          <a:xfrm>
            <a:off x="6355080" y="4023360"/>
            <a:ext cx="411480" cy="411480"/>
          </a:xfrm>
          <a:prstGeom prst="ellipse">
            <a:avLst/>
          </a:prstGeom>
          <a:solidFill>
            <a:srgbClr val="A21E22"/>
          </a:solidFill>
          <a:ln>
            <a:noFill/>
          </a:ln>
        </p:spPr>
        <p:txBody>
          <a:bodyPr/>
          <a:p/>
        </p:txBody>
      </p:sp>
      <p:sp>
        <p:nvSpPr>
          <p:cNvPr id="23" name="Text 21"/>
          <p:cNvSpPr/>
          <p:nvPr/>
        </p:nvSpPr>
        <p:spPr>
          <a:xfrm>
            <a:off x="6355080" y="4023360"/>
            <a:ext cx="411480" cy="411480"/>
          </a:xfrm>
          <a:prstGeom prst="rect">
            <a:avLst/>
          </a:prstGeom>
          <a:noFill/>
          <a:ln>
            <a:noFill/>
          </a:ln>
        </p:spPr>
        <p:txBody>
          <a:bodyPr wrap="square" lIns="0" tIns="0" rIns="0" bIns="0" rtlCol="0" anchor="ctr"/>
          <a:lstStyle/>
          <a:p>
            <a:pPr algn="ctr" indent="0" marL="0">
              <a:buNone/>
            </a:pPr>
            <a:r>
              <a:rPr lang="en-US" sz="1400" b="1" dirty="0">
                <a:solidFill>
                  <a:srgbClr val="FFFFFF"/>
                </a:solidFill>
                <a:latin typeface="Avenir Next Heavy" pitchFamily="34" charset="0"/>
                <a:ea typeface="Avenir Next Heavy" pitchFamily="34" charset="-122"/>
                <a:cs typeface="Avenir Next Heavy" pitchFamily="34" charset="-120"/>
              </a:rPr>
              <a:t>3</a:t>
            </a:r>
            <a:endParaRPr lang="en-US" sz="1400" dirty="0"/>
          </a:p>
        </p:txBody>
      </p:sp>
      <p:sp>
        <p:nvSpPr>
          <p:cNvPr id="24" name="Text 22"/>
          <p:cNvSpPr/>
          <p:nvPr/>
        </p:nvSpPr>
        <p:spPr>
          <a:xfrm>
            <a:off x="6355080" y="4526280"/>
            <a:ext cx="226314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Audience + signal grow</a:t>
            </a:r>
            <a:endParaRPr lang="en-US" sz="1300" dirty="0"/>
          </a:p>
        </p:txBody>
      </p:sp>
      <p:sp>
        <p:nvSpPr>
          <p:cNvPr id="25" name="Text 23"/>
          <p:cNvSpPr/>
          <p:nvPr/>
        </p:nvSpPr>
        <p:spPr>
          <a:xfrm>
            <a:off x="6355080" y="4800600"/>
            <a:ext cx="2263140" cy="548640"/>
          </a:xfrm>
          <a:prstGeom prst="rect">
            <a:avLst/>
          </a:prstGeom>
          <a:noFill/>
          <a:ln>
            <a:noFill/>
          </a:ln>
        </p:spPr>
        <p:txBody>
          <a:bodyPr wrap="square" lIns="0" tIns="0" rIns="0" bIns="0" rtlCol="0" anchor="t"/>
          <a:lstStyle/>
          <a:p>
            <a:pPr indent="0" marL="0">
              <a:buNone/>
            </a:pPr>
            <a:r>
              <a:rPr lang="en-US" sz="1000" dirty="0">
                <a:solidFill>
                  <a:srgbClr val="6B7280"/>
                </a:solidFill>
                <a:latin typeface="Avenir Next" pitchFamily="34" charset="0"/>
                <a:ea typeface="Avenir Next" pitchFamily="34" charset="-122"/>
                <a:cs typeface="Avenir Next" pitchFamily="34" charset="-120"/>
              </a:rPr>
              <a:t>Engagement, saves, watch time — and you learn what works</a:t>
            </a:r>
            <a:endParaRPr lang="en-US" sz="1000" dirty="0"/>
          </a:p>
        </p:txBody>
      </p:sp>
      <p:sp>
        <p:nvSpPr>
          <p:cNvPr id="26" name="Shape 24"/>
          <p:cNvSpPr/>
          <p:nvPr/>
        </p:nvSpPr>
        <p:spPr>
          <a:xfrm>
            <a:off x="8819388" y="4526280"/>
            <a:ext cx="137160" cy="0"/>
          </a:xfrm>
          <a:prstGeom prst="line">
            <a:avLst/>
          </a:prstGeom>
          <a:noFill/>
          <a:ln w="19050">
            <a:solidFill>
              <a:srgbClr val="A21E22"/>
            </a:solidFill>
            <a:prstDash val="solid"/>
            <a:tailEnd type="triangle"/>
          </a:ln>
        </p:spPr>
        <p:txBody>
          <a:bodyPr/>
          <a:p/>
        </p:txBody>
      </p:sp>
      <p:sp>
        <p:nvSpPr>
          <p:cNvPr id="27" name="Shape 25"/>
          <p:cNvSpPr/>
          <p:nvPr/>
        </p:nvSpPr>
        <p:spPr>
          <a:xfrm>
            <a:off x="8983980" y="3840480"/>
            <a:ext cx="2628900" cy="1371600"/>
          </a:xfrm>
          <a:prstGeom prst="rect">
            <a:avLst/>
          </a:prstGeom>
          <a:solidFill>
            <a:srgbClr val="F4F4F5"/>
          </a:solidFill>
          <a:ln>
            <a:noFill/>
          </a:ln>
        </p:spPr>
        <p:txBody>
          <a:bodyPr/>
          <a:p/>
        </p:txBody>
      </p:sp>
      <p:sp>
        <p:nvSpPr>
          <p:cNvPr id="28" name="Shape 26"/>
          <p:cNvSpPr/>
          <p:nvPr/>
        </p:nvSpPr>
        <p:spPr>
          <a:xfrm>
            <a:off x="9166860" y="4023360"/>
            <a:ext cx="411480" cy="411480"/>
          </a:xfrm>
          <a:prstGeom prst="ellipse">
            <a:avLst/>
          </a:prstGeom>
          <a:solidFill>
            <a:srgbClr val="A21E22"/>
          </a:solidFill>
          <a:ln>
            <a:noFill/>
          </a:ln>
        </p:spPr>
        <p:txBody>
          <a:bodyPr/>
          <a:p/>
        </p:txBody>
      </p:sp>
      <p:sp>
        <p:nvSpPr>
          <p:cNvPr id="29" name="Text 27"/>
          <p:cNvSpPr/>
          <p:nvPr/>
        </p:nvSpPr>
        <p:spPr>
          <a:xfrm>
            <a:off x="9166860" y="4023360"/>
            <a:ext cx="411480" cy="411480"/>
          </a:xfrm>
          <a:prstGeom prst="rect">
            <a:avLst/>
          </a:prstGeom>
          <a:noFill/>
          <a:ln>
            <a:noFill/>
          </a:ln>
        </p:spPr>
        <p:txBody>
          <a:bodyPr wrap="square" lIns="0" tIns="0" rIns="0" bIns="0" rtlCol="0" anchor="ctr"/>
          <a:lstStyle/>
          <a:p>
            <a:pPr algn="ctr" indent="0" marL="0">
              <a:buNone/>
            </a:pPr>
            <a:r>
              <a:rPr lang="en-US" sz="1400" b="1" dirty="0">
                <a:solidFill>
                  <a:srgbClr val="FFFFFF"/>
                </a:solidFill>
                <a:latin typeface="Avenir Next Heavy" pitchFamily="34" charset="0"/>
                <a:ea typeface="Avenir Next Heavy" pitchFamily="34" charset="-122"/>
                <a:cs typeface="Avenir Next Heavy" pitchFamily="34" charset="-120"/>
              </a:rPr>
              <a:t>4</a:t>
            </a:r>
            <a:endParaRPr lang="en-US" sz="1400" dirty="0"/>
          </a:p>
        </p:txBody>
      </p:sp>
      <p:sp>
        <p:nvSpPr>
          <p:cNvPr id="30" name="Text 28"/>
          <p:cNvSpPr/>
          <p:nvPr/>
        </p:nvSpPr>
        <p:spPr>
          <a:xfrm>
            <a:off x="9166860" y="4526280"/>
            <a:ext cx="2263140" cy="320040"/>
          </a:xfrm>
          <a:prstGeom prst="rect">
            <a:avLst/>
          </a:prstGeom>
          <a:noFill/>
          <a:ln>
            <a:noFill/>
          </a:ln>
        </p:spPr>
        <p:txBody>
          <a:bodyPr wrap="square" lIns="0" tIns="0" rIns="0" bIns="0" rtlCol="0" anchor="t"/>
          <a:lstStyle/>
          <a:p>
            <a:pPr indent="0" marL="0">
              <a:buNone/>
            </a:pPr>
            <a:r>
              <a:rPr lang="en-US" sz="1300" b="1" dirty="0">
                <a:solidFill>
                  <a:srgbClr val="131313"/>
                </a:solidFill>
                <a:latin typeface="Avenir Next Heavy" pitchFamily="34" charset="0"/>
                <a:ea typeface="Avenir Next Heavy" pitchFamily="34" charset="-122"/>
                <a:cs typeface="Avenir Next Heavy" pitchFamily="34" charset="-120"/>
              </a:rPr>
              <a:t>Ads cost less</a:t>
            </a:r>
            <a:endParaRPr lang="en-US" sz="1300" dirty="0"/>
          </a:p>
        </p:txBody>
      </p:sp>
      <p:sp>
        <p:nvSpPr>
          <p:cNvPr id="31" name="Text 29"/>
          <p:cNvSpPr/>
          <p:nvPr/>
        </p:nvSpPr>
        <p:spPr>
          <a:xfrm>
            <a:off x="9166860" y="4800600"/>
            <a:ext cx="2263140" cy="548640"/>
          </a:xfrm>
          <a:prstGeom prst="rect">
            <a:avLst/>
          </a:prstGeom>
          <a:noFill/>
          <a:ln>
            <a:noFill/>
          </a:ln>
        </p:spPr>
        <p:txBody>
          <a:bodyPr wrap="square" lIns="0" tIns="0" rIns="0" bIns="0" rtlCol="0" anchor="t"/>
          <a:lstStyle/>
          <a:p>
            <a:pPr indent="0" marL="0">
              <a:buNone/>
            </a:pPr>
            <a:r>
              <a:rPr lang="en-US" sz="1000" dirty="0">
                <a:solidFill>
                  <a:srgbClr val="6B7280"/>
                </a:solidFill>
                <a:latin typeface="Avenir Next" pitchFamily="34" charset="0"/>
                <a:ea typeface="Avenir Next" pitchFamily="34" charset="-122"/>
                <a:cs typeface="Avenir Next" pitchFamily="34" charset="-120"/>
              </a:rPr>
              <a:t>Best organic posts → best ads → lower CPM, higher ROAS</a:t>
            </a:r>
            <a:endParaRPr lang="en-US" sz="1000" dirty="0"/>
          </a:p>
        </p:txBody>
      </p:sp>
      <p:sp>
        <p:nvSpPr>
          <p:cNvPr id="32" name="Text 30"/>
          <p:cNvSpPr/>
          <p:nvPr/>
        </p:nvSpPr>
        <p:spPr>
          <a:xfrm>
            <a:off x="548640" y="5577840"/>
            <a:ext cx="11064240" cy="457200"/>
          </a:xfrm>
          <a:prstGeom prst="rect">
            <a:avLst/>
          </a:prstGeom>
          <a:noFill/>
          <a:ln>
            <a:noFill/>
          </a:ln>
        </p:spPr>
        <p:txBody>
          <a:bodyPr wrap="square" lIns="0" tIns="0" rIns="0" bIns="0" rtlCol="0" anchor="ctr"/>
          <a:lstStyle/>
          <a:p>
            <a:pPr algn="ctr" indent="0" marL="0">
              <a:buNone/>
            </a:pPr>
            <a:r>
              <a:rPr lang="en-US" sz="1300" b="1" i="1" dirty="0">
                <a:solidFill>
                  <a:srgbClr val="131313"/>
                </a:solidFill>
                <a:latin typeface="Avenir Next" pitchFamily="34" charset="0"/>
                <a:ea typeface="Avenir Next" pitchFamily="34" charset="-122"/>
                <a:cs typeface="Avenir Next" pitchFamily="34" charset="-120"/>
              </a:rPr>
              <a:t>Running ads without organic = paying full retail. Organic-first is the discount code.</a:t>
            </a:r>
            <a:endParaRPr lang="en-US" sz="1300" dirty="0"/>
          </a:p>
        </p:txBody>
      </p:sp>
      <p:sp>
        <p:nvSpPr>
          <p:cNvPr id="33" name="Text 31"/>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16 / 22</a:t>
            </a:r>
            <a:endParaRPr lang="en-US" sz="900" dirty="0"/>
          </a:p>
        </p:txBody>
      </p:sp>
      <p:pic>
        <p:nvPicPr>
          <p:cNvPr id="34" name="Picture 33"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PHASE 3  ·  MONTH 3+</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Acceleration: only after the engine is running</a:t>
            </a:r>
            <a:endParaRPr lang="en-US" sz="2800" dirty="0"/>
          </a:p>
        </p:txBody>
      </p:sp>
      <p:sp>
        <p:nvSpPr>
          <p:cNvPr id="4" name="Shape 2"/>
          <p:cNvSpPr/>
          <p:nvPr/>
        </p:nvSpPr>
        <p:spPr>
          <a:xfrm>
            <a:off x="548640" y="1828800"/>
            <a:ext cx="5394960" cy="2011680"/>
          </a:xfrm>
          <a:prstGeom prst="rect">
            <a:avLst/>
          </a:prstGeom>
          <a:solidFill>
            <a:srgbClr val="F4F4F5"/>
          </a:solidFill>
          <a:ln>
            <a:noFill/>
          </a:ln>
        </p:spPr>
        <p:txBody>
          <a:bodyPr/>
          <a:p/>
        </p:txBody>
      </p:sp>
      <p:sp>
        <p:nvSpPr>
          <p:cNvPr id="5" name="Shape 3"/>
          <p:cNvSpPr/>
          <p:nvPr/>
        </p:nvSpPr>
        <p:spPr>
          <a:xfrm>
            <a:off x="548640" y="1828800"/>
            <a:ext cx="91440" cy="2011680"/>
          </a:xfrm>
          <a:prstGeom prst="rect">
            <a:avLst/>
          </a:prstGeom>
          <a:solidFill>
            <a:srgbClr val="A21E22"/>
          </a:solidFill>
          <a:ln>
            <a:noFill/>
          </a:ln>
        </p:spPr>
        <p:txBody>
          <a:bodyPr/>
          <a:p/>
        </p:txBody>
      </p:sp>
      <p:sp>
        <p:nvSpPr>
          <p:cNvPr id="6" name="Text 4"/>
          <p:cNvSpPr/>
          <p:nvPr/>
        </p:nvSpPr>
        <p:spPr>
          <a:xfrm>
            <a:off x="868680" y="2057400"/>
            <a:ext cx="4937760" cy="365760"/>
          </a:xfrm>
          <a:prstGeom prst="rect">
            <a:avLst/>
          </a:prstGeom>
          <a:noFill/>
          <a:ln>
            <a:noFill/>
          </a:ln>
        </p:spPr>
        <p:txBody>
          <a:bodyPr wrap="square" lIns="0" tIns="0" rIns="0" bIns="0" rtlCol="0" anchor="ctr"/>
          <a:lstStyle/>
          <a:p>
            <a:pPr indent="0" marL="0">
              <a:buNone/>
            </a:pPr>
            <a:r>
              <a:rPr lang="en-US" sz="1400" b="1" spc="300" kern="0" dirty="0">
                <a:solidFill>
                  <a:srgbClr val="A21E22"/>
                </a:solidFill>
                <a:latin typeface="Avenir Next Heavy" pitchFamily="34" charset="0"/>
                <a:ea typeface="Avenir Next Heavy" pitchFamily="34" charset="-122"/>
                <a:cs typeface="Avenir Next Heavy" pitchFamily="34" charset="-120"/>
              </a:rPr>
              <a:t>PARTNERSHIPS</a:t>
            </a:r>
            <a:endParaRPr lang="en-US" sz="1400" dirty="0"/>
          </a:p>
        </p:txBody>
      </p:sp>
      <p:sp>
        <p:nvSpPr>
          <p:cNvPr id="7" name="Text 5"/>
          <p:cNvSpPr/>
          <p:nvPr/>
        </p:nvSpPr>
        <p:spPr>
          <a:xfrm>
            <a:off x="868680" y="2468880"/>
            <a:ext cx="4937760" cy="123444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Eat Clean Bro (meals), EVO Health &amp; Performance (PT/chiro), supplement retailer, recovery clinic. Member discounts, cross-referrals, co-branded content.</a:t>
            </a:r>
            <a:endParaRPr lang="en-US" sz="1200" dirty="0"/>
          </a:p>
        </p:txBody>
      </p:sp>
      <p:sp>
        <p:nvSpPr>
          <p:cNvPr id="8" name="Shape 6"/>
          <p:cNvSpPr/>
          <p:nvPr/>
        </p:nvSpPr>
        <p:spPr>
          <a:xfrm>
            <a:off x="6217920" y="1828800"/>
            <a:ext cx="5394960" cy="2011680"/>
          </a:xfrm>
          <a:prstGeom prst="rect">
            <a:avLst/>
          </a:prstGeom>
          <a:solidFill>
            <a:srgbClr val="F4F4F5"/>
          </a:solidFill>
          <a:ln>
            <a:noFill/>
          </a:ln>
        </p:spPr>
        <p:txBody>
          <a:bodyPr/>
          <a:p/>
        </p:txBody>
      </p:sp>
      <p:sp>
        <p:nvSpPr>
          <p:cNvPr id="9" name="Shape 7"/>
          <p:cNvSpPr/>
          <p:nvPr/>
        </p:nvSpPr>
        <p:spPr>
          <a:xfrm>
            <a:off x="6217920" y="1828800"/>
            <a:ext cx="91440" cy="2011680"/>
          </a:xfrm>
          <a:prstGeom prst="rect">
            <a:avLst/>
          </a:prstGeom>
          <a:solidFill>
            <a:srgbClr val="A21E22"/>
          </a:solidFill>
          <a:ln>
            <a:noFill/>
          </a:ln>
        </p:spPr>
        <p:txBody>
          <a:bodyPr/>
          <a:p/>
        </p:txBody>
      </p:sp>
      <p:sp>
        <p:nvSpPr>
          <p:cNvPr id="10" name="Text 8"/>
          <p:cNvSpPr/>
          <p:nvPr/>
        </p:nvSpPr>
        <p:spPr>
          <a:xfrm>
            <a:off x="6537960" y="2057400"/>
            <a:ext cx="4937760" cy="365760"/>
          </a:xfrm>
          <a:prstGeom prst="rect">
            <a:avLst/>
          </a:prstGeom>
          <a:noFill/>
          <a:ln>
            <a:noFill/>
          </a:ln>
        </p:spPr>
        <p:txBody>
          <a:bodyPr wrap="square" lIns="0" tIns="0" rIns="0" bIns="0" rtlCol="0" anchor="ctr"/>
          <a:lstStyle/>
          <a:p>
            <a:pPr indent="0" marL="0">
              <a:buNone/>
            </a:pPr>
            <a:r>
              <a:rPr lang="en-US" sz="1400" b="1" spc="300" kern="0" dirty="0">
                <a:solidFill>
                  <a:srgbClr val="A21E22"/>
                </a:solidFill>
                <a:latin typeface="Avenir Next Heavy" pitchFamily="34" charset="0"/>
                <a:ea typeface="Avenir Next Heavy" pitchFamily="34" charset="-122"/>
                <a:cs typeface="Avenir Next Heavy" pitchFamily="34" charset="-120"/>
              </a:rPr>
              <a:t>EVENTS</a:t>
            </a:r>
            <a:endParaRPr lang="en-US" sz="1400" dirty="0"/>
          </a:p>
        </p:txBody>
      </p:sp>
      <p:sp>
        <p:nvSpPr>
          <p:cNvPr id="11" name="Text 9"/>
          <p:cNvSpPr/>
          <p:nvPr/>
        </p:nvSpPr>
        <p:spPr>
          <a:xfrm>
            <a:off x="6537960" y="2468880"/>
            <a:ext cx="4937760" cy="123444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Quarterly HYROX simulation days, in-house competitions, partner workshops. Cost: almost nothing. Outcome: community + content + referral fuel.</a:t>
            </a:r>
            <a:endParaRPr lang="en-US" sz="1200" dirty="0"/>
          </a:p>
        </p:txBody>
      </p:sp>
      <p:sp>
        <p:nvSpPr>
          <p:cNvPr id="12" name="Shape 10"/>
          <p:cNvSpPr/>
          <p:nvPr/>
        </p:nvSpPr>
        <p:spPr>
          <a:xfrm>
            <a:off x="548640" y="4114800"/>
            <a:ext cx="5394960" cy="2011680"/>
          </a:xfrm>
          <a:prstGeom prst="rect">
            <a:avLst/>
          </a:prstGeom>
          <a:solidFill>
            <a:srgbClr val="F4F4F5"/>
          </a:solidFill>
          <a:ln>
            <a:noFill/>
          </a:ln>
        </p:spPr>
        <p:txBody>
          <a:bodyPr/>
          <a:p/>
        </p:txBody>
      </p:sp>
      <p:sp>
        <p:nvSpPr>
          <p:cNvPr id="13" name="Shape 11"/>
          <p:cNvSpPr/>
          <p:nvPr/>
        </p:nvSpPr>
        <p:spPr>
          <a:xfrm>
            <a:off x="548640" y="4114800"/>
            <a:ext cx="91440" cy="2011680"/>
          </a:xfrm>
          <a:prstGeom prst="rect">
            <a:avLst/>
          </a:prstGeom>
          <a:solidFill>
            <a:srgbClr val="A21E22"/>
          </a:solidFill>
          <a:ln>
            <a:noFill/>
          </a:ln>
        </p:spPr>
        <p:txBody>
          <a:bodyPr/>
          <a:p/>
        </p:txBody>
      </p:sp>
      <p:sp>
        <p:nvSpPr>
          <p:cNvPr id="14" name="Text 12"/>
          <p:cNvSpPr/>
          <p:nvPr/>
        </p:nvSpPr>
        <p:spPr>
          <a:xfrm>
            <a:off x="868680" y="4343400"/>
            <a:ext cx="4937760" cy="365760"/>
          </a:xfrm>
          <a:prstGeom prst="rect">
            <a:avLst/>
          </a:prstGeom>
          <a:noFill/>
          <a:ln>
            <a:noFill/>
          </a:ln>
        </p:spPr>
        <p:txBody>
          <a:bodyPr wrap="square" lIns="0" tIns="0" rIns="0" bIns="0" rtlCol="0" anchor="ctr"/>
          <a:lstStyle/>
          <a:p>
            <a:pPr indent="0" marL="0">
              <a:buNone/>
            </a:pPr>
            <a:r>
              <a:rPr lang="en-US" sz="1400" b="1" spc="300" kern="0" dirty="0">
                <a:solidFill>
                  <a:srgbClr val="A21E22"/>
                </a:solidFill>
                <a:latin typeface="Avenir Next Heavy" pitchFamily="34" charset="0"/>
                <a:ea typeface="Avenir Next Heavy" pitchFamily="34" charset="-122"/>
                <a:cs typeface="Avenir Next Heavy" pitchFamily="34" charset="-120"/>
              </a:rPr>
              <a:t>REFERRAL PROGRAM 2.0</a:t>
            </a:r>
            <a:endParaRPr lang="en-US" sz="1400" dirty="0"/>
          </a:p>
        </p:txBody>
      </p:sp>
      <p:sp>
        <p:nvSpPr>
          <p:cNvPr id="15" name="Text 13"/>
          <p:cNvSpPr/>
          <p:nvPr/>
        </p:nvSpPr>
        <p:spPr>
          <a:xfrm>
            <a:off x="868680" y="4754880"/>
            <a:ext cx="4937760" cy="123444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Existing “refer a friend, free month” is passive. Make it visible: leaderboard, quarterly drawing, automated SMS at day 60.</a:t>
            </a:r>
            <a:endParaRPr lang="en-US" sz="1200" dirty="0"/>
          </a:p>
        </p:txBody>
      </p:sp>
      <p:sp>
        <p:nvSpPr>
          <p:cNvPr id="16" name="Shape 14"/>
          <p:cNvSpPr/>
          <p:nvPr/>
        </p:nvSpPr>
        <p:spPr>
          <a:xfrm>
            <a:off x="6217920" y="4114800"/>
            <a:ext cx="5394960" cy="2011680"/>
          </a:xfrm>
          <a:prstGeom prst="rect">
            <a:avLst/>
          </a:prstGeom>
          <a:solidFill>
            <a:srgbClr val="F4F4F5"/>
          </a:solidFill>
          <a:ln>
            <a:noFill/>
          </a:ln>
        </p:spPr>
        <p:txBody>
          <a:bodyPr/>
          <a:p/>
        </p:txBody>
      </p:sp>
      <p:sp>
        <p:nvSpPr>
          <p:cNvPr id="17" name="Shape 15"/>
          <p:cNvSpPr/>
          <p:nvPr/>
        </p:nvSpPr>
        <p:spPr>
          <a:xfrm>
            <a:off x="6217920" y="4114800"/>
            <a:ext cx="91440" cy="2011680"/>
          </a:xfrm>
          <a:prstGeom prst="rect">
            <a:avLst/>
          </a:prstGeom>
          <a:solidFill>
            <a:srgbClr val="A21E22"/>
          </a:solidFill>
          <a:ln>
            <a:noFill/>
          </a:ln>
        </p:spPr>
        <p:txBody>
          <a:bodyPr/>
          <a:p/>
        </p:txBody>
      </p:sp>
      <p:sp>
        <p:nvSpPr>
          <p:cNvPr id="18" name="Text 16"/>
          <p:cNvSpPr/>
          <p:nvPr/>
        </p:nvSpPr>
        <p:spPr>
          <a:xfrm>
            <a:off x="6537960" y="4343400"/>
            <a:ext cx="4937760" cy="365760"/>
          </a:xfrm>
          <a:prstGeom prst="rect">
            <a:avLst/>
          </a:prstGeom>
          <a:noFill/>
          <a:ln>
            <a:noFill/>
          </a:ln>
        </p:spPr>
        <p:txBody>
          <a:bodyPr wrap="square" lIns="0" tIns="0" rIns="0" bIns="0" rtlCol="0" anchor="ctr"/>
          <a:lstStyle/>
          <a:p>
            <a:pPr indent="0" marL="0">
              <a:buNone/>
            </a:pPr>
            <a:r>
              <a:rPr lang="en-US" sz="1400" b="1" spc="300" kern="0" dirty="0">
                <a:solidFill>
                  <a:srgbClr val="A21E22"/>
                </a:solidFill>
                <a:latin typeface="Avenir Next Heavy" pitchFamily="34" charset="0"/>
                <a:ea typeface="Avenir Next Heavy" pitchFamily="34" charset="-122"/>
                <a:cs typeface="Avenir Next Heavy" pitchFamily="34" charset="-120"/>
              </a:rPr>
              <a:t>PAID ADS — TARGETED</a:t>
            </a:r>
            <a:endParaRPr lang="en-US" sz="1400" dirty="0"/>
          </a:p>
        </p:txBody>
      </p:sp>
      <p:sp>
        <p:nvSpPr>
          <p:cNvPr id="19" name="Text 17"/>
          <p:cNvSpPr/>
          <p:nvPr/>
        </p:nvSpPr>
        <p:spPr>
          <a:xfrm>
            <a:off x="6537960" y="4754880"/>
            <a:ext cx="4937760" cy="1234440"/>
          </a:xfrm>
          <a:prstGeom prst="rect">
            <a:avLst/>
          </a:prstGeom>
          <a:noFill/>
          <a:ln>
            <a:noFill/>
          </a:ln>
        </p:spPr>
        <p:txBody>
          <a:bodyPr wrap="square" lIns="0" tIns="0" rIns="0" bIns="0" rtlCol="0" anchor="t"/>
          <a:lstStyle/>
          <a:p>
            <a:pPr indent="0" marL="0">
              <a:buNone/>
            </a:pPr>
            <a:r>
              <a:rPr lang="en-US" sz="1200" dirty="0">
                <a:solidFill>
                  <a:srgbClr val="131313"/>
                </a:solidFill>
                <a:latin typeface="Avenir Next" pitchFamily="34" charset="0"/>
                <a:ea typeface="Avenir Next" pitchFamily="34" charset="-122"/>
                <a:cs typeface="Avenir Next" pitchFamily="34" charset="-120"/>
              </a:rPr>
              <a:t>Three audiences: HYROX athletes 15-mi radius, CrossFit/Olympic-lifting refugees, recovery/cold-plunge audience. Video creative reused from pillars.</a:t>
            </a:r>
            <a:endParaRPr lang="en-US" sz="1200" dirty="0"/>
          </a:p>
        </p:txBody>
      </p:sp>
      <p:sp>
        <p:nvSpPr>
          <p:cNvPr id="20" name="Text 18"/>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17 / 22</a:t>
            </a:r>
            <a:endParaRPr lang="en-US" sz="900" dirty="0"/>
          </a:p>
        </p:txBody>
      </p:sp>
      <p:pic>
        <p:nvPicPr>
          <p:cNvPr id="21" name="Picture 20"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GUARDRAILS</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What we will NOT do</a:t>
            </a:r>
            <a:endParaRPr lang="en-US" sz="2800" dirty="0"/>
          </a:p>
        </p:txBody>
      </p:sp>
      <p:sp>
        <p:nvSpPr>
          <p:cNvPr id="4" name="Shape 2"/>
          <p:cNvSpPr/>
          <p:nvPr/>
        </p:nvSpPr>
        <p:spPr>
          <a:xfrm>
            <a:off x="548640" y="1828800"/>
            <a:ext cx="640080" cy="685800"/>
          </a:xfrm>
          <a:prstGeom prst="rect">
            <a:avLst/>
          </a:prstGeom>
          <a:solidFill>
            <a:srgbClr val="F3E0E1"/>
          </a:solidFill>
          <a:ln>
            <a:noFill/>
          </a:ln>
        </p:spPr>
        <p:txBody>
          <a:bodyPr/>
          <a:p/>
        </p:txBody>
      </p:sp>
      <p:sp>
        <p:nvSpPr>
          <p:cNvPr id="5" name="Text 3"/>
          <p:cNvSpPr/>
          <p:nvPr/>
        </p:nvSpPr>
        <p:spPr>
          <a:xfrm>
            <a:off x="548640" y="1828800"/>
            <a:ext cx="640080" cy="685800"/>
          </a:xfrm>
          <a:prstGeom prst="rect">
            <a:avLst/>
          </a:prstGeom>
          <a:noFill/>
          <a:ln>
            <a:noFill/>
          </a:ln>
        </p:spPr>
        <p:txBody>
          <a:bodyPr wrap="square" lIns="0" tIns="0" rIns="0" bIns="0" rtlCol="0" anchor="ctr"/>
          <a:lstStyle/>
          <a:p>
            <a:pPr algn="ctr" indent="0" marL="0">
              <a:buNone/>
            </a:pPr>
            <a:r>
              <a:rPr lang="en-US" sz="2800" b="1" dirty="0">
                <a:solidFill>
                  <a:srgbClr val="A21E22"/>
                </a:solidFill>
                <a:latin typeface="Avenir Next Heavy" pitchFamily="34" charset="0"/>
                <a:ea typeface="Avenir Next Heavy" pitchFamily="34" charset="-122"/>
                <a:cs typeface="Avenir Next Heavy" pitchFamily="34" charset="-120"/>
              </a:rPr>
              <a:t>✕</a:t>
            </a:r>
            <a:endParaRPr lang="en-US" sz="2800" dirty="0"/>
          </a:p>
        </p:txBody>
      </p:sp>
      <p:sp>
        <p:nvSpPr>
          <p:cNvPr id="6" name="Text 4"/>
          <p:cNvSpPr/>
          <p:nvPr/>
        </p:nvSpPr>
        <p:spPr>
          <a:xfrm>
            <a:off x="1417320" y="1828800"/>
            <a:ext cx="1005840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Don't lower prices</a:t>
            </a:r>
            <a:endParaRPr lang="en-US" sz="1500" dirty="0"/>
          </a:p>
        </p:txBody>
      </p:sp>
      <p:sp>
        <p:nvSpPr>
          <p:cNvPr id="7" name="Text 5"/>
          <p:cNvSpPr/>
          <p:nvPr/>
        </p:nvSpPr>
        <p:spPr>
          <a:xfrm>
            <a:off x="1417320" y="2148840"/>
            <a:ext cx="10058400" cy="45720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Wrong customer. Damages the brand. Right answer to “too expensive” is “you're right, it's not for you” — said politely.</a:t>
            </a:r>
            <a:endParaRPr lang="en-US" sz="1200" dirty="0"/>
          </a:p>
        </p:txBody>
      </p:sp>
      <p:sp>
        <p:nvSpPr>
          <p:cNvPr id="8" name="Shape 6"/>
          <p:cNvSpPr/>
          <p:nvPr/>
        </p:nvSpPr>
        <p:spPr>
          <a:xfrm>
            <a:off x="548640" y="2697480"/>
            <a:ext cx="640080" cy="685800"/>
          </a:xfrm>
          <a:prstGeom prst="rect">
            <a:avLst/>
          </a:prstGeom>
          <a:solidFill>
            <a:srgbClr val="F3E0E1"/>
          </a:solidFill>
          <a:ln>
            <a:noFill/>
          </a:ln>
        </p:spPr>
        <p:txBody>
          <a:bodyPr/>
          <a:p/>
        </p:txBody>
      </p:sp>
      <p:sp>
        <p:nvSpPr>
          <p:cNvPr id="9" name="Text 7"/>
          <p:cNvSpPr/>
          <p:nvPr/>
        </p:nvSpPr>
        <p:spPr>
          <a:xfrm>
            <a:off x="548640" y="2697480"/>
            <a:ext cx="640080" cy="685800"/>
          </a:xfrm>
          <a:prstGeom prst="rect">
            <a:avLst/>
          </a:prstGeom>
          <a:noFill/>
          <a:ln>
            <a:noFill/>
          </a:ln>
        </p:spPr>
        <p:txBody>
          <a:bodyPr wrap="square" lIns="0" tIns="0" rIns="0" bIns="0" rtlCol="0" anchor="ctr"/>
          <a:lstStyle/>
          <a:p>
            <a:pPr algn="ctr" indent="0" marL="0">
              <a:buNone/>
            </a:pPr>
            <a:r>
              <a:rPr lang="en-US" sz="2800" b="1" dirty="0">
                <a:solidFill>
                  <a:srgbClr val="A21E22"/>
                </a:solidFill>
                <a:latin typeface="Avenir Next Heavy" pitchFamily="34" charset="0"/>
                <a:ea typeface="Avenir Next Heavy" pitchFamily="34" charset="-122"/>
                <a:cs typeface="Avenir Next Heavy" pitchFamily="34" charset="-120"/>
              </a:rPr>
              <a:t>✕</a:t>
            </a:r>
            <a:endParaRPr lang="en-US" sz="2800" dirty="0"/>
          </a:p>
        </p:txBody>
      </p:sp>
      <p:sp>
        <p:nvSpPr>
          <p:cNvPr id="10" name="Text 8"/>
          <p:cNvSpPr/>
          <p:nvPr/>
        </p:nvSpPr>
        <p:spPr>
          <a:xfrm>
            <a:off x="1417320" y="2697480"/>
            <a:ext cx="1005840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Don't run “free week” ads</a:t>
            </a:r>
            <a:endParaRPr lang="en-US" sz="1500" dirty="0"/>
          </a:p>
        </p:txBody>
      </p:sp>
      <p:sp>
        <p:nvSpPr>
          <p:cNvPr id="11" name="Text 9"/>
          <p:cNvSpPr/>
          <p:nvPr/>
        </p:nvSpPr>
        <p:spPr>
          <a:xfrm>
            <a:off x="1417320" y="3017520"/>
            <a:ext cx="10058400" cy="45720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Attracts price-sensitive churners. Generic offer to generic audience = generic result.</a:t>
            </a:r>
            <a:endParaRPr lang="en-US" sz="1200" dirty="0"/>
          </a:p>
        </p:txBody>
      </p:sp>
      <p:sp>
        <p:nvSpPr>
          <p:cNvPr id="12" name="Shape 10"/>
          <p:cNvSpPr/>
          <p:nvPr/>
        </p:nvSpPr>
        <p:spPr>
          <a:xfrm>
            <a:off x="548640" y="3566160"/>
            <a:ext cx="640080" cy="685800"/>
          </a:xfrm>
          <a:prstGeom prst="rect">
            <a:avLst/>
          </a:prstGeom>
          <a:solidFill>
            <a:srgbClr val="F3E0E1"/>
          </a:solidFill>
          <a:ln>
            <a:noFill/>
          </a:ln>
        </p:spPr>
        <p:txBody>
          <a:bodyPr/>
          <a:p/>
        </p:txBody>
      </p:sp>
      <p:sp>
        <p:nvSpPr>
          <p:cNvPr id="13" name="Text 11"/>
          <p:cNvSpPr/>
          <p:nvPr/>
        </p:nvSpPr>
        <p:spPr>
          <a:xfrm>
            <a:off x="548640" y="3566160"/>
            <a:ext cx="640080" cy="685800"/>
          </a:xfrm>
          <a:prstGeom prst="rect">
            <a:avLst/>
          </a:prstGeom>
          <a:noFill/>
          <a:ln>
            <a:noFill/>
          </a:ln>
        </p:spPr>
        <p:txBody>
          <a:bodyPr wrap="square" lIns="0" tIns="0" rIns="0" bIns="0" rtlCol="0" anchor="ctr"/>
          <a:lstStyle/>
          <a:p>
            <a:pPr algn="ctr" indent="0" marL="0">
              <a:buNone/>
            </a:pPr>
            <a:r>
              <a:rPr lang="en-US" sz="2800" b="1" dirty="0">
                <a:solidFill>
                  <a:srgbClr val="A21E22"/>
                </a:solidFill>
                <a:latin typeface="Avenir Next Heavy" pitchFamily="34" charset="0"/>
                <a:ea typeface="Avenir Next Heavy" pitchFamily="34" charset="-122"/>
                <a:cs typeface="Avenir Next Heavy" pitchFamily="34" charset="-120"/>
              </a:rPr>
              <a:t>✕</a:t>
            </a:r>
            <a:endParaRPr lang="en-US" sz="2800" dirty="0"/>
          </a:p>
        </p:txBody>
      </p:sp>
      <p:sp>
        <p:nvSpPr>
          <p:cNvPr id="14" name="Text 12"/>
          <p:cNvSpPr/>
          <p:nvPr/>
        </p:nvSpPr>
        <p:spPr>
          <a:xfrm>
            <a:off x="1417320" y="3566160"/>
            <a:ext cx="1005840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Don't try to be everything</a:t>
            </a:r>
            <a:endParaRPr lang="en-US" sz="1500" dirty="0"/>
          </a:p>
        </p:txBody>
      </p:sp>
      <p:sp>
        <p:nvSpPr>
          <p:cNvPr id="15" name="Text 13"/>
          <p:cNvSpPr/>
          <p:nvPr/>
        </p:nvSpPr>
        <p:spPr>
          <a:xfrm>
            <a:off x="1417320" y="3886200"/>
            <a:ext cx="10058400" cy="45720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Not a yoga studio. Not a wellness club. Not a kids' gym. Brand gets weaker every time it drifts off-avatar.</a:t>
            </a:r>
            <a:endParaRPr lang="en-US" sz="1200" dirty="0"/>
          </a:p>
        </p:txBody>
      </p:sp>
      <p:sp>
        <p:nvSpPr>
          <p:cNvPr id="16" name="Shape 14"/>
          <p:cNvSpPr/>
          <p:nvPr/>
        </p:nvSpPr>
        <p:spPr>
          <a:xfrm>
            <a:off x="548640" y="4434840"/>
            <a:ext cx="640080" cy="685800"/>
          </a:xfrm>
          <a:prstGeom prst="rect">
            <a:avLst/>
          </a:prstGeom>
          <a:solidFill>
            <a:srgbClr val="F3E0E1"/>
          </a:solidFill>
          <a:ln>
            <a:noFill/>
          </a:ln>
        </p:spPr>
        <p:txBody>
          <a:bodyPr/>
          <a:p/>
        </p:txBody>
      </p:sp>
      <p:sp>
        <p:nvSpPr>
          <p:cNvPr id="17" name="Text 15"/>
          <p:cNvSpPr/>
          <p:nvPr/>
        </p:nvSpPr>
        <p:spPr>
          <a:xfrm>
            <a:off x="548640" y="4434840"/>
            <a:ext cx="640080" cy="685800"/>
          </a:xfrm>
          <a:prstGeom prst="rect">
            <a:avLst/>
          </a:prstGeom>
          <a:noFill/>
          <a:ln>
            <a:noFill/>
          </a:ln>
        </p:spPr>
        <p:txBody>
          <a:bodyPr wrap="square" lIns="0" tIns="0" rIns="0" bIns="0" rtlCol="0" anchor="ctr"/>
          <a:lstStyle/>
          <a:p>
            <a:pPr algn="ctr" indent="0" marL="0">
              <a:buNone/>
            </a:pPr>
            <a:r>
              <a:rPr lang="en-US" sz="2800" b="1" dirty="0">
                <a:solidFill>
                  <a:srgbClr val="A21E22"/>
                </a:solidFill>
                <a:latin typeface="Avenir Next Heavy" pitchFamily="34" charset="0"/>
                <a:ea typeface="Avenir Next Heavy" pitchFamily="34" charset="-122"/>
                <a:cs typeface="Avenir Next Heavy" pitchFamily="34" charset="-120"/>
              </a:rPr>
              <a:t>✕</a:t>
            </a:r>
            <a:endParaRPr lang="en-US" sz="2800" dirty="0"/>
          </a:p>
        </p:txBody>
      </p:sp>
      <p:sp>
        <p:nvSpPr>
          <p:cNvPr id="18" name="Text 16"/>
          <p:cNvSpPr/>
          <p:nvPr/>
        </p:nvSpPr>
        <p:spPr>
          <a:xfrm>
            <a:off x="1417320" y="4434840"/>
            <a:ext cx="1005840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Don't outsource the content</a:t>
            </a:r>
            <a:endParaRPr lang="en-US" sz="1500" dirty="0"/>
          </a:p>
        </p:txBody>
      </p:sp>
      <p:sp>
        <p:nvSpPr>
          <p:cNvPr id="19" name="Text 17"/>
          <p:cNvSpPr/>
          <p:nvPr/>
        </p:nvSpPr>
        <p:spPr>
          <a:xfrm>
            <a:off x="1417320" y="4754880"/>
            <a:ext cx="10058400" cy="45720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Dom and Jordan ARE the content. Hire an editor, not a creator. Authority comes from the operators, not an agency.</a:t>
            </a:r>
            <a:endParaRPr lang="en-US" sz="1200" dirty="0"/>
          </a:p>
        </p:txBody>
      </p:sp>
      <p:sp>
        <p:nvSpPr>
          <p:cNvPr id="20" name="Shape 18"/>
          <p:cNvSpPr/>
          <p:nvPr/>
        </p:nvSpPr>
        <p:spPr>
          <a:xfrm>
            <a:off x="548640" y="5303520"/>
            <a:ext cx="640080" cy="685800"/>
          </a:xfrm>
          <a:prstGeom prst="rect">
            <a:avLst/>
          </a:prstGeom>
          <a:solidFill>
            <a:srgbClr val="F3E0E1"/>
          </a:solidFill>
          <a:ln>
            <a:noFill/>
          </a:ln>
        </p:spPr>
        <p:txBody>
          <a:bodyPr/>
          <a:p/>
        </p:txBody>
      </p:sp>
      <p:sp>
        <p:nvSpPr>
          <p:cNvPr id="21" name="Text 19"/>
          <p:cNvSpPr/>
          <p:nvPr/>
        </p:nvSpPr>
        <p:spPr>
          <a:xfrm>
            <a:off x="548640" y="5303520"/>
            <a:ext cx="640080" cy="685800"/>
          </a:xfrm>
          <a:prstGeom prst="rect">
            <a:avLst/>
          </a:prstGeom>
          <a:noFill/>
          <a:ln>
            <a:noFill/>
          </a:ln>
        </p:spPr>
        <p:txBody>
          <a:bodyPr wrap="square" lIns="0" tIns="0" rIns="0" bIns="0" rtlCol="0" anchor="ctr"/>
          <a:lstStyle/>
          <a:p>
            <a:pPr algn="ctr" indent="0" marL="0">
              <a:buNone/>
            </a:pPr>
            <a:r>
              <a:rPr lang="en-US" sz="2800" b="1" dirty="0">
                <a:solidFill>
                  <a:srgbClr val="A21E22"/>
                </a:solidFill>
                <a:latin typeface="Avenir Next Heavy" pitchFamily="34" charset="0"/>
                <a:ea typeface="Avenir Next Heavy" pitchFamily="34" charset="-122"/>
                <a:cs typeface="Avenir Next Heavy" pitchFamily="34" charset="-120"/>
              </a:rPr>
              <a:t>✕</a:t>
            </a:r>
            <a:endParaRPr lang="en-US" sz="2800" dirty="0"/>
          </a:p>
        </p:txBody>
      </p:sp>
      <p:sp>
        <p:nvSpPr>
          <p:cNvPr id="22" name="Text 20"/>
          <p:cNvSpPr/>
          <p:nvPr/>
        </p:nvSpPr>
        <p:spPr>
          <a:xfrm>
            <a:off x="1417320" y="5303520"/>
            <a:ext cx="10058400" cy="320040"/>
          </a:xfrm>
          <a:prstGeom prst="rect">
            <a:avLst/>
          </a:prstGeom>
          <a:noFill/>
          <a:ln>
            <a:noFill/>
          </a:ln>
        </p:spPr>
        <p:txBody>
          <a:bodyPr wrap="square" lIns="0" tIns="0" rIns="0" bIns="0" rtlCol="0" anchor="ctr"/>
          <a:lstStyle/>
          <a:p>
            <a:pPr indent="0" marL="0">
              <a:buNone/>
            </a:pPr>
            <a:r>
              <a:rPr lang="en-US" sz="1500" b="1" dirty="0">
                <a:solidFill>
                  <a:srgbClr val="131313"/>
                </a:solidFill>
                <a:latin typeface="Avenir Next Heavy" pitchFamily="34" charset="0"/>
                <a:ea typeface="Avenir Next Heavy" pitchFamily="34" charset="-122"/>
                <a:cs typeface="Avenir Next Heavy" pitchFamily="34" charset="-120"/>
              </a:rPr>
              <a:t>Don't skip the phase gates</a:t>
            </a:r>
            <a:endParaRPr lang="en-US" sz="1500" dirty="0"/>
          </a:p>
        </p:txBody>
      </p:sp>
      <p:sp>
        <p:nvSpPr>
          <p:cNvPr id="23" name="Text 21"/>
          <p:cNvSpPr/>
          <p:nvPr/>
        </p:nvSpPr>
        <p:spPr>
          <a:xfrm>
            <a:off x="1417320" y="5623560"/>
            <a:ext cx="10058400" cy="457200"/>
          </a:xfrm>
          <a:prstGeom prst="rect">
            <a:avLst/>
          </a:prstGeom>
          <a:noFill/>
          <a:ln>
            <a:noFill/>
          </a:ln>
        </p:spPr>
        <p:txBody>
          <a:bodyPr wrap="square" lIns="0" tIns="0" rIns="0" bIns="0" rtlCol="0" anchor="t"/>
          <a:lstStyle/>
          <a:p>
            <a:pPr indent="0" marL="0">
              <a:buNone/>
            </a:pPr>
            <a:r>
              <a:rPr lang="en-US" sz="1200" dirty="0">
                <a:solidFill>
                  <a:srgbClr val="6B7280"/>
                </a:solidFill>
                <a:latin typeface="Avenir Next" pitchFamily="34" charset="0"/>
                <a:ea typeface="Avenir Next" pitchFamily="34" charset="-122"/>
                <a:cs typeface="Avenir Next" pitchFamily="34" charset="-120"/>
              </a:rPr>
              <a:t>Each phase has to be functionally working before the next one starts. No leapfrogging.</a:t>
            </a:r>
            <a:endParaRPr lang="en-US" sz="1200" dirty="0"/>
          </a:p>
        </p:txBody>
      </p:sp>
      <p:sp>
        <p:nvSpPr>
          <p:cNvPr id="24" name="Text 22"/>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18 / 22</a:t>
            </a:r>
            <a:endParaRPr lang="en-US" sz="900" dirty="0"/>
          </a:p>
        </p:txBody>
      </p:sp>
      <p:pic>
        <p:nvPicPr>
          <p:cNvPr id="25" name="Picture 24"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THE POINT OF ALL THIS</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One clear path. Same answer every time.</a:t>
            </a:r>
            <a:endParaRPr lang="en-US" sz="2800" dirty="0"/>
          </a:p>
        </p:txBody>
      </p:sp>
      <p:sp>
        <p:nvSpPr>
          <p:cNvPr id="4" name="Text 2"/>
          <p:cNvSpPr/>
          <p:nvPr/>
        </p:nvSpPr>
        <p:spPr>
          <a:xfrm>
            <a:off x="548640" y="1783080"/>
            <a:ext cx="11064240" cy="320040"/>
          </a:xfrm>
          <a:prstGeom prst="rect">
            <a:avLst/>
          </a:prstGeom>
          <a:noFill/>
          <a:ln>
            <a:noFill/>
          </a:ln>
        </p:spPr>
        <p:txBody>
          <a:bodyPr wrap="square" lIns="0" tIns="0" rIns="0" bIns="0" rtlCol="0" anchor="ctr"/>
          <a:lstStyle/>
          <a:p>
            <a:pPr indent="0" marL="0">
              <a:buNone/>
            </a:pPr>
            <a:r>
              <a:rPr lang="en-US" sz="1200" b="1" spc="400" kern="0" dirty="0">
                <a:solidFill>
                  <a:srgbClr val="A21E22"/>
                </a:solidFill>
                <a:latin typeface="Avenir Next Heavy" pitchFamily="34" charset="0"/>
                <a:ea typeface="Avenir Next Heavy" pitchFamily="34" charset="-122"/>
                <a:cs typeface="Avenir Next Heavy" pitchFamily="34" charset="-120"/>
              </a:rPr>
              <a:t>THE NEW MEMBER JOURNEY  —  black and white</a:t>
            </a:r>
            <a:endParaRPr lang="en-US" sz="1200" dirty="0"/>
          </a:p>
        </p:txBody>
      </p:sp>
      <p:sp>
        <p:nvSpPr>
          <p:cNvPr id="5" name="Shape 3"/>
          <p:cNvSpPr/>
          <p:nvPr/>
        </p:nvSpPr>
        <p:spPr>
          <a:xfrm>
            <a:off x="548640" y="2286000"/>
            <a:ext cx="1767840" cy="2926080"/>
          </a:xfrm>
          <a:prstGeom prst="rect">
            <a:avLst/>
          </a:prstGeom>
          <a:solidFill>
            <a:srgbClr val="F4F4F5"/>
          </a:solidFill>
          <a:ln w="9525">
            <a:solidFill>
              <a:srgbClr val="E5E7EB"/>
            </a:solidFill>
            <a:prstDash val="solid"/>
          </a:ln>
        </p:spPr>
        <p:txBody>
          <a:bodyPr/>
          <a:p/>
        </p:txBody>
      </p:sp>
      <p:sp>
        <p:nvSpPr>
          <p:cNvPr id="6" name="Shape 4"/>
          <p:cNvSpPr/>
          <p:nvPr/>
        </p:nvSpPr>
        <p:spPr>
          <a:xfrm>
            <a:off x="1158240" y="2514600"/>
            <a:ext cx="548640" cy="548640"/>
          </a:xfrm>
          <a:prstGeom prst="ellipse">
            <a:avLst/>
          </a:prstGeom>
          <a:solidFill>
            <a:srgbClr val="131313"/>
          </a:solidFill>
          <a:ln>
            <a:noFill/>
          </a:ln>
        </p:spPr>
        <p:txBody>
          <a:bodyPr/>
          <a:p/>
        </p:txBody>
      </p:sp>
      <p:sp>
        <p:nvSpPr>
          <p:cNvPr id="7" name="Text 5"/>
          <p:cNvSpPr/>
          <p:nvPr/>
        </p:nvSpPr>
        <p:spPr>
          <a:xfrm>
            <a:off x="115824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1</a:t>
            </a:r>
            <a:endParaRPr lang="en-US" sz="1800" dirty="0"/>
          </a:p>
        </p:txBody>
      </p:sp>
      <p:sp>
        <p:nvSpPr>
          <p:cNvPr id="8" name="Text 6"/>
          <p:cNvSpPr/>
          <p:nvPr/>
        </p:nvSpPr>
        <p:spPr>
          <a:xfrm>
            <a:off x="64008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Discovers ARCH</a:t>
            </a:r>
            <a:endParaRPr lang="en-US" sz="1300" dirty="0"/>
          </a:p>
        </p:txBody>
      </p:sp>
      <p:sp>
        <p:nvSpPr>
          <p:cNvPr id="9" name="Text 7"/>
          <p:cNvSpPr/>
          <p:nvPr/>
        </p:nvSpPr>
        <p:spPr>
          <a:xfrm>
            <a:off x="64008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Reel, Google, referral, ChatGPT result</a:t>
            </a:r>
            <a:endParaRPr lang="en-US" sz="1000" dirty="0"/>
          </a:p>
        </p:txBody>
      </p:sp>
      <p:sp>
        <p:nvSpPr>
          <p:cNvPr id="10" name="Shape 8"/>
          <p:cNvSpPr/>
          <p:nvPr/>
        </p:nvSpPr>
        <p:spPr>
          <a:xfrm>
            <a:off x="2316480" y="3749040"/>
            <a:ext cx="91440" cy="0"/>
          </a:xfrm>
          <a:prstGeom prst="line">
            <a:avLst/>
          </a:prstGeom>
          <a:noFill/>
          <a:ln w="19050">
            <a:solidFill>
              <a:srgbClr val="A21E22"/>
            </a:solidFill>
            <a:prstDash val="solid"/>
            <a:tailEnd type="triangle"/>
          </a:ln>
        </p:spPr>
        <p:txBody>
          <a:bodyPr/>
          <a:p/>
        </p:txBody>
      </p:sp>
      <p:sp>
        <p:nvSpPr>
          <p:cNvPr id="11" name="Shape 9"/>
          <p:cNvSpPr/>
          <p:nvPr/>
        </p:nvSpPr>
        <p:spPr>
          <a:xfrm>
            <a:off x="2407920" y="2286000"/>
            <a:ext cx="1767840" cy="2926080"/>
          </a:xfrm>
          <a:prstGeom prst="rect">
            <a:avLst/>
          </a:prstGeom>
          <a:solidFill>
            <a:srgbClr val="FFFFFF"/>
          </a:solidFill>
          <a:ln w="9525">
            <a:solidFill>
              <a:srgbClr val="E5E7EB"/>
            </a:solidFill>
            <a:prstDash val="solid"/>
          </a:ln>
        </p:spPr>
        <p:txBody>
          <a:bodyPr/>
          <a:p/>
        </p:txBody>
      </p:sp>
      <p:sp>
        <p:nvSpPr>
          <p:cNvPr id="12" name="Shape 10"/>
          <p:cNvSpPr/>
          <p:nvPr/>
        </p:nvSpPr>
        <p:spPr>
          <a:xfrm>
            <a:off x="3017520" y="2514600"/>
            <a:ext cx="548640" cy="548640"/>
          </a:xfrm>
          <a:prstGeom prst="ellipse">
            <a:avLst/>
          </a:prstGeom>
          <a:solidFill>
            <a:srgbClr val="131313"/>
          </a:solidFill>
          <a:ln>
            <a:noFill/>
          </a:ln>
        </p:spPr>
        <p:txBody>
          <a:bodyPr/>
          <a:p/>
        </p:txBody>
      </p:sp>
      <p:sp>
        <p:nvSpPr>
          <p:cNvPr id="13" name="Text 11"/>
          <p:cNvSpPr/>
          <p:nvPr/>
        </p:nvSpPr>
        <p:spPr>
          <a:xfrm>
            <a:off x="301752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2</a:t>
            </a:r>
            <a:endParaRPr lang="en-US" sz="1800" dirty="0"/>
          </a:p>
        </p:txBody>
      </p:sp>
      <p:sp>
        <p:nvSpPr>
          <p:cNvPr id="14" name="Text 12"/>
          <p:cNvSpPr/>
          <p:nvPr/>
        </p:nvSpPr>
        <p:spPr>
          <a:xfrm>
            <a:off x="249936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Lands a clean page</a:t>
            </a:r>
            <a:endParaRPr lang="en-US" sz="1300" dirty="0"/>
          </a:p>
        </p:txBody>
      </p:sp>
      <p:sp>
        <p:nvSpPr>
          <p:cNvPr id="15" name="Text 13"/>
          <p:cNvSpPr/>
          <p:nvPr/>
        </p:nvSpPr>
        <p:spPr>
          <a:xfrm>
            <a:off x="249936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Pricing as text, one CTA: book intro</a:t>
            </a:r>
            <a:endParaRPr lang="en-US" sz="1000" dirty="0"/>
          </a:p>
        </p:txBody>
      </p:sp>
      <p:sp>
        <p:nvSpPr>
          <p:cNvPr id="16" name="Shape 14"/>
          <p:cNvSpPr/>
          <p:nvPr/>
        </p:nvSpPr>
        <p:spPr>
          <a:xfrm>
            <a:off x="4175760" y="3749040"/>
            <a:ext cx="91440" cy="0"/>
          </a:xfrm>
          <a:prstGeom prst="line">
            <a:avLst/>
          </a:prstGeom>
          <a:noFill/>
          <a:ln w="19050">
            <a:solidFill>
              <a:srgbClr val="A21E22"/>
            </a:solidFill>
            <a:prstDash val="solid"/>
            <a:tailEnd type="triangle"/>
          </a:ln>
        </p:spPr>
        <p:txBody>
          <a:bodyPr/>
          <a:p/>
        </p:txBody>
      </p:sp>
      <p:sp>
        <p:nvSpPr>
          <p:cNvPr id="17" name="Shape 15"/>
          <p:cNvSpPr/>
          <p:nvPr/>
        </p:nvSpPr>
        <p:spPr>
          <a:xfrm>
            <a:off x="4267200" y="2286000"/>
            <a:ext cx="1767840" cy="2926080"/>
          </a:xfrm>
          <a:prstGeom prst="rect">
            <a:avLst/>
          </a:prstGeom>
          <a:solidFill>
            <a:srgbClr val="F4F4F5"/>
          </a:solidFill>
          <a:ln w="9525">
            <a:solidFill>
              <a:srgbClr val="E5E7EB"/>
            </a:solidFill>
            <a:prstDash val="solid"/>
          </a:ln>
        </p:spPr>
        <p:txBody>
          <a:bodyPr/>
          <a:p/>
        </p:txBody>
      </p:sp>
      <p:sp>
        <p:nvSpPr>
          <p:cNvPr id="18" name="Shape 16"/>
          <p:cNvSpPr/>
          <p:nvPr/>
        </p:nvSpPr>
        <p:spPr>
          <a:xfrm>
            <a:off x="4876800" y="2514600"/>
            <a:ext cx="548640" cy="548640"/>
          </a:xfrm>
          <a:prstGeom prst="ellipse">
            <a:avLst/>
          </a:prstGeom>
          <a:solidFill>
            <a:srgbClr val="131313"/>
          </a:solidFill>
          <a:ln>
            <a:noFill/>
          </a:ln>
        </p:spPr>
        <p:txBody>
          <a:bodyPr/>
          <a:p/>
        </p:txBody>
      </p:sp>
      <p:sp>
        <p:nvSpPr>
          <p:cNvPr id="19" name="Text 17"/>
          <p:cNvSpPr/>
          <p:nvPr/>
        </p:nvSpPr>
        <p:spPr>
          <a:xfrm>
            <a:off x="487680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3</a:t>
            </a:r>
            <a:endParaRPr lang="en-US" sz="1800" dirty="0"/>
          </a:p>
        </p:txBody>
      </p:sp>
      <p:sp>
        <p:nvSpPr>
          <p:cNvPr id="20" name="Text 18"/>
          <p:cNvSpPr/>
          <p:nvPr/>
        </p:nvSpPr>
        <p:spPr>
          <a:xfrm>
            <a:off x="435864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Inquires</a:t>
            </a:r>
            <a:endParaRPr lang="en-US" sz="1300" dirty="0"/>
          </a:p>
        </p:txBody>
      </p:sp>
      <p:sp>
        <p:nvSpPr>
          <p:cNvPr id="21" name="Text 19"/>
          <p:cNvSpPr/>
          <p:nvPr/>
        </p:nvSpPr>
        <p:spPr>
          <a:xfrm>
            <a:off x="435864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Form/IG/call → CRM lead in seconds</a:t>
            </a:r>
            <a:endParaRPr lang="en-US" sz="1000" dirty="0"/>
          </a:p>
        </p:txBody>
      </p:sp>
      <p:sp>
        <p:nvSpPr>
          <p:cNvPr id="22" name="Shape 20"/>
          <p:cNvSpPr/>
          <p:nvPr/>
        </p:nvSpPr>
        <p:spPr>
          <a:xfrm>
            <a:off x="6035040" y="3749040"/>
            <a:ext cx="91440" cy="0"/>
          </a:xfrm>
          <a:prstGeom prst="line">
            <a:avLst/>
          </a:prstGeom>
          <a:noFill/>
          <a:ln w="19050">
            <a:solidFill>
              <a:srgbClr val="A21E22"/>
            </a:solidFill>
            <a:prstDash val="solid"/>
            <a:tailEnd type="triangle"/>
          </a:ln>
        </p:spPr>
        <p:txBody>
          <a:bodyPr/>
          <a:p/>
        </p:txBody>
      </p:sp>
      <p:sp>
        <p:nvSpPr>
          <p:cNvPr id="23" name="Shape 21"/>
          <p:cNvSpPr/>
          <p:nvPr/>
        </p:nvSpPr>
        <p:spPr>
          <a:xfrm>
            <a:off x="6126480" y="2286000"/>
            <a:ext cx="1767840" cy="2926080"/>
          </a:xfrm>
          <a:prstGeom prst="rect">
            <a:avLst/>
          </a:prstGeom>
          <a:solidFill>
            <a:srgbClr val="FFFFFF"/>
          </a:solidFill>
          <a:ln w="9525">
            <a:solidFill>
              <a:srgbClr val="E5E7EB"/>
            </a:solidFill>
            <a:prstDash val="solid"/>
          </a:ln>
        </p:spPr>
        <p:txBody>
          <a:bodyPr/>
          <a:p/>
        </p:txBody>
      </p:sp>
      <p:sp>
        <p:nvSpPr>
          <p:cNvPr id="24" name="Shape 22"/>
          <p:cNvSpPr/>
          <p:nvPr/>
        </p:nvSpPr>
        <p:spPr>
          <a:xfrm>
            <a:off x="6736080" y="2514600"/>
            <a:ext cx="548640" cy="548640"/>
          </a:xfrm>
          <a:prstGeom prst="ellipse">
            <a:avLst/>
          </a:prstGeom>
          <a:solidFill>
            <a:srgbClr val="131313"/>
          </a:solidFill>
          <a:ln>
            <a:noFill/>
          </a:ln>
        </p:spPr>
        <p:txBody>
          <a:bodyPr/>
          <a:p/>
        </p:txBody>
      </p:sp>
      <p:sp>
        <p:nvSpPr>
          <p:cNvPr id="25" name="Text 23"/>
          <p:cNvSpPr/>
          <p:nvPr/>
        </p:nvSpPr>
        <p:spPr>
          <a:xfrm>
            <a:off x="673608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4</a:t>
            </a:r>
            <a:endParaRPr lang="en-US" sz="1800" dirty="0"/>
          </a:p>
        </p:txBody>
      </p:sp>
      <p:sp>
        <p:nvSpPr>
          <p:cNvPr id="26" name="Text 24"/>
          <p:cNvSpPr/>
          <p:nvPr/>
        </p:nvSpPr>
        <p:spPr>
          <a:xfrm>
            <a:off x="621792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Gets contacted fast</a:t>
            </a:r>
            <a:endParaRPr lang="en-US" sz="1300" dirty="0"/>
          </a:p>
        </p:txBody>
      </p:sp>
      <p:sp>
        <p:nvSpPr>
          <p:cNvPr id="27" name="Text 25"/>
          <p:cNvSpPr/>
          <p:nvPr/>
        </p:nvSpPr>
        <p:spPr>
          <a:xfrm>
            <a:off x="621792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Auto SMS in &lt;10 min, human follow within 1 hr</a:t>
            </a:r>
            <a:endParaRPr lang="en-US" sz="1000" dirty="0"/>
          </a:p>
        </p:txBody>
      </p:sp>
      <p:sp>
        <p:nvSpPr>
          <p:cNvPr id="28" name="Shape 26"/>
          <p:cNvSpPr/>
          <p:nvPr/>
        </p:nvSpPr>
        <p:spPr>
          <a:xfrm>
            <a:off x="7894320" y="3749040"/>
            <a:ext cx="91440" cy="0"/>
          </a:xfrm>
          <a:prstGeom prst="line">
            <a:avLst/>
          </a:prstGeom>
          <a:noFill/>
          <a:ln w="19050">
            <a:solidFill>
              <a:srgbClr val="A21E22"/>
            </a:solidFill>
            <a:prstDash val="solid"/>
            <a:tailEnd type="triangle"/>
          </a:ln>
        </p:spPr>
        <p:txBody>
          <a:bodyPr/>
          <a:p/>
        </p:txBody>
      </p:sp>
      <p:sp>
        <p:nvSpPr>
          <p:cNvPr id="29" name="Shape 27"/>
          <p:cNvSpPr/>
          <p:nvPr/>
        </p:nvSpPr>
        <p:spPr>
          <a:xfrm>
            <a:off x="7985760" y="2286000"/>
            <a:ext cx="1767840" cy="2926080"/>
          </a:xfrm>
          <a:prstGeom prst="rect">
            <a:avLst/>
          </a:prstGeom>
          <a:solidFill>
            <a:srgbClr val="F4F4F5"/>
          </a:solidFill>
          <a:ln w="9525">
            <a:solidFill>
              <a:srgbClr val="E5E7EB"/>
            </a:solidFill>
            <a:prstDash val="solid"/>
          </a:ln>
        </p:spPr>
        <p:txBody>
          <a:bodyPr/>
          <a:p/>
        </p:txBody>
      </p:sp>
      <p:sp>
        <p:nvSpPr>
          <p:cNvPr id="30" name="Shape 28"/>
          <p:cNvSpPr/>
          <p:nvPr/>
        </p:nvSpPr>
        <p:spPr>
          <a:xfrm>
            <a:off x="8595360" y="2514600"/>
            <a:ext cx="548640" cy="548640"/>
          </a:xfrm>
          <a:prstGeom prst="ellipse">
            <a:avLst/>
          </a:prstGeom>
          <a:solidFill>
            <a:srgbClr val="131313"/>
          </a:solidFill>
          <a:ln>
            <a:noFill/>
          </a:ln>
        </p:spPr>
        <p:txBody>
          <a:bodyPr/>
          <a:p/>
        </p:txBody>
      </p:sp>
      <p:sp>
        <p:nvSpPr>
          <p:cNvPr id="31" name="Text 29"/>
          <p:cNvSpPr/>
          <p:nvPr/>
        </p:nvSpPr>
        <p:spPr>
          <a:xfrm>
            <a:off x="859536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5</a:t>
            </a:r>
            <a:endParaRPr lang="en-US" sz="1800" dirty="0"/>
          </a:p>
        </p:txBody>
      </p:sp>
      <p:sp>
        <p:nvSpPr>
          <p:cNvPr id="32" name="Text 30"/>
          <p:cNvSpPr/>
          <p:nvPr/>
        </p:nvSpPr>
        <p:spPr>
          <a:xfrm>
            <a:off x="807720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First class booked</a:t>
            </a:r>
            <a:endParaRPr lang="en-US" sz="1300" dirty="0"/>
          </a:p>
        </p:txBody>
      </p:sp>
      <p:sp>
        <p:nvSpPr>
          <p:cNvPr id="33" name="Text 31"/>
          <p:cNvSpPr/>
          <p:nvPr/>
        </p:nvSpPr>
        <p:spPr>
          <a:xfrm>
            <a:off x="807720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Goal captured at intake. Coach assigned.</a:t>
            </a:r>
            <a:endParaRPr lang="en-US" sz="1000" dirty="0"/>
          </a:p>
        </p:txBody>
      </p:sp>
      <p:sp>
        <p:nvSpPr>
          <p:cNvPr id="34" name="Shape 32"/>
          <p:cNvSpPr/>
          <p:nvPr/>
        </p:nvSpPr>
        <p:spPr>
          <a:xfrm>
            <a:off x="9753600" y="3749040"/>
            <a:ext cx="91440" cy="0"/>
          </a:xfrm>
          <a:prstGeom prst="line">
            <a:avLst/>
          </a:prstGeom>
          <a:noFill/>
          <a:ln w="19050">
            <a:solidFill>
              <a:srgbClr val="A21E22"/>
            </a:solidFill>
            <a:prstDash val="solid"/>
            <a:tailEnd type="triangle"/>
          </a:ln>
        </p:spPr>
        <p:txBody>
          <a:bodyPr/>
          <a:p/>
        </p:txBody>
      </p:sp>
      <p:sp>
        <p:nvSpPr>
          <p:cNvPr id="35" name="Shape 33"/>
          <p:cNvSpPr/>
          <p:nvPr/>
        </p:nvSpPr>
        <p:spPr>
          <a:xfrm>
            <a:off x="9845040" y="2286000"/>
            <a:ext cx="1767840" cy="2926080"/>
          </a:xfrm>
          <a:prstGeom prst="rect">
            <a:avLst/>
          </a:prstGeom>
          <a:solidFill>
            <a:srgbClr val="FFFFFF"/>
          </a:solidFill>
          <a:ln w="9525">
            <a:solidFill>
              <a:srgbClr val="E5E7EB"/>
            </a:solidFill>
            <a:prstDash val="solid"/>
          </a:ln>
        </p:spPr>
        <p:txBody>
          <a:bodyPr/>
          <a:p/>
        </p:txBody>
      </p:sp>
      <p:sp>
        <p:nvSpPr>
          <p:cNvPr id="36" name="Shape 34"/>
          <p:cNvSpPr/>
          <p:nvPr/>
        </p:nvSpPr>
        <p:spPr>
          <a:xfrm>
            <a:off x="10454640" y="2514600"/>
            <a:ext cx="548640" cy="548640"/>
          </a:xfrm>
          <a:prstGeom prst="ellipse">
            <a:avLst/>
          </a:prstGeom>
          <a:solidFill>
            <a:srgbClr val="131313"/>
          </a:solidFill>
          <a:ln>
            <a:noFill/>
          </a:ln>
        </p:spPr>
        <p:txBody>
          <a:bodyPr/>
          <a:p/>
        </p:txBody>
      </p:sp>
      <p:sp>
        <p:nvSpPr>
          <p:cNvPr id="37" name="Text 35"/>
          <p:cNvSpPr/>
          <p:nvPr/>
        </p:nvSpPr>
        <p:spPr>
          <a:xfrm>
            <a:off x="10454640" y="2514600"/>
            <a:ext cx="548640" cy="548640"/>
          </a:xfrm>
          <a:prstGeom prst="rect">
            <a:avLst/>
          </a:prstGeom>
          <a:noFill/>
          <a:ln>
            <a:noFill/>
          </a:ln>
        </p:spPr>
        <p:txBody>
          <a:bodyPr wrap="square" lIns="0" tIns="0" rIns="0" bIns="0" rtlCol="0" anchor="ctr"/>
          <a:lstStyle/>
          <a:p>
            <a:pPr algn="ctr" indent="0" marL="0">
              <a:buNone/>
            </a:pPr>
            <a:r>
              <a:rPr lang="en-US" sz="1800" b="1" dirty="0">
                <a:solidFill>
                  <a:srgbClr val="A21E22"/>
                </a:solidFill>
                <a:latin typeface="Avenir Next Heavy" pitchFamily="34" charset="0"/>
                <a:ea typeface="Avenir Next Heavy" pitchFamily="34" charset="-122"/>
                <a:cs typeface="Avenir Next Heavy" pitchFamily="34" charset="-120"/>
              </a:rPr>
              <a:t>6</a:t>
            </a:r>
            <a:endParaRPr lang="en-US" sz="1800" dirty="0"/>
          </a:p>
        </p:txBody>
      </p:sp>
      <p:sp>
        <p:nvSpPr>
          <p:cNvPr id="38" name="Text 36"/>
          <p:cNvSpPr/>
          <p:nvPr/>
        </p:nvSpPr>
        <p:spPr>
          <a:xfrm>
            <a:off x="9936480" y="3246120"/>
            <a:ext cx="1584960" cy="640080"/>
          </a:xfrm>
          <a:prstGeom prst="rect">
            <a:avLst/>
          </a:prstGeom>
          <a:noFill/>
          <a:ln>
            <a:noFill/>
          </a:ln>
        </p:spPr>
        <p:txBody>
          <a:bodyPr wrap="square" lIns="0" tIns="0" rIns="0" bIns="0" rtlCol="0" anchor="t"/>
          <a:lstStyle/>
          <a:p>
            <a:pPr algn="ctr" indent="0" marL="0">
              <a:buNone/>
            </a:pPr>
            <a:r>
              <a:rPr lang="en-US" sz="1300" b="1" dirty="0">
                <a:solidFill>
                  <a:srgbClr val="131313"/>
                </a:solidFill>
                <a:latin typeface="Avenir Next Heavy" pitchFamily="34" charset="0"/>
                <a:ea typeface="Avenir Next Heavy" pitchFamily="34" charset="-122"/>
                <a:cs typeface="Avenir Next Heavy" pitchFamily="34" charset="-120"/>
              </a:rPr>
              <a:t>Member</a:t>
            </a:r>
            <a:endParaRPr lang="en-US" sz="1300" dirty="0"/>
          </a:p>
        </p:txBody>
      </p:sp>
      <p:sp>
        <p:nvSpPr>
          <p:cNvPr id="39" name="Text 37"/>
          <p:cNvSpPr/>
          <p:nvPr/>
        </p:nvSpPr>
        <p:spPr>
          <a:xfrm>
            <a:off x="9936480" y="3977640"/>
            <a:ext cx="1584960" cy="1097280"/>
          </a:xfrm>
          <a:prstGeom prst="rect">
            <a:avLst/>
          </a:prstGeom>
          <a:noFill/>
          <a:ln>
            <a:noFill/>
          </a:ln>
        </p:spPr>
        <p:txBody>
          <a:bodyPr wrap="square" lIns="0" tIns="0" rIns="0" bIns="0" rtlCol="0" anchor="t"/>
          <a:lstStyle/>
          <a:p>
            <a:pPr algn="ctr" indent="0" marL="0">
              <a:buNone/>
            </a:pPr>
            <a:r>
              <a:rPr lang="en-US" sz="1000" dirty="0">
                <a:solidFill>
                  <a:srgbClr val="6B7280"/>
                </a:solidFill>
                <a:latin typeface="Avenir Next" pitchFamily="34" charset="0"/>
                <a:ea typeface="Avenir Next" pitchFamily="34" charset="-122"/>
                <a:cs typeface="Avenir Next" pitchFamily="34" charset="-120"/>
              </a:rPr>
              <a:t>$149/mo. Card on file. 90-day review. Done.</a:t>
            </a:r>
            <a:endParaRPr lang="en-US" sz="1000" dirty="0"/>
          </a:p>
        </p:txBody>
      </p:sp>
      <p:sp>
        <p:nvSpPr>
          <p:cNvPr id="40" name="Text 38"/>
          <p:cNvSpPr/>
          <p:nvPr/>
        </p:nvSpPr>
        <p:spPr>
          <a:xfrm>
            <a:off x="548640" y="5486400"/>
            <a:ext cx="11064240" cy="548640"/>
          </a:xfrm>
          <a:prstGeom prst="rect">
            <a:avLst/>
          </a:prstGeom>
          <a:noFill/>
          <a:ln>
            <a:noFill/>
          </a:ln>
        </p:spPr>
        <p:txBody>
          <a:bodyPr wrap="square" lIns="0" tIns="0" rIns="0" bIns="0" rtlCol="0" anchor="ctr"/>
          <a:lstStyle/>
          <a:p>
            <a:pPr algn="ctr" indent="0" marL="0">
              <a:buNone/>
            </a:pPr>
            <a:r>
              <a:rPr lang="en-US" sz="1300" b="1" i="1" dirty="0">
                <a:solidFill>
                  <a:srgbClr val="131313"/>
                </a:solidFill>
                <a:latin typeface="Avenir Next" pitchFamily="34" charset="0"/>
                <a:ea typeface="Avenir Next" pitchFamily="34" charset="-122"/>
                <a:cs typeface="Avenir Next" pitchFamily="34" charset="-120"/>
              </a:rPr>
              <a:t>No exceptions. No special pricing on the spot. No “I'll check and get back to you.”  The system answers every time.</a:t>
            </a:r>
            <a:endParaRPr lang="en-US" sz="1300" dirty="0"/>
          </a:p>
        </p:txBody>
      </p:sp>
      <p:sp>
        <p:nvSpPr>
          <p:cNvPr id="41" name="Text 39"/>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19 / 22</a:t>
            </a:r>
            <a:endParaRPr lang="en-US" sz="900" dirty="0"/>
          </a:p>
        </p:txBody>
      </p:sp>
      <p:pic>
        <p:nvPicPr>
          <p:cNvPr id="42" name="Picture 41"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WHERE WE START</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The first 30 days — what gets done</a:t>
            </a:r>
            <a:endParaRPr lang="en-US" sz="2800" dirty="0"/>
          </a:p>
        </p:txBody>
      </p:sp>
      <p:sp>
        <p:nvSpPr>
          <p:cNvPr id="4" name="Shape 2"/>
          <p:cNvSpPr/>
          <p:nvPr/>
        </p:nvSpPr>
        <p:spPr>
          <a:xfrm>
            <a:off x="548640" y="1828800"/>
            <a:ext cx="2628900" cy="4206240"/>
          </a:xfrm>
          <a:prstGeom prst="rect">
            <a:avLst/>
          </a:prstGeom>
          <a:solidFill>
            <a:srgbClr val="F4F4F5"/>
          </a:solidFill>
          <a:ln>
            <a:noFill/>
          </a:ln>
        </p:spPr>
        <p:txBody>
          <a:bodyPr/>
          <a:p/>
        </p:txBody>
      </p:sp>
      <p:sp>
        <p:nvSpPr>
          <p:cNvPr id="5" name="Shape 3"/>
          <p:cNvSpPr/>
          <p:nvPr/>
        </p:nvSpPr>
        <p:spPr>
          <a:xfrm>
            <a:off x="548640" y="1828800"/>
            <a:ext cx="2628900" cy="457200"/>
          </a:xfrm>
          <a:prstGeom prst="rect">
            <a:avLst/>
          </a:prstGeom>
          <a:solidFill>
            <a:srgbClr val="131313"/>
          </a:solidFill>
          <a:ln>
            <a:noFill/>
          </a:ln>
        </p:spPr>
        <p:txBody>
          <a:bodyPr/>
          <a:p/>
        </p:txBody>
      </p:sp>
      <p:sp>
        <p:nvSpPr>
          <p:cNvPr id="6" name="Text 4"/>
          <p:cNvSpPr/>
          <p:nvPr/>
        </p:nvSpPr>
        <p:spPr>
          <a:xfrm>
            <a:off x="731520" y="1828800"/>
            <a:ext cx="2263140" cy="457200"/>
          </a:xfrm>
          <a:prstGeom prst="rect">
            <a:avLst/>
          </a:prstGeom>
          <a:noFill/>
          <a:ln>
            <a:noFill/>
          </a:ln>
        </p:spPr>
        <p:txBody>
          <a:bodyPr wrap="square" lIns="0" tIns="0" rIns="0" bIns="0" rtlCol="0" anchor="ctr"/>
          <a:lstStyle/>
          <a:p>
            <a:pPr indent="0" marL="0">
              <a:buNone/>
            </a:pPr>
            <a:r>
              <a:rPr lang="en-US" sz="1200" b="1" spc="300" kern="0" dirty="0">
                <a:solidFill>
                  <a:srgbClr val="A21E22"/>
                </a:solidFill>
                <a:latin typeface="Avenir Next Heavy" pitchFamily="34" charset="0"/>
                <a:ea typeface="Avenir Next Heavy" pitchFamily="34" charset="-122"/>
                <a:cs typeface="Avenir Next Heavy" pitchFamily="34" charset="-120"/>
              </a:rPr>
              <a:t>WEEK 1–2</a:t>
            </a:r>
            <a:endParaRPr lang="en-US" sz="1200" dirty="0"/>
          </a:p>
        </p:txBody>
      </p:sp>
      <p:sp>
        <p:nvSpPr>
          <p:cNvPr id="7" name="Text 5"/>
          <p:cNvSpPr/>
          <p:nvPr/>
        </p:nvSpPr>
        <p:spPr>
          <a:xfrm>
            <a:off x="777240" y="2468880"/>
            <a:ext cx="2217420" cy="3383280"/>
          </a:xfrm>
          <a:prstGeom prst="rect">
            <a:avLst/>
          </a:prstGeom>
          <a:noFill/>
          <a:ln>
            <a:noFill/>
          </a:ln>
        </p:spPr>
        <p:txBody>
          <a:bodyPr wrap="square" lIns="0" tIns="0" rIns="0" bIns="0" rtlCol="0" anchor="t"/>
          <a:lstStyle/>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Finalize WellnessLiving cleanup &amp; taxonomy</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Stand up weekly metrics dashboard</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Lock billing rules (card-on-file, monthly, no payment = no access)</a:t>
            </a:r>
            <a:endParaRPr lang="en-US" sz="1200" dirty="0"/>
          </a:p>
        </p:txBody>
      </p:sp>
      <p:sp>
        <p:nvSpPr>
          <p:cNvPr id="8" name="Shape 6"/>
          <p:cNvSpPr/>
          <p:nvPr/>
        </p:nvSpPr>
        <p:spPr>
          <a:xfrm>
            <a:off x="3360420" y="1828800"/>
            <a:ext cx="2628900" cy="4206240"/>
          </a:xfrm>
          <a:prstGeom prst="rect">
            <a:avLst/>
          </a:prstGeom>
          <a:solidFill>
            <a:srgbClr val="F4F4F5"/>
          </a:solidFill>
          <a:ln>
            <a:noFill/>
          </a:ln>
        </p:spPr>
        <p:txBody>
          <a:bodyPr/>
          <a:p/>
        </p:txBody>
      </p:sp>
      <p:sp>
        <p:nvSpPr>
          <p:cNvPr id="9" name="Shape 7"/>
          <p:cNvSpPr/>
          <p:nvPr/>
        </p:nvSpPr>
        <p:spPr>
          <a:xfrm>
            <a:off x="3360420" y="1828800"/>
            <a:ext cx="2628900" cy="457200"/>
          </a:xfrm>
          <a:prstGeom prst="rect">
            <a:avLst/>
          </a:prstGeom>
          <a:solidFill>
            <a:srgbClr val="131313"/>
          </a:solidFill>
          <a:ln>
            <a:noFill/>
          </a:ln>
        </p:spPr>
        <p:txBody>
          <a:bodyPr/>
          <a:p/>
        </p:txBody>
      </p:sp>
      <p:sp>
        <p:nvSpPr>
          <p:cNvPr id="10" name="Text 8"/>
          <p:cNvSpPr/>
          <p:nvPr/>
        </p:nvSpPr>
        <p:spPr>
          <a:xfrm>
            <a:off x="3543300" y="1828800"/>
            <a:ext cx="2263140" cy="457200"/>
          </a:xfrm>
          <a:prstGeom prst="rect">
            <a:avLst/>
          </a:prstGeom>
          <a:noFill/>
          <a:ln>
            <a:noFill/>
          </a:ln>
        </p:spPr>
        <p:txBody>
          <a:bodyPr wrap="square" lIns="0" tIns="0" rIns="0" bIns="0" rtlCol="0" anchor="ctr"/>
          <a:lstStyle/>
          <a:p>
            <a:pPr indent="0" marL="0">
              <a:buNone/>
            </a:pPr>
            <a:r>
              <a:rPr lang="en-US" sz="1200" b="1" spc="300" kern="0" dirty="0">
                <a:solidFill>
                  <a:srgbClr val="A21E22"/>
                </a:solidFill>
                <a:latin typeface="Avenir Next Heavy" pitchFamily="34" charset="0"/>
                <a:ea typeface="Avenir Next Heavy" pitchFamily="34" charset="-122"/>
                <a:cs typeface="Avenir Next Heavy" pitchFamily="34" charset="-120"/>
              </a:rPr>
              <a:t>WEEK 2–3</a:t>
            </a:r>
            <a:endParaRPr lang="en-US" sz="1200" dirty="0"/>
          </a:p>
        </p:txBody>
      </p:sp>
      <p:sp>
        <p:nvSpPr>
          <p:cNvPr id="11" name="Text 9"/>
          <p:cNvSpPr/>
          <p:nvPr/>
        </p:nvSpPr>
        <p:spPr>
          <a:xfrm>
            <a:off x="3589020" y="2468880"/>
            <a:ext cx="2217420" cy="3383280"/>
          </a:xfrm>
          <a:prstGeom prst="rect">
            <a:avLst/>
          </a:prstGeom>
          <a:noFill/>
          <a:ln>
            <a:noFill/>
          </a:ln>
        </p:spPr>
        <p:txBody>
          <a:bodyPr wrap="square" lIns="0" tIns="0" rIns="0" bIns="0" rtlCol="0" anchor="t"/>
          <a:lstStyle/>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Activate WellnessLiving Marketing Suite (or GHL)</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Wire Squarespace, IG, phone → CRM; fix email deliverability (stop hitting spam)</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Lead-nurture + missed-call SMS on a registered business line (off Google Voice; ~2–3 wk carrier approval) + web-form consent</a:t>
            </a:r>
            <a:endParaRPr lang="en-US" sz="1200" dirty="0"/>
          </a:p>
        </p:txBody>
      </p:sp>
      <p:sp>
        <p:nvSpPr>
          <p:cNvPr id="12" name="Shape 10"/>
          <p:cNvSpPr/>
          <p:nvPr/>
        </p:nvSpPr>
        <p:spPr>
          <a:xfrm>
            <a:off x="6172200" y="1828800"/>
            <a:ext cx="2628900" cy="4206240"/>
          </a:xfrm>
          <a:prstGeom prst="rect">
            <a:avLst/>
          </a:prstGeom>
          <a:solidFill>
            <a:srgbClr val="F4F4F5"/>
          </a:solidFill>
          <a:ln>
            <a:noFill/>
          </a:ln>
        </p:spPr>
        <p:txBody>
          <a:bodyPr/>
          <a:p/>
        </p:txBody>
      </p:sp>
      <p:sp>
        <p:nvSpPr>
          <p:cNvPr id="13" name="Shape 11"/>
          <p:cNvSpPr/>
          <p:nvPr/>
        </p:nvSpPr>
        <p:spPr>
          <a:xfrm>
            <a:off x="6172200" y="1828800"/>
            <a:ext cx="2628900" cy="457200"/>
          </a:xfrm>
          <a:prstGeom prst="rect">
            <a:avLst/>
          </a:prstGeom>
          <a:solidFill>
            <a:srgbClr val="131313"/>
          </a:solidFill>
          <a:ln>
            <a:noFill/>
          </a:ln>
        </p:spPr>
        <p:txBody>
          <a:bodyPr/>
          <a:p/>
        </p:txBody>
      </p:sp>
      <p:sp>
        <p:nvSpPr>
          <p:cNvPr id="14" name="Text 12"/>
          <p:cNvSpPr/>
          <p:nvPr/>
        </p:nvSpPr>
        <p:spPr>
          <a:xfrm>
            <a:off x="6355080" y="1828800"/>
            <a:ext cx="2263140" cy="457200"/>
          </a:xfrm>
          <a:prstGeom prst="rect">
            <a:avLst/>
          </a:prstGeom>
          <a:noFill/>
          <a:ln>
            <a:noFill/>
          </a:ln>
        </p:spPr>
        <p:txBody>
          <a:bodyPr wrap="square" lIns="0" tIns="0" rIns="0" bIns="0" rtlCol="0" anchor="ctr"/>
          <a:lstStyle/>
          <a:p>
            <a:pPr indent="0" marL="0">
              <a:buNone/>
            </a:pPr>
            <a:r>
              <a:rPr lang="en-US" sz="1200" b="1" spc="300" kern="0" dirty="0">
                <a:solidFill>
                  <a:srgbClr val="A21E22"/>
                </a:solidFill>
                <a:latin typeface="Avenir Next Heavy" pitchFamily="34" charset="0"/>
                <a:ea typeface="Avenir Next Heavy" pitchFamily="34" charset="-122"/>
                <a:cs typeface="Avenir Next Heavy" pitchFamily="34" charset="-120"/>
              </a:rPr>
              <a:t>WEEK 3–4</a:t>
            </a:r>
            <a:endParaRPr lang="en-US" sz="1200" dirty="0"/>
          </a:p>
        </p:txBody>
      </p:sp>
      <p:sp>
        <p:nvSpPr>
          <p:cNvPr id="15" name="Text 13"/>
          <p:cNvSpPr/>
          <p:nvPr/>
        </p:nvSpPr>
        <p:spPr>
          <a:xfrm>
            <a:off x="6400800" y="2468880"/>
            <a:ext cx="2217420" cy="3383280"/>
          </a:xfrm>
          <a:prstGeom prst="rect">
            <a:avLst/>
          </a:prstGeom>
          <a:noFill/>
          <a:ln>
            <a:noFill/>
          </a:ln>
        </p:spPr>
        <p:txBody>
          <a:bodyPr wrap="square" lIns="0" tIns="0" rIns="0" bIns="0" rtlCol="0" anchor="t"/>
          <a:lstStyle/>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Website quick wins: AI-search access, schema, llms.txt</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Rebuild link-in-bio (one tap → CTA)</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Write avatar + brand voice doc (1 page each)</a:t>
            </a:r>
            <a:endParaRPr lang="en-US" sz="1200" dirty="0"/>
          </a:p>
        </p:txBody>
      </p:sp>
      <p:sp>
        <p:nvSpPr>
          <p:cNvPr id="16" name="Shape 14"/>
          <p:cNvSpPr/>
          <p:nvPr/>
        </p:nvSpPr>
        <p:spPr>
          <a:xfrm>
            <a:off x="8983980" y="1828800"/>
            <a:ext cx="2628900" cy="4206240"/>
          </a:xfrm>
          <a:prstGeom prst="rect">
            <a:avLst/>
          </a:prstGeom>
          <a:solidFill>
            <a:srgbClr val="F4F4F5"/>
          </a:solidFill>
          <a:ln>
            <a:noFill/>
          </a:ln>
        </p:spPr>
        <p:txBody>
          <a:bodyPr/>
          <a:p/>
        </p:txBody>
      </p:sp>
      <p:sp>
        <p:nvSpPr>
          <p:cNvPr id="17" name="Shape 15"/>
          <p:cNvSpPr/>
          <p:nvPr/>
        </p:nvSpPr>
        <p:spPr>
          <a:xfrm>
            <a:off x="8983980" y="1828800"/>
            <a:ext cx="2628900" cy="457200"/>
          </a:xfrm>
          <a:prstGeom prst="rect">
            <a:avLst/>
          </a:prstGeom>
          <a:solidFill>
            <a:srgbClr val="131313"/>
          </a:solidFill>
          <a:ln>
            <a:noFill/>
          </a:ln>
        </p:spPr>
        <p:txBody>
          <a:bodyPr/>
          <a:p/>
        </p:txBody>
      </p:sp>
      <p:sp>
        <p:nvSpPr>
          <p:cNvPr id="18" name="Text 16"/>
          <p:cNvSpPr/>
          <p:nvPr/>
        </p:nvSpPr>
        <p:spPr>
          <a:xfrm>
            <a:off x="9166860" y="1828800"/>
            <a:ext cx="2263140" cy="457200"/>
          </a:xfrm>
          <a:prstGeom prst="rect">
            <a:avLst/>
          </a:prstGeom>
          <a:noFill/>
          <a:ln>
            <a:noFill/>
          </a:ln>
        </p:spPr>
        <p:txBody>
          <a:bodyPr wrap="square" lIns="0" tIns="0" rIns="0" bIns="0" rtlCol="0" anchor="ctr"/>
          <a:lstStyle/>
          <a:p>
            <a:pPr indent="0" marL="0">
              <a:buNone/>
            </a:pPr>
            <a:r>
              <a:rPr lang="en-US" sz="1200" b="1" spc="300" kern="0" dirty="0">
                <a:solidFill>
                  <a:srgbClr val="A21E22"/>
                </a:solidFill>
                <a:latin typeface="Avenir Next Heavy" pitchFamily="34" charset="0"/>
                <a:ea typeface="Avenir Next Heavy" pitchFamily="34" charset="-122"/>
                <a:cs typeface="Avenir Next Heavy" pitchFamily="34" charset="-120"/>
              </a:rPr>
              <a:t>WEEK 4</a:t>
            </a:r>
            <a:endParaRPr lang="en-US" sz="1200" dirty="0"/>
          </a:p>
        </p:txBody>
      </p:sp>
      <p:sp>
        <p:nvSpPr>
          <p:cNvPr id="19" name="Text 17"/>
          <p:cNvSpPr/>
          <p:nvPr/>
        </p:nvSpPr>
        <p:spPr>
          <a:xfrm>
            <a:off x="9212580" y="2468880"/>
            <a:ext cx="2217420" cy="3383280"/>
          </a:xfrm>
          <a:prstGeom prst="rect">
            <a:avLst/>
          </a:prstGeom>
          <a:noFill/>
          <a:ln>
            <a:noFill/>
          </a:ln>
        </p:spPr>
        <p:txBody>
          <a:bodyPr wrap="square" lIns="0" tIns="0" rIns="0" bIns="0" rtlCol="0" anchor="t"/>
          <a:lstStyle/>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Record first 4 content pillars with Dom + Jordan</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Launch weekly member spotlight series</a:t>
            </a:r>
            <a:endParaRPr lang="en-US" sz="1200" dirty="0"/>
          </a:p>
          <a:p>
            <a:pPr marL="342900" indent="-342900">
              <a:spcAft>
                <a:spcPts val="600"/>
              </a:spcAft>
              <a:buSzPct val="100000"/>
              <a:buChar char="•"/>
            </a:pPr>
            <a:r>
              <a:rPr lang="en-US" sz="1200" dirty="0">
                <a:solidFill>
                  <a:srgbClr val="131313"/>
                </a:solidFill>
                <a:latin typeface="Avenir Next" pitchFamily="34" charset="0"/>
                <a:ea typeface="Avenir Next" pitchFamily="34" charset="-122"/>
                <a:cs typeface="Avenir Next" pitchFamily="34" charset="-120"/>
              </a:rPr>
              <a:t>First monthly review: what's working, what shifts</a:t>
            </a:r>
            <a:endParaRPr lang="en-US" sz="1200" dirty="0"/>
          </a:p>
        </p:txBody>
      </p:sp>
      <p:sp>
        <p:nvSpPr>
          <p:cNvPr id="20" name="Text 18"/>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20 / 22</a:t>
            </a:r>
            <a:endParaRPr lang="en-US" sz="900" dirty="0"/>
          </a:p>
        </p:txBody>
      </p:sp>
      <p:pic>
        <p:nvPicPr>
          <p:cNvPr id="21" name="Picture 20"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pitchFamily="34" charset="0"/>
                <a:ea typeface="Avenir Next" pitchFamily="34" charset="-122"/>
                <a:cs typeface="Avenir Next" pitchFamily="34" charset="-120"/>
              </a:rPr>
              <a:t>WHERE I FIT</a:t>
            </a:r>
            <a:endParaRPr lang="en-US" sz="1100" dirty="0"/>
          </a:p>
        </p:txBody>
      </p:sp>
      <p:sp>
        <p:nvSpPr>
          <p:cNvPr id="3" name="Text 1"/>
          <p:cNvSpPr/>
          <p:nvPr/>
        </p:nvSpPr>
        <p:spPr>
          <a:xfrm>
            <a:off x="548640" y="658368"/>
            <a:ext cx="11064240" cy="868680"/>
          </a:xfrm>
          <a:prstGeom prst="rect">
            <a:avLst/>
          </a:prstGeom>
          <a:noFill/>
          <a:ln>
            <a:noFill/>
          </a:ln>
        </p:spPr>
        <p:txBody>
          <a:bodyPr wrap="square" lIns="0" tIns="0" rIns="0" bIns="0" rtlCol="0" anchor="t"/>
          <a:lstStyle/>
          <a:p>
            <a:pPr indent="0" marL="0">
              <a:buNone/>
            </a:pPr>
            <a:r>
              <a:rPr lang="en-US" sz="2800" b="1" dirty="0">
                <a:solidFill>
                  <a:srgbClr val="131313"/>
                </a:solidFill>
                <a:latin typeface="Avenir Next Heavy" pitchFamily="34" charset="0"/>
                <a:ea typeface="Avenir Next Heavy" pitchFamily="34" charset="-122"/>
                <a:cs typeface="Avenir Next Heavy" pitchFamily="34" charset="-120"/>
              </a:rPr>
              <a:t>Operator, not agency</a:t>
            </a:r>
            <a:endParaRPr lang="en-US" sz="2800" dirty="0"/>
          </a:p>
        </p:txBody>
      </p:sp>
      <p:sp>
        <p:nvSpPr>
          <p:cNvPr id="4" name="Shape 2"/>
          <p:cNvSpPr/>
          <p:nvPr/>
        </p:nvSpPr>
        <p:spPr>
          <a:xfrm>
            <a:off x="548640" y="1828800"/>
            <a:ext cx="5029200" cy="4389120"/>
          </a:xfrm>
          <a:prstGeom prst="rect">
            <a:avLst/>
          </a:prstGeom>
          <a:solidFill>
            <a:srgbClr val="131313"/>
          </a:solidFill>
          <a:ln>
            <a:noFill/>
          </a:ln>
        </p:spPr>
        <p:txBody>
          <a:bodyPr/>
          <a:p/>
        </p:txBody>
      </p:sp>
      <p:sp>
        <p:nvSpPr>
          <p:cNvPr id="5" name="Text 3"/>
          <p:cNvSpPr/>
          <p:nvPr/>
        </p:nvSpPr>
        <p:spPr>
          <a:xfrm>
            <a:off x="822960" y="2011680"/>
            <a:ext cx="457200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THE DIFFERENCE</a:t>
            </a:r>
            <a:endParaRPr lang="en-US" sz="1100" dirty="0"/>
          </a:p>
        </p:txBody>
      </p:sp>
      <p:sp>
        <p:nvSpPr>
          <p:cNvPr id="6" name="Text 4"/>
          <p:cNvSpPr/>
          <p:nvPr/>
        </p:nvSpPr>
        <p:spPr>
          <a:xfrm>
            <a:off x="822960" y="2331720"/>
            <a:ext cx="4572000" cy="548640"/>
          </a:xfrm>
          <a:prstGeom prst="rect">
            <a:avLst/>
          </a:prstGeom>
          <a:noFill/>
          <a:ln>
            <a:noFill/>
          </a:ln>
        </p:spPr>
        <p:txBody>
          <a:bodyPr wrap="square" lIns="0" tIns="0" rIns="0" bIns="0" rtlCol="0" anchor="t"/>
          <a:lstStyle/>
          <a:p>
            <a:pPr indent="0" marL="0">
              <a:buNone/>
            </a:pPr>
            <a:r>
              <a:rPr lang="en-US" sz="2200" b="1" dirty="0">
                <a:solidFill>
                  <a:srgbClr val="FFFFFF"/>
                </a:solidFill>
                <a:latin typeface="Avenir Next Heavy" pitchFamily="34" charset="0"/>
                <a:ea typeface="Avenir Next Heavy" pitchFamily="34" charset="-122"/>
                <a:cs typeface="Avenir Next Heavy" pitchFamily="34" charset="-120"/>
              </a:rPr>
              <a:t>You don't need another agency.</a:t>
            </a:r>
            <a:endParaRPr lang="en-US" sz="2200" dirty="0"/>
          </a:p>
        </p:txBody>
      </p:sp>
      <p:sp>
        <p:nvSpPr>
          <p:cNvPr id="7" name="Text 5"/>
          <p:cNvSpPr/>
          <p:nvPr/>
        </p:nvSpPr>
        <p:spPr>
          <a:xfrm>
            <a:off x="822960" y="3108960"/>
            <a:ext cx="4572000" cy="1828800"/>
          </a:xfrm>
          <a:prstGeom prst="rect">
            <a:avLst/>
          </a:prstGeom>
          <a:noFill/>
          <a:ln>
            <a:noFill/>
          </a:ln>
        </p:spPr>
        <p:txBody>
          <a:bodyPr wrap="square" lIns="0" tIns="0" rIns="0" bIns="0" rtlCol="0" anchor="t"/>
          <a:lstStyle/>
          <a:p>
            <a:pPr indent="0" marL="0">
              <a:buNone/>
            </a:pPr>
            <a:r>
              <a:rPr lang="en-US" sz="1400" dirty="0">
                <a:solidFill>
                  <a:srgbClr val="D1D5DB"/>
                </a:solidFill>
                <a:latin typeface="Avenir Next" pitchFamily="34" charset="0"/>
                <a:ea typeface="Avenir Next" pitchFamily="34" charset="-122"/>
                <a:cs typeface="Avenir Next" pitchFamily="34" charset="-120"/>
              </a:rPr>
              <a:t>You need an operator who knows your stack, can wire it up, can ship content with you, and thinks about the business — not someone running templated Facebook ads on a leaky funnel.</a:t>
            </a:r>
            <a:endParaRPr lang="en-US" sz="1400" dirty="0"/>
          </a:p>
        </p:txBody>
      </p:sp>
      <p:sp>
        <p:nvSpPr>
          <p:cNvPr id="8" name="Text 6"/>
          <p:cNvSpPr/>
          <p:nvPr/>
        </p:nvSpPr>
        <p:spPr>
          <a:xfrm>
            <a:off x="822960" y="5212080"/>
            <a:ext cx="4572000" cy="822960"/>
          </a:xfrm>
          <a:prstGeom prst="rect">
            <a:avLst/>
          </a:prstGeom>
          <a:noFill/>
          <a:ln>
            <a:noFill/>
          </a:ln>
        </p:spPr>
        <p:txBody>
          <a:bodyPr wrap="square" lIns="0" tIns="0" rIns="0" bIns="0" rtlCol="0" anchor="t"/>
          <a:lstStyle/>
          <a:p>
            <a:pPr indent="0" marL="0">
              <a:buNone/>
            </a:pPr>
            <a:r>
              <a:rPr lang="en-US" sz="1300" b="1" i="1" dirty="0">
                <a:solidFill>
                  <a:srgbClr val="A21E22"/>
                </a:solidFill>
                <a:latin typeface="Avenir Next" pitchFamily="34" charset="0"/>
                <a:ea typeface="Avenir Next" pitchFamily="34" charset="-122"/>
                <a:cs typeface="Avenir Next" pitchFamily="34" charset="-120"/>
              </a:rPr>
              <a:t>That's the difference between the last agency and this engagement.</a:t>
            </a:r>
            <a:endParaRPr lang="en-US" sz="1300" dirty="0"/>
          </a:p>
        </p:txBody>
      </p:sp>
      <p:sp>
        <p:nvSpPr>
          <p:cNvPr id="9" name="Text 7"/>
          <p:cNvSpPr/>
          <p:nvPr/>
        </p:nvSpPr>
        <p:spPr>
          <a:xfrm>
            <a:off x="5852160" y="1828800"/>
            <a:ext cx="5852160" cy="274320"/>
          </a:xfrm>
          <a:prstGeom prst="rect">
            <a:avLst/>
          </a:prstGeom>
          <a:noFill/>
          <a:ln>
            <a:noFill/>
          </a:ln>
        </p:spPr>
        <p:txBody>
          <a:bodyPr wrap="square" lIns="0" tIns="0" rIns="0" bIns="0" rtlCol="0" anchor="ctr"/>
          <a:lstStyle/>
          <a:p>
            <a:pPr indent="0" marL="0">
              <a:buNone/>
            </a:pPr>
            <a:r>
              <a:rPr lang="en-US" sz="1100" b="1" spc="400" kern="0" dirty="0">
                <a:solidFill>
                  <a:srgbClr val="A21E22"/>
                </a:solidFill>
                <a:latin typeface="Avenir Next Heavy" pitchFamily="34" charset="0"/>
                <a:ea typeface="Avenir Next Heavy" pitchFamily="34" charset="-122"/>
                <a:cs typeface="Avenir Next Heavy" pitchFamily="34" charset="-120"/>
              </a:rPr>
              <a:t>60–90 DAY DELIVERABLES</a:t>
            </a:r>
            <a:endParaRPr lang="en-US" sz="1100" dirty="0"/>
          </a:p>
        </p:txBody>
      </p:sp>
      <p:sp>
        <p:nvSpPr>
          <p:cNvPr id="10" name="Text 8"/>
          <p:cNvSpPr/>
          <p:nvPr/>
        </p:nvSpPr>
        <p:spPr>
          <a:xfrm>
            <a:off x="5852160" y="2194560"/>
            <a:ext cx="5852160" cy="4023360"/>
          </a:xfrm>
          <a:prstGeom prst="rect">
            <a:avLst/>
          </a:prstGeom>
          <a:noFill/>
          <a:ln>
            <a:noFill/>
          </a:ln>
        </p:spPr>
        <p:txBody>
          <a:bodyPr wrap="square" lIns="0" tIns="0" rIns="0" bIns="0" rtlCol="0" anchor="t"/>
          <a:lstStyle/>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WellnessLiving cleanup + reporting dashboards</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Marketing Suite / GHL setup + 3 lifecycle automations</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Channel unification (Squarespace, IG, phone → CRM)</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Website AI-readiness (schema, AI-search access, llms.txt)</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Avatar + brand voice doc + lead qualification flow</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Content pyramid pipeline — pillar capture → multi-channel slicing</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Weekly member spotlight production system</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Customer feedback aggregation with AI summaries</a:t>
            </a:r>
            <a:endParaRPr lang="en-US" sz="1300" dirty="0"/>
          </a:p>
          <a:p>
            <a:pPr marL="342900" indent="-342900">
              <a:spcAft>
                <a:spcPts val="500"/>
              </a:spcAft>
              <a:buSzPct val="100000"/>
              <a:buChar char="•"/>
            </a:pPr>
            <a:r>
              <a:rPr lang="en-US" sz="1300" dirty="0">
                <a:solidFill>
                  <a:srgbClr val="131313"/>
                </a:solidFill>
                <a:latin typeface="Avenir Next" pitchFamily="34" charset="0"/>
                <a:ea typeface="Avenir Next" pitchFamily="34" charset="-122"/>
                <a:cs typeface="Avenir Next" pitchFamily="34" charset="-120"/>
              </a:rPr>
              <a:t>Monthly strategy review with Dom</a:t>
            </a:r>
            <a:endParaRPr lang="en-US" sz="1300" dirty="0"/>
          </a:p>
        </p:txBody>
      </p:sp>
      <p:sp>
        <p:nvSpPr>
          <p:cNvPr id="11" name="Text 9"/>
          <p:cNvSpPr/>
          <p:nvPr/>
        </p:nvSpPr>
        <p:spPr>
          <a:xfrm>
            <a:off x="10698480" y="6492240"/>
            <a:ext cx="914400" cy="228600"/>
          </a:xfrm>
          <a:prstGeom prst="rect">
            <a:avLst/>
          </a:prstGeom>
          <a:noFill/>
          <a:ln>
            <a:noFill/>
          </a:ln>
        </p:spPr>
        <p:txBody>
          <a:bodyPr wrap="square" lIns="0" tIns="0" rIns="0" bIns="0" rtlCol="0" anchor="ctr"/>
          <a:lstStyle/>
          <a:p>
            <a:pPr algn="r" indent="0" marL="0">
              <a:buNone/>
            </a:pPr>
            <a:r>
              <a:rPr lang="en-US" sz="900" dirty="0">
                <a:solidFill>
                  <a:srgbClr val="6B7280"/>
                </a:solidFill>
                <a:latin typeface="Avenir Next" pitchFamily="34" charset="0"/>
                <a:ea typeface="Avenir Next" pitchFamily="34" charset="-122"/>
                <a:cs typeface="Avenir Next" pitchFamily="34" charset="-120"/>
              </a:rPr>
              <a:t>21 / 22</a:t>
            </a:r>
            <a:endParaRPr lang="en-US" sz="900" dirty="0"/>
          </a:p>
        </p:txBody>
      </p:sp>
      <p:pic>
        <p:nvPicPr>
          <p:cNvPr id="12" name="Picture 11" descr="logo-ink-red.png"/>
          <p:cNvPicPr>
            <a:picLocks noChangeAspect="1"/>
          </p:cNvPicPr>
          <p:nvPr/>
        </p:nvPicPr>
        <p:blipFill>
          <a:blip r:embed="rId3"/>
          <a:stretch>
            <a:fillRect/>
          </a:stretch>
        </p:blipFill>
        <p:spPr>
          <a:xfrm>
            <a:off x="502920" y="6327648"/>
            <a:ext cx="460690" cy="4023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1313"/>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A21E22"/>
          </a:solidFill>
          <a:ln>
            <a:noFill/>
          </a:ln>
        </p:spPr>
        <p:txBody>
          <a:bodyPr/>
          <a:p/>
        </p:txBody>
      </p:sp>
      <p:sp>
        <p:nvSpPr>
          <p:cNvPr id="3" name="Text 1"/>
          <p:cNvSpPr/>
          <p:nvPr/>
        </p:nvSpPr>
        <p:spPr>
          <a:xfrm>
            <a:off x="731520" y="1371600"/>
            <a:ext cx="10972800" cy="365760"/>
          </a:xfrm>
          <a:prstGeom prst="rect">
            <a:avLst/>
          </a:prstGeom>
          <a:noFill/>
          <a:ln>
            <a:noFill/>
          </a:ln>
        </p:spPr>
        <p:txBody>
          <a:bodyPr wrap="square" lIns="0" tIns="0" rIns="0" bIns="0" rtlCol="0" anchor="ctr"/>
          <a:lstStyle/>
          <a:p>
            <a:pPr indent="0" marL="0">
              <a:buNone/>
            </a:pPr>
            <a:r>
              <a:rPr lang="en-US" sz="1200" b="1" spc="600" kern="0" dirty="0">
                <a:solidFill>
                  <a:srgbClr val="A21E22"/>
                </a:solidFill>
                <a:latin typeface="Avenir Next" pitchFamily="34" charset="0"/>
                <a:ea typeface="Avenir Next" pitchFamily="34" charset="-122"/>
                <a:cs typeface="Avenir Next" pitchFamily="34" charset="-120"/>
              </a:rPr>
              <a:t>THE SUMMARY</a:t>
            </a:r>
            <a:endParaRPr lang="en-US" sz="1200" dirty="0"/>
          </a:p>
        </p:txBody>
      </p:sp>
      <p:sp>
        <p:nvSpPr>
          <p:cNvPr id="4" name="Text 2"/>
          <p:cNvSpPr/>
          <p:nvPr/>
        </p:nvSpPr>
        <p:spPr>
          <a:xfrm>
            <a:off x="731520" y="1828800"/>
            <a:ext cx="10972800" cy="777240"/>
          </a:xfrm>
          <a:prstGeom prst="rect">
            <a:avLst/>
          </a:prstGeom>
          <a:noFill/>
          <a:ln>
            <a:noFill/>
          </a:ln>
        </p:spPr>
        <p:txBody>
          <a:bodyPr wrap="square" lIns="0" tIns="0" rIns="0" bIns="0" rtlCol="0" anchor="ctr"/>
          <a:lstStyle/>
          <a:p>
            <a:pPr indent="0" marL="0">
              <a:buNone/>
            </a:pPr>
            <a:r>
              <a:rPr lang="en-US" sz="4400" b="1" dirty="0">
                <a:solidFill>
                  <a:srgbClr val="FFFFFF"/>
                </a:solidFill>
                <a:latin typeface="Avenir Next Heavy" pitchFamily="34" charset="0"/>
                <a:ea typeface="Avenir Next Heavy" pitchFamily="34" charset="-122"/>
                <a:cs typeface="Avenir Next Heavy" pitchFamily="34" charset="-120"/>
              </a:rPr>
              <a:t>Operations first.</a:t>
            </a:r>
            <a:endParaRPr lang="en-US" sz="4400" dirty="0"/>
          </a:p>
        </p:txBody>
      </p:sp>
      <p:sp>
        <p:nvSpPr>
          <p:cNvPr id="5" name="Text 3"/>
          <p:cNvSpPr/>
          <p:nvPr/>
        </p:nvSpPr>
        <p:spPr>
          <a:xfrm>
            <a:off x="731520" y="2606040"/>
            <a:ext cx="10972800" cy="777240"/>
          </a:xfrm>
          <a:prstGeom prst="rect">
            <a:avLst/>
          </a:prstGeom>
          <a:noFill/>
          <a:ln>
            <a:noFill/>
          </a:ln>
        </p:spPr>
        <p:txBody>
          <a:bodyPr wrap="square" lIns="0" tIns="0" rIns="0" bIns="0" rtlCol="0" anchor="ctr"/>
          <a:lstStyle/>
          <a:p>
            <a:pPr indent="0" marL="0">
              <a:buNone/>
            </a:pPr>
            <a:r>
              <a:rPr lang="en-US" sz="4400" b="1" dirty="0">
                <a:solidFill>
                  <a:srgbClr val="FFFFFF"/>
                </a:solidFill>
                <a:latin typeface="Avenir Next Heavy" pitchFamily="34" charset="0"/>
                <a:ea typeface="Avenir Next Heavy" pitchFamily="34" charset="-122"/>
                <a:cs typeface="Avenir Next Heavy" pitchFamily="34" charset="-120"/>
              </a:rPr>
              <a:t>Plumbing second.</a:t>
            </a:r>
            <a:endParaRPr lang="en-US" sz="4400" dirty="0"/>
          </a:p>
        </p:txBody>
      </p:sp>
      <p:sp>
        <p:nvSpPr>
          <p:cNvPr id="6" name="Text 4"/>
          <p:cNvSpPr/>
          <p:nvPr/>
        </p:nvSpPr>
        <p:spPr>
          <a:xfrm>
            <a:off x="731520" y="3383280"/>
            <a:ext cx="10972800" cy="777240"/>
          </a:xfrm>
          <a:prstGeom prst="rect">
            <a:avLst/>
          </a:prstGeom>
          <a:noFill/>
          <a:ln>
            <a:noFill/>
          </a:ln>
        </p:spPr>
        <p:txBody>
          <a:bodyPr wrap="square" lIns="0" tIns="0" rIns="0" bIns="0" rtlCol="0" anchor="ctr"/>
          <a:lstStyle/>
          <a:p>
            <a:pPr indent="0" marL="0">
              <a:buNone/>
            </a:pPr>
            <a:r>
              <a:rPr lang="en-US" sz="4400" b="1" dirty="0">
                <a:solidFill>
                  <a:srgbClr val="FFFFFF"/>
                </a:solidFill>
                <a:latin typeface="Avenir Next Heavy" pitchFamily="34" charset="0"/>
                <a:ea typeface="Avenir Next Heavy" pitchFamily="34" charset="-122"/>
                <a:cs typeface="Avenir Next Heavy" pitchFamily="34" charset="-120"/>
              </a:rPr>
              <a:t>Identity third.</a:t>
            </a:r>
            <a:endParaRPr lang="en-US" sz="4400" dirty="0"/>
          </a:p>
        </p:txBody>
      </p:sp>
      <p:sp>
        <p:nvSpPr>
          <p:cNvPr id="7" name="Text 5"/>
          <p:cNvSpPr/>
          <p:nvPr/>
        </p:nvSpPr>
        <p:spPr>
          <a:xfrm>
            <a:off x="731520" y="4160520"/>
            <a:ext cx="10972800" cy="777240"/>
          </a:xfrm>
          <a:prstGeom prst="rect">
            <a:avLst/>
          </a:prstGeom>
          <a:noFill/>
          <a:ln>
            <a:noFill/>
          </a:ln>
        </p:spPr>
        <p:txBody>
          <a:bodyPr wrap="square" lIns="0" tIns="0" rIns="0" bIns="0" rtlCol="0" anchor="ctr"/>
          <a:lstStyle/>
          <a:p>
            <a:pPr indent="0" marL="0">
              <a:buNone/>
            </a:pPr>
            <a:r>
              <a:rPr lang="en-US" sz="4400" b="1" dirty="0">
                <a:solidFill>
                  <a:srgbClr val="A21E22"/>
                </a:solidFill>
                <a:latin typeface="Avenir Next Heavy" pitchFamily="34" charset="0"/>
                <a:ea typeface="Avenir Next Heavy" pitchFamily="34" charset="-122"/>
                <a:cs typeface="Avenir Next Heavy" pitchFamily="34" charset="-120"/>
              </a:rPr>
              <a:t>Acceleration last.</a:t>
            </a:r>
            <a:endParaRPr lang="en-US" sz="4400" dirty="0"/>
          </a:p>
        </p:txBody>
      </p:sp>
      <p:sp>
        <p:nvSpPr>
          <p:cNvPr id="8" name="Shape 6"/>
          <p:cNvSpPr/>
          <p:nvPr/>
        </p:nvSpPr>
        <p:spPr>
          <a:xfrm>
            <a:off x="731520" y="5166360"/>
            <a:ext cx="2743200" cy="0"/>
          </a:xfrm>
          <a:prstGeom prst="line">
            <a:avLst/>
          </a:prstGeom>
          <a:noFill/>
          <a:ln w="38100">
            <a:solidFill>
              <a:srgbClr val="A21E22"/>
            </a:solidFill>
            <a:prstDash val="solid"/>
          </a:ln>
        </p:spPr>
        <p:txBody>
          <a:bodyPr/>
          <a:p/>
        </p:txBody>
      </p:sp>
      <p:sp>
        <p:nvSpPr>
          <p:cNvPr id="9" name="Text 7"/>
          <p:cNvSpPr/>
          <p:nvPr/>
        </p:nvSpPr>
        <p:spPr>
          <a:xfrm>
            <a:off x="731520" y="5349240"/>
            <a:ext cx="10972800" cy="822960"/>
          </a:xfrm>
          <a:prstGeom prst="rect">
            <a:avLst/>
          </a:prstGeom>
          <a:noFill/>
          <a:ln>
            <a:noFill/>
          </a:ln>
        </p:spPr>
        <p:txBody>
          <a:bodyPr wrap="square" lIns="0" tIns="0" rIns="0" bIns="0" rtlCol="0" anchor="t"/>
          <a:lstStyle/>
          <a:p>
            <a:pPr indent="0" marL="0">
              <a:buNone/>
            </a:pPr>
            <a:r>
              <a:rPr lang="en-US" sz="1600" i="1" dirty="0">
                <a:solidFill>
                  <a:srgbClr val="D1D5DB"/>
                </a:solidFill>
                <a:latin typeface="Avenir Next" pitchFamily="34" charset="0"/>
                <a:ea typeface="Avenir Next" pitchFamily="34" charset="-122"/>
                <a:cs typeface="Avenir Next" pitchFamily="34" charset="-120"/>
              </a:rPr>
              <a:t>Let's get on a call. I'll show you the WellnessLiving cleanup approach and the first 4 content pillars I'd record with you and Jordan.</a:t>
            </a:r>
            <a:endParaRPr lang="en-US" sz="1600" dirty="0"/>
          </a:p>
        </p:txBody>
      </p:sp>
      <p:sp>
        <p:nvSpPr>
          <p:cNvPr id="10" name="Text 8"/>
          <p:cNvSpPr/>
          <p:nvPr/>
        </p:nvSpPr>
        <p:spPr>
          <a:xfrm>
            <a:off x="731520" y="6172200"/>
            <a:ext cx="7315200" cy="320040"/>
          </a:xfrm>
          <a:prstGeom prst="rect">
            <a:avLst/>
          </a:prstGeom>
          <a:noFill/>
          <a:ln>
            <a:noFill/>
          </a:ln>
        </p:spPr>
        <p:txBody>
          <a:bodyPr wrap="square" lIns="0" tIns="0" rIns="0" bIns="0" rtlCol="0" anchor="ctr"/>
          <a:lstStyle/>
          <a:p>
            <a:pPr indent="0" marL="0">
              <a:buNone/>
            </a:pPr>
            <a:r>
              <a:rPr lang="en-US" sz="1400" b="1" dirty="0">
                <a:solidFill>
                  <a:srgbClr val="FFFFFF"/>
                </a:solidFill>
                <a:latin typeface="Avenir Next Heavy" pitchFamily="34" charset="0"/>
                <a:ea typeface="Avenir Next Heavy" pitchFamily="34" charset="-122"/>
                <a:cs typeface="Avenir Next Heavy" pitchFamily="34" charset="-120"/>
              </a:rPr>
              <a:t>— Sameer</a:t>
            </a:r>
            <a:endParaRPr lang="en-US" sz="1400" dirty="0"/>
          </a:p>
        </p:txBody>
      </p:sp>
      <p:pic>
        <p:nvPicPr>
          <p:cNvPr id="11" name="Picture 10" descr="logo-white-transparent.png"/>
          <p:cNvPicPr>
            <a:picLocks noChangeAspect="1"/>
          </p:cNvPicPr>
          <p:nvPr/>
        </p:nvPicPr>
        <p:blipFill>
          <a:blip r:embed="rId3"/>
          <a:stretch>
            <a:fillRect/>
          </a:stretch>
        </p:blipFill>
        <p:spPr>
          <a:xfrm>
            <a:off x="10012680" y="411480"/>
            <a:ext cx="1308779" cy="1143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a:spAutoFit/>
          </a:bodyPr>
          <a:lstStyle/>
          <a:p>
            <a:pPr algn="l"/>
            <a:r>
              <a:rPr sz="1100" b="1">
                <a:solidFill>
                  <a:srgbClr val="A21E22"/>
                </a:solidFill>
                <a:latin typeface="Avenir Next"/>
              </a:rPr>
              <a:t>THE COMPETITIVE MAP</a:t>
            </a:r>
          </a:p>
        </p:txBody>
      </p:sp>
      <p:sp>
        <p:nvSpPr>
          <p:cNvPr id="3" name="TextBox 2"/>
          <p:cNvSpPr txBox="1"/>
          <p:nvPr/>
        </p:nvSpPr>
        <p:spPr>
          <a:xfrm>
            <a:off x="548640" y="658368"/>
            <a:ext cx="11064240" cy="868680"/>
          </a:xfrm>
          <a:prstGeom prst="rect">
            <a:avLst/>
          </a:prstGeom>
          <a:noFill/>
        </p:spPr>
        <p:txBody>
          <a:bodyPr wrap="square">
            <a:spAutoFit/>
          </a:bodyPr>
          <a:lstStyle/>
          <a:p>
            <a:pPr algn="l"/>
            <a:r>
              <a:rPr sz="2800" b="1">
                <a:solidFill>
                  <a:srgbClr val="131313"/>
                </a:solidFill>
                <a:latin typeface="Avenir Next Heavy"/>
              </a:rPr>
              <a:t>Where ARCH sits, and why it's alone</a:t>
            </a:r>
          </a:p>
        </p:txBody>
      </p:sp>
      <p:sp>
        <p:nvSpPr>
          <p:cNvPr id="4" name="Rectangle 3"/>
          <p:cNvSpPr/>
          <p:nvPr/>
        </p:nvSpPr>
        <p:spPr>
          <a:xfrm>
            <a:off x="2834640" y="1874519"/>
            <a:ext cx="7772400" cy="3977639"/>
          </a:xfrm>
          <a:prstGeom prst="rect">
            <a:avLst/>
          </a:prstGeom>
          <a:solidFill>
            <a:srgbClr val="F4F4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15353" y="1874519"/>
            <a:ext cx="10972" cy="3977639"/>
          </a:xfrm>
          <a:prstGeom prst="rect">
            <a:avLst/>
          </a:prstGeom>
          <a:solidFill>
            <a:srgbClr val="E2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4640" y="3857853"/>
            <a:ext cx="7772400" cy="10972"/>
          </a:xfrm>
          <a:prstGeom prst="rect">
            <a:avLst/>
          </a:prstGeom>
          <a:solidFill>
            <a:srgbClr val="E2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71800" y="1984248"/>
            <a:ext cx="3611880" cy="457200"/>
          </a:xfrm>
          <a:prstGeom prst="rect">
            <a:avLst/>
          </a:prstGeom>
          <a:noFill/>
        </p:spPr>
        <p:txBody>
          <a:bodyPr wrap="square">
            <a:spAutoFit/>
          </a:bodyPr>
          <a:lstStyle/>
          <a:p>
            <a:pPr algn="l"/>
            <a:r>
              <a:rPr sz="900" b="1">
                <a:solidFill>
                  <a:srgbClr val="B8B8BE"/>
                </a:solidFill>
                <a:latin typeface="Avenir Next"/>
              </a:rPr>
              <a:t>SERIOUS but rare at low price</a:t>
            </a:r>
          </a:p>
        </p:txBody>
      </p:sp>
      <p:sp>
        <p:nvSpPr>
          <p:cNvPr id="8" name="TextBox 7"/>
          <p:cNvSpPr txBox="1"/>
          <p:nvPr/>
        </p:nvSpPr>
        <p:spPr>
          <a:xfrm>
            <a:off x="6858000" y="1984248"/>
            <a:ext cx="3611880" cy="457200"/>
          </a:xfrm>
          <a:prstGeom prst="rect">
            <a:avLst/>
          </a:prstGeom>
          <a:noFill/>
        </p:spPr>
        <p:txBody>
          <a:bodyPr wrap="square">
            <a:spAutoFit/>
          </a:bodyPr>
          <a:lstStyle/>
          <a:p>
            <a:pPr algn="r"/>
            <a:r>
              <a:rPr sz="1000" b="1">
                <a:solidFill>
                  <a:srgbClr val="A21E22"/>
                </a:solidFill>
                <a:latin typeface="Avenir Next Heavy"/>
              </a:rPr>
              <a:t>ARCH'S LANE</a:t>
            </a:r>
          </a:p>
        </p:txBody>
      </p:sp>
      <p:sp>
        <p:nvSpPr>
          <p:cNvPr id="9" name="TextBox 8"/>
          <p:cNvSpPr txBox="1"/>
          <p:nvPr/>
        </p:nvSpPr>
        <p:spPr>
          <a:xfrm>
            <a:off x="2971800" y="5440679"/>
            <a:ext cx="3611880" cy="365760"/>
          </a:xfrm>
          <a:prstGeom prst="rect">
            <a:avLst/>
          </a:prstGeom>
          <a:noFill/>
        </p:spPr>
        <p:txBody>
          <a:bodyPr wrap="square">
            <a:spAutoFit/>
          </a:bodyPr>
          <a:lstStyle/>
          <a:p>
            <a:pPr algn="l"/>
            <a:r>
              <a:rPr sz="900" b="1">
                <a:solidFill>
                  <a:srgbClr val="B8B8BE"/>
                </a:solidFill>
                <a:latin typeface="Avenir Next"/>
              </a:rPr>
              <a:t>BUDGET / COMMODITY</a:t>
            </a:r>
          </a:p>
        </p:txBody>
      </p:sp>
      <p:sp>
        <p:nvSpPr>
          <p:cNvPr id="10" name="TextBox 9"/>
          <p:cNvSpPr txBox="1"/>
          <p:nvPr/>
        </p:nvSpPr>
        <p:spPr>
          <a:xfrm>
            <a:off x="6858000" y="5440679"/>
            <a:ext cx="3611880" cy="365760"/>
          </a:xfrm>
          <a:prstGeom prst="rect">
            <a:avLst/>
          </a:prstGeom>
          <a:noFill/>
        </p:spPr>
        <p:txBody>
          <a:bodyPr wrap="square">
            <a:spAutoFit/>
          </a:bodyPr>
          <a:lstStyle/>
          <a:p>
            <a:pPr algn="r"/>
            <a:r>
              <a:rPr sz="900" b="1">
                <a:solidFill>
                  <a:srgbClr val="B8B8BE"/>
                </a:solidFill>
                <a:latin typeface="Avenir Next"/>
              </a:rPr>
              <a:t>AMENITY / WELLNESS CLUB</a:t>
            </a:r>
          </a:p>
        </p:txBody>
      </p:sp>
      <p:sp>
        <p:nvSpPr>
          <p:cNvPr id="11" name="TextBox 10"/>
          <p:cNvSpPr txBox="1"/>
          <p:nvPr/>
        </p:nvSpPr>
        <p:spPr>
          <a:xfrm>
            <a:off x="2834640" y="5925312"/>
            <a:ext cx="7772400" cy="274320"/>
          </a:xfrm>
          <a:prstGeom prst="rect">
            <a:avLst/>
          </a:prstGeom>
          <a:noFill/>
        </p:spPr>
        <p:txBody>
          <a:bodyPr wrap="square">
            <a:spAutoFit/>
          </a:bodyPr>
          <a:lstStyle/>
          <a:p>
            <a:pPr algn="ctr"/>
            <a:r>
              <a:rPr sz="1000" b="1">
                <a:solidFill>
                  <a:srgbClr val="6B7280"/>
                </a:solidFill>
                <a:latin typeface="Avenir Next"/>
              </a:rPr>
              <a:t>$  —  MEMBERSHIP PRICE  —  $$$</a:t>
            </a:r>
          </a:p>
        </p:txBody>
      </p:sp>
      <p:sp>
        <p:nvSpPr>
          <p:cNvPr id="12" name="TextBox 11"/>
          <p:cNvSpPr txBox="1"/>
          <p:nvPr/>
        </p:nvSpPr>
        <p:spPr>
          <a:xfrm rot="16200000">
            <a:off x="960120" y="3698748"/>
            <a:ext cx="3657600" cy="320040"/>
          </a:xfrm>
          <a:prstGeom prst="rect">
            <a:avLst/>
          </a:prstGeom>
          <a:noFill/>
        </p:spPr>
        <p:txBody>
          <a:bodyPr wrap="none">
            <a:spAutoFit/>
          </a:bodyPr>
          <a:lstStyle/>
          <a:p>
            <a:pPr algn="ctr"/>
            <a:r>
              <a:rPr sz="1000" b="1">
                <a:solidFill>
                  <a:srgbClr val="6B7280"/>
                </a:solidFill>
                <a:latin typeface="Avenir Next"/>
              </a:rPr>
              <a:t>SERIOUS TRAINING + RECOVERY  ↑</a:t>
            </a:r>
          </a:p>
        </p:txBody>
      </p:sp>
      <p:sp>
        <p:nvSpPr>
          <p:cNvPr id="13" name="Oval 12"/>
          <p:cNvSpPr/>
          <p:nvPr/>
        </p:nvSpPr>
        <p:spPr>
          <a:xfrm>
            <a:off x="3543300" y="5385816"/>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5335524"/>
            <a:ext cx="1828800" cy="237744"/>
          </a:xfrm>
          <a:prstGeom prst="rect">
            <a:avLst/>
          </a:prstGeom>
          <a:noFill/>
        </p:spPr>
        <p:txBody>
          <a:bodyPr wrap="square">
            <a:spAutoFit/>
          </a:bodyPr>
          <a:lstStyle/>
          <a:p>
            <a:pPr algn="l"/>
            <a:r>
              <a:rPr sz="950" b="0">
                <a:solidFill>
                  <a:srgbClr val="4B4B52"/>
                </a:solidFill>
                <a:latin typeface="Avenir Next"/>
              </a:rPr>
              <a:t>Planet Fitness</a:t>
            </a:r>
          </a:p>
        </p:txBody>
      </p:sp>
      <p:sp>
        <p:nvSpPr>
          <p:cNvPr id="15" name="Oval 14"/>
          <p:cNvSpPr/>
          <p:nvPr/>
        </p:nvSpPr>
        <p:spPr>
          <a:xfrm>
            <a:off x="4398264" y="5027828"/>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6572" y="4977536"/>
            <a:ext cx="1828800" cy="237744"/>
          </a:xfrm>
          <a:prstGeom prst="rect">
            <a:avLst/>
          </a:prstGeom>
          <a:noFill/>
        </p:spPr>
        <p:txBody>
          <a:bodyPr wrap="square">
            <a:spAutoFit/>
          </a:bodyPr>
          <a:lstStyle/>
          <a:p>
            <a:pPr algn="l"/>
            <a:r>
              <a:rPr sz="950" b="0">
                <a:solidFill>
                  <a:srgbClr val="4B4B52"/>
                </a:solidFill>
                <a:latin typeface="Avenir Next"/>
              </a:rPr>
              <a:t>Retro Fitness</a:t>
            </a:r>
          </a:p>
        </p:txBody>
      </p:sp>
      <p:sp>
        <p:nvSpPr>
          <p:cNvPr id="17" name="Oval 16"/>
          <p:cNvSpPr/>
          <p:nvPr/>
        </p:nvSpPr>
        <p:spPr>
          <a:xfrm>
            <a:off x="5020055" y="4789170"/>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8364" y="4738878"/>
            <a:ext cx="1828800" cy="237744"/>
          </a:xfrm>
          <a:prstGeom prst="rect">
            <a:avLst/>
          </a:prstGeom>
          <a:noFill/>
        </p:spPr>
        <p:txBody>
          <a:bodyPr wrap="square">
            <a:spAutoFit/>
          </a:bodyPr>
          <a:lstStyle/>
          <a:p>
            <a:pPr algn="l"/>
            <a:r>
              <a:rPr sz="950" b="0">
                <a:solidFill>
                  <a:srgbClr val="4B4B52"/>
                </a:solidFill>
                <a:latin typeface="Avenir Next"/>
              </a:rPr>
              <a:t>Crunch</a:t>
            </a:r>
          </a:p>
        </p:txBody>
      </p:sp>
      <p:sp>
        <p:nvSpPr>
          <p:cNvPr id="19" name="Oval 18"/>
          <p:cNvSpPr/>
          <p:nvPr/>
        </p:nvSpPr>
        <p:spPr>
          <a:xfrm>
            <a:off x="5486399" y="4391405"/>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4707" y="4341114"/>
            <a:ext cx="1828800" cy="237744"/>
          </a:xfrm>
          <a:prstGeom prst="rect">
            <a:avLst/>
          </a:prstGeom>
          <a:noFill/>
        </p:spPr>
        <p:txBody>
          <a:bodyPr wrap="square">
            <a:spAutoFit/>
          </a:bodyPr>
          <a:lstStyle/>
          <a:p>
            <a:pPr algn="l"/>
            <a:r>
              <a:rPr sz="950" b="0">
                <a:solidFill>
                  <a:srgbClr val="4B4B52"/>
                </a:solidFill>
                <a:latin typeface="Avenir Next"/>
              </a:rPr>
              <a:t>Jersey Strong</a:t>
            </a:r>
          </a:p>
        </p:txBody>
      </p:sp>
      <p:sp>
        <p:nvSpPr>
          <p:cNvPr id="21" name="Oval 20"/>
          <p:cNvSpPr/>
          <p:nvPr/>
        </p:nvSpPr>
        <p:spPr>
          <a:xfrm>
            <a:off x="6185916" y="4311853"/>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4261561"/>
            <a:ext cx="1828800" cy="237744"/>
          </a:xfrm>
          <a:prstGeom prst="rect">
            <a:avLst/>
          </a:prstGeom>
          <a:noFill/>
        </p:spPr>
        <p:txBody>
          <a:bodyPr wrap="square">
            <a:spAutoFit/>
          </a:bodyPr>
          <a:lstStyle/>
          <a:p>
            <a:pPr algn="l"/>
            <a:r>
              <a:rPr sz="950" b="0">
                <a:solidFill>
                  <a:srgbClr val="4B4B52"/>
                </a:solidFill>
                <a:latin typeface="Avenir Next"/>
              </a:rPr>
              <a:t>Gold's Gym</a:t>
            </a:r>
          </a:p>
        </p:txBody>
      </p:sp>
      <p:sp>
        <p:nvSpPr>
          <p:cNvPr id="23" name="Oval 22"/>
          <p:cNvSpPr/>
          <p:nvPr/>
        </p:nvSpPr>
        <p:spPr>
          <a:xfrm>
            <a:off x="7196328" y="3914089"/>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4636" y="3863797"/>
            <a:ext cx="1828800" cy="237744"/>
          </a:xfrm>
          <a:prstGeom prst="rect">
            <a:avLst/>
          </a:prstGeom>
          <a:noFill/>
        </p:spPr>
        <p:txBody>
          <a:bodyPr wrap="square">
            <a:spAutoFit/>
          </a:bodyPr>
          <a:lstStyle/>
          <a:p>
            <a:pPr algn="l"/>
            <a:r>
              <a:rPr sz="950" b="0">
                <a:solidFill>
                  <a:srgbClr val="4B4B52"/>
                </a:solidFill>
                <a:latin typeface="Avenir Next"/>
              </a:rPr>
              <a:t>Fitness Factory</a:t>
            </a:r>
          </a:p>
        </p:txBody>
      </p:sp>
      <p:sp>
        <p:nvSpPr>
          <p:cNvPr id="25" name="Oval 24"/>
          <p:cNvSpPr/>
          <p:nvPr/>
        </p:nvSpPr>
        <p:spPr>
          <a:xfrm>
            <a:off x="9605772" y="3914089"/>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35824" y="3863797"/>
            <a:ext cx="1828800" cy="237744"/>
          </a:xfrm>
          <a:prstGeom prst="rect">
            <a:avLst/>
          </a:prstGeom>
          <a:noFill/>
        </p:spPr>
        <p:txBody>
          <a:bodyPr wrap="square">
            <a:spAutoFit/>
          </a:bodyPr>
          <a:lstStyle/>
          <a:p>
            <a:pPr algn="r"/>
            <a:r>
              <a:rPr sz="950" b="0">
                <a:solidFill>
                  <a:srgbClr val="4B4B52"/>
                </a:solidFill>
                <a:latin typeface="Avenir Next"/>
              </a:rPr>
              <a:t>Lifetime</a:t>
            </a:r>
          </a:p>
        </p:txBody>
      </p:sp>
      <p:sp>
        <p:nvSpPr>
          <p:cNvPr id="27" name="Oval 26"/>
          <p:cNvSpPr/>
          <p:nvPr/>
        </p:nvSpPr>
        <p:spPr>
          <a:xfrm>
            <a:off x="7594092" y="2294229"/>
            <a:ext cx="274320" cy="274320"/>
          </a:xfrm>
          <a:prstGeom prst="ellipse">
            <a:avLst/>
          </a:prstGeom>
          <a:solidFill>
            <a:srgbClr val="A21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4131" y="2266797"/>
            <a:ext cx="2103120" cy="310896"/>
          </a:xfrm>
          <a:prstGeom prst="rect">
            <a:avLst/>
          </a:prstGeom>
          <a:noFill/>
        </p:spPr>
        <p:txBody>
          <a:bodyPr wrap="square">
            <a:spAutoFit/>
          </a:bodyPr>
          <a:lstStyle/>
          <a:p>
            <a:pPr algn="l"/>
            <a:r>
              <a:rPr sz="1300" b="1">
                <a:solidFill>
                  <a:srgbClr val="A21E22"/>
                </a:solidFill>
                <a:latin typeface="Avenir Next Heavy"/>
              </a:rPr>
              <a:t>ARCH TRAINING</a:t>
            </a:r>
          </a:p>
        </p:txBody>
      </p:sp>
      <p:pic>
        <p:nvPicPr>
          <p:cNvPr id="29" name="Picture 28" descr="logo-ink-red.png"/>
          <p:cNvPicPr>
            <a:picLocks noChangeAspect="1"/>
          </p:cNvPicPr>
          <p:nvPr/>
        </p:nvPicPr>
        <p:blipFill>
          <a:blip r:embed="rId2"/>
          <a:stretch>
            <a:fillRect/>
          </a:stretch>
        </p:blipFill>
        <p:spPr>
          <a:xfrm>
            <a:off x="7164324" y="2157069"/>
            <a:ext cx="575863" cy="502920"/>
          </a:xfrm>
          <a:prstGeom prst="rect">
            <a:avLst/>
          </a:prstGeom>
        </p:spPr>
      </p:pic>
      <p:sp>
        <p:nvSpPr>
          <p:cNvPr id="30" name="TextBox 29"/>
          <p:cNvSpPr txBox="1"/>
          <p:nvPr/>
        </p:nvSpPr>
        <p:spPr>
          <a:xfrm>
            <a:off x="548640" y="6199632"/>
            <a:ext cx="11064240" cy="502920"/>
          </a:xfrm>
          <a:prstGeom prst="rect">
            <a:avLst/>
          </a:prstGeom>
          <a:noFill/>
        </p:spPr>
        <p:txBody>
          <a:bodyPr wrap="square">
            <a:spAutoFit/>
          </a:bodyPr>
          <a:lstStyle/>
          <a:p>
            <a:pPr algn="l"/>
            <a:r>
              <a:rPr sz="1150" b="0">
                <a:solidFill>
                  <a:srgbClr val="131313"/>
                </a:solidFill>
                <a:latin typeface="Avenir Next"/>
              </a:rPr>
              <a:t>Nobody else trains serious athletes at this tier in Monmouth County. ARCH owns the upper lane, HYROX, performance and recovery, at a premium price without luxury-club overhead.</a:t>
            </a:r>
          </a:p>
        </p:txBody>
      </p:sp>
      <p:sp>
        <p:nvSpPr>
          <p:cNvPr id="31" name="TextBox 30"/>
          <p:cNvSpPr txBox="1"/>
          <p:nvPr/>
        </p:nvSpPr>
        <p:spPr>
          <a:xfrm>
            <a:off x="10698480" y="6492240"/>
            <a:ext cx="914400" cy="228600"/>
          </a:xfrm>
          <a:prstGeom prst="rect">
            <a:avLst/>
          </a:prstGeom>
          <a:noFill/>
        </p:spPr>
        <p:txBody>
          <a:bodyPr wrap="square">
            <a:spAutoFit/>
          </a:bodyPr>
          <a:lstStyle/>
          <a:p>
            <a:pPr algn="r"/>
            <a:r>
              <a:rPr sz="900" b="0">
                <a:solidFill>
                  <a:srgbClr val="6B7280"/>
                </a:solidFill>
                <a:latin typeface="Avenir Next"/>
              </a:rPr>
              <a:t>4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a:spAutoFit/>
          </a:bodyPr>
          <a:lstStyle/>
          <a:p>
            <a:pPr algn="l"/>
            <a:r>
              <a:rPr sz="1100" b="1">
                <a:solidFill>
                  <a:srgbClr val="A21E22"/>
                </a:solidFill>
                <a:latin typeface="Avenir Next"/>
              </a:rPr>
              <a:t>PHASE 0  ·  THE DATA FIX</a:t>
            </a:r>
          </a:p>
        </p:txBody>
      </p:sp>
      <p:sp>
        <p:nvSpPr>
          <p:cNvPr id="3" name="TextBox 2"/>
          <p:cNvSpPr txBox="1"/>
          <p:nvPr/>
        </p:nvSpPr>
        <p:spPr>
          <a:xfrm>
            <a:off x="548640" y="658368"/>
            <a:ext cx="11064240" cy="868680"/>
          </a:xfrm>
          <a:prstGeom prst="rect">
            <a:avLst/>
          </a:prstGeom>
          <a:noFill/>
        </p:spPr>
        <p:txBody>
          <a:bodyPr wrap="square">
            <a:spAutoFit/>
          </a:bodyPr>
          <a:lstStyle/>
          <a:p>
            <a:pPr algn="l"/>
            <a:r>
              <a:rPr sz="2800" b="1">
                <a:solidFill>
                  <a:srgbClr val="131313"/>
                </a:solidFill>
                <a:latin typeface="Avenir Next Heavy"/>
              </a:rPr>
              <a:t>WellnessLiving: from messy to trustworthy</a:t>
            </a:r>
          </a:p>
        </p:txBody>
      </p:sp>
      <p:sp>
        <p:nvSpPr>
          <p:cNvPr id="4" name="TextBox 3"/>
          <p:cNvSpPr txBox="1"/>
          <p:nvPr/>
        </p:nvSpPr>
        <p:spPr>
          <a:xfrm>
            <a:off x="548640" y="1481328"/>
            <a:ext cx="11064240" cy="502920"/>
          </a:xfrm>
          <a:prstGeom prst="rect">
            <a:avLst/>
          </a:prstGeom>
          <a:noFill/>
        </p:spPr>
        <p:txBody>
          <a:bodyPr wrap="square">
            <a:spAutoFit/>
          </a:bodyPr>
          <a:lstStyle/>
          <a:p>
            <a:pPr algn="l"/>
            <a:r>
              <a:rPr sz="1250" b="0">
                <a:solidFill>
                  <a:srgbClr val="4B4B52"/>
                </a:solidFill>
                <a:latin typeface="Avenir Next"/>
              </a:rPr>
              <a:t>You're ~80% through the Mindbody → WellnessLiving migration. These five fixes are what finally let you answer “how's the business doing?” in one screen.</a:t>
            </a:r>
          </a:p>
        </p:txBody>
      </p:sp>
      <p:sp>
        <p:nvSpPr>
          <p:cNvPr id="5" name="TextBox 4"/>
          <p:cNvSpPr txBox="1"/>
          <p:nvPr/>
        </p:nvSpPr>
        <p:spPr>
          <a:xfrm>
            <a:off x="1051560" y="2212848"/>
            <a:ext cx="4937760" cy="274320"/>
          </a:xfrm>
          <a:prstGeom prst="rect">
            <a:avLst/>
          </a:prstGeom>
          <a:noFill/>
        </p:spPr>
        <p:txBody>
          <a:bodyPr wrap="square">
            <a:spAutoFit/>
          </a:bodyPr>
          <a:lstStyle/>
          <a:p>
            <a:pPr algn="l"/>
            <a:r>
              <a:rPr sz="1200" b="1">
                <a:solidFill>
                  <a:srgbClr val="131313"/>
                </a:solidFill>
                <a:latin typeface="Avenir Next Heavy"/>
              </a:rPr>
              <a:t>WHAT'S TANGLED TODAY</a:t>
            </a:r>
          </a:p>
        </p:txBody>
      </p:sp>
      <p:sp>
        <p:nvSpPr>
          <p:cNvPr id="6" name="TextBox 5"/>
          <p:cNvSpPr txBox="1"/>
          <p:nvPr/>
        </p:nvSpPr>
        <p:spPr>
          <a:xfrm>
            <a:off x="6309360" y="2212848"/>
            <a:ext cx="5303520" cy="274320"/>
          </a:xfrm>
          <a:prstGeom prst="rect">
            <a:avLst/>
          </a:prstGeom>
          <a:noFill/>
        </p:spPr>
        <p:txBody>
          <a:bodyPr wrap="square">
            <a:spAutoFit/>
          </a:bodyPr>
          <a:lstStyle/>
          <a:p>
            <a:pPr algn="l"/>
            <a:r>
              <a:rPr sz="1200" b="1">
                <a:solidFill>
                  <a:srgbClr val="A21E22"/>
                </a:solidFill>
                <a:latin typeface="Avenir Next Heavy"/>
              </a:rPr>
              <a:t>THE FIX</a:t>
            </a:r>
          </a:p>
        </p:txBody>
      </p:sp>
      <p:sp>
        <p:nvSpPr>
          <p:cNvPr id="7" name="Oval 6"/>
          <p:cNvSpPr/>
          <p:nvPr/>
        </p:nvSpPr>
        <p:spPr>
          <a:xfrm>
            <a:off x="548640" y="2615184"/>
            <a:ext cx="384048" cy="384048"/>
          </a:xfrm>
          <a:prstGeom prst="ellipse">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Avenir Next Heavy"/>
              </a:rPr>
              <a:t>1</a:t>
            </a:r>
          </a:p>
        </p:txBody>
      </p:sp>
      <p:sp>
        <p:nvSpPr>
          <p:cNvPr id="8" name="TextBox 7"/>
          <p:cNvSpPr txBox="1"/>
          <p:nvPr/>
        </p:nvSpPr>
        <p:spPr>
          <a:xfrm>
            <a:off x="1051560" y="2596896"/>
            <a:ext cx="5029200" cy="640080"/>
          </a:xfrm>
          <a:prstGeom prst="rect">
            <a:avLst/>
          </a:prstGeom>
          <a:noFill/>
        </p:spPr>
        <p:txBody>
          <a:bodyPr wrap="square">
            <a:spAutoFit/>
          </a:bodyPr>
          <a:lstStyle/>
          <a:p>
            <a:pPr algn="l"/>
            <a:r>
              <a:rPr sz="1150" b="0">
                <a:solidFill>
                  <a:srgbClr val="131313"/>
                </a:solidFill>
                <a:latin typeface="Avenir Next"/>
              </a:rPr>
              <a:t>Legacy Mindbody membership types are still active</a:t>
            </a:r>
          </a:p>
        </p:txBody>
      </p:sp>
      <p:sp>
        <p:nvSpPr>
          <p:cNvPr id="9" name="TextBox 8"/>
          <p:cNvSpPr txBox="1"/>
          <p:nvPr/>
        </p:nvSpPr>
        <p:spPr>
          <a:xfrm>
            <a:off x="6309360" y="2596896"/>
            <a:ext cx="5303520" cy="640080"/>
          </a:xfrm>
          <a:prstGeom prst="rect">
            <a:avLst/>
          </a:prstGeom>
          <a:noFill/>
        </p:spPr>
        <p:txBody>
          <a:bodyPr wrap="square">
            <a:spAutoFit/>
          </a:bodyPr>
          <a:lstStyle/>
          <a:p>
            <a:pPr algn="l"/>
            <a:r>
              <a:rPr sz="1150" b="0">
                <a:solidFill>
                  <a:srgbClr val="4B4B52"/>
                </a:solidFill>
                <a:latin typeface="Avenir Next"/>
              </a:rPr>
              <a:t>Archive them; map every active member to a current $99 / $149 package</a:t>
            </a:r>
          </a:p>
        </p:txBody>
      </p:sp>
      <p:sp>
        <p:nvSpPr>
          <p:cNvPr id="10" name="Oval 9"/>
          <p:cNvSpPr/>
          <p:nvPr/>
        </p:nvSpPr>
        <p:spPr>
          <a:xfrm>
            <a:off x="548640" y="3291840"/>
            <a:ext cx="384048" cy="384048"/>
          </a:xfrm>
          <a:prstGeom prst="ellipse">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Avenir Next Heavy"/>
              </a:rPr>
              <a:t>2</a:t>
            </a:r>
          </a:p>
        </p:txBody>
      </p:sp>
      <p:sp>
        <p:nvSpPr>
          <p:cNvPr id="11" name="TextBox 10"/>
          <p:cNvSpPr txBox="1"/>
          <p:nvPr/>
        </p:nvSpPr>
        <p:spPr>
          <a:xfrm>
            <a:off x="1051560" y="3273552"/>
            <a:ext cx="5029200" cy="640080"/>
          </a:xfrm>
          <a:prstGeom prst="rect">
            <a:avLst/>
          </a:prstGeom>
          <a:noFill/>
        </p:spPr>
        <p:txBody>
          <a:bodyPr wrap="square">
            <a:spAutoFit/>
          </a:bodyPr>
          <a:lstStyle/>
          <a:p>
            <a:pPr algn="l"/>
            <a:r>
              <a:rPr sz="1150" b="0">
                <a:solidFill>
                  <a:srgbClr val="131313"/>
                </a:solidFill>
                <a:latin typeface="Avenir Next"/>
              </a:rPr>
              <a:t>Home location is not attributed on memberships</a:t>
            </a:r>
          </a:p>
        </p:txBody>
      </p:sp>
      <p:sp>
        <p:nvSpPr>
          <p:cNvPr id="12" name="TextBox 11"/>
          <p:cNvSpPr txBox="1"/>
          <p:nvPr/>
        </p:nvSpPr>
        <p:spPr>
          <a:xfrm>
            <a:off x="6309360" y="3273552"/>
            <a:ext cx="5303520" cy="640080"/>
          </a:xfrm>
          <a:prstGeom prst="rect">
            <a:avLst/>
          </a:prstGeom>
          <a:noFill/>
        </p:spPr>
        <p:txBody>
          <a:bodyPr wrap="square">
            <a:spAutoFit/>
          </a:bodyPr>
          <a:lstStyle/>
          <a:p>
            <a:pPr algn="l"/>
            <a:r>
              <a:rPr sz="1150" b="0">
                <a:solidFill>
                  <a:srgbClr val="4B4B52"/>
                </a:solidFill>
                <a:latin typeface="Avenir Next"/>
              </a:rPr>
              <a:t>Tag location on each membership; build a members-by-location report</a:t>
            </a:r>
          </a:p>
        </p:txBody>
      </p:sp>
      <p:sp>
        <p:nvSpPr>
          <p:cNvPr id="13" name="Oval 12"/>
          <p:cNvSpPr/>
          <p:nvPr/>
        </p:nvSpPr>
        <p:spPr>
          <a:xfrm>
            <a:off x="548640" y="3968496"/>
            <a:ext cx="384048" cy="384048"/>
          </a:xfrm>
          <a:prstGeom prst="ellipse">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Avenir Next Heavy"/>
              </a:rPr>
              <a:t>3</a:t>
            </a:r>
          </a:p>
        </p:txBody>
      </p:sp>
      <p:sp>
        <p:nvSpPr>
          <p:cNvPr id="14" name="TextBox 13"/>
          <p:cNvSpPr txBox="1"/>
          <p:nvPr/>
        </p:nvSpPr>
        <p:spPr>
          <a:xfrm>
            <a:off x="1051560" y="3950208"/>
            <a:ext cx="5029200" cy="640080"/>
          </a:xfrm>
          <a:prstGeom prst="rect">
            <a:avLst/>
          </a:prstGeom>
          <a:noFill/>
        </p:spPr>
        <p:txBody>
          <a:bodyPr wrap="square">
            <a:spAutoFit/>
          </a:bodyPr>
          <a:lstStyle/>
          <a:p>
            <a:pPr algn="l"/>
            <a:r>
              <a:rPr sz="1150" b="0">
                <a:solidFill>
                  <a:srgbClr val="131313"/>
                </a:solidFill>
                <a:latin typeface="Avenir Next"/>
              </a:rPr>
              <a:t>Family vs. individual memberships are unmapped</a:t>
            </a:r>
          </a:p>
        </p:txBody>
      </p:sp>
      <p:sp>
        <p:nvSpPr>
          <p:cNvPr id="15" name="TextBox 14"/>
          <p:cNvSpPr txBox="1"/>
          <p:nvPr/>
        </p:nvSpPr>
        <p:spPr>
          <a:xfrm>
            <a:off x="6309360" y="3950208"/>
            <a:ext cx="5303520" cy="640080"/>
          </a:xfrm>
          <a:prstGeom prst="rect">
            <a:avLst/>
          </a:prstGeom>
          <a:noFill/>
        </p:spPr>
        <p:txBody>
          <a:bodyPr wrap="square">
            <a:spAutoFit/>
          </a:bodyPr>
          <a:lstStyle/>
          <a:p>
            <a:pPr algn="l"/>
            <a:r>
              <a:rPr sz="1150" b="0">
                <a:solidFill>
                  <a:srgbClr val="4B4B52"/>
                </a:solidFill>
                <a:latin typeface="Avenir Next"/>
              </a:rPr>
              <a:t>Define entitlements; reconcile headcount to the billing count</a:t>
            </a:r>
          </a:p>
        </p:txBody>
      </p:sp>
      <p:sp>
        <p:nvSpPr>
          <p:cNvPr id="16" name="Oval 15"/>
          <p:cNvSpPr/>
          <p:nvPr/>
        </p:nvSpPr>
        <p:spPr>
          <a:xfrm>
            <a:off x="548640" y="4645152"/>
            <a:ext cx="384048" cy="384048"/>
          </a:xfrm>
          <a:prstGeom prst="ellipse">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Avenir Next Heavy"/>
              </a:rPr>
              <a:t>4</a:t>
            </a:r>
          </a:p>
        </p:txBody>
      </p:sp>
      <p:sp>
        <p:nvSpPr>
          <p:cNvPr id="17" name="TextBox 16"/>
          <p:cNvSpPr txBox="1"/>
          <p:nvPr/>
        </p:nvSpPr>
        <p:spPr>
          <a:xfrm>
            <a:off x="1051560" y="4626864"/>
            <a:ext cx="5029200" cy="640080"/>
          </a:xfrm>
          <a:prstGeom prst="rect">
            <a:avLst/>
          </a:prstGeom>
          <a:noFill/>
        </p:spPr>
        <p:txBody>
          <a:bodyPr wrap="square">
            <a:spAutoFit/>
          </a:bodyPr>
          <a:lstStyle/>
          <a:p>
            <a:pPr algn="l"/>
            <a:r>
              <a:rPr sz="1150" b="0">
                <a:solidFill>
                  <a:srgbClr val="131313"/>
                </a:solidFill>
                <a:latin typeface="Avenir Next"/>
              </a:rPr>
              <a:t>HYROX &amp; PT are booked manually, never hit WellnessLiving</a:t>
            </a:r>
          </a:p>
        </p:txBody>
      </p:sp>
      <p:sp>
        <p:nvSpPr>
          <p:cNvPr id="18" name="TextBox 17"/>
          <p:cNvSpPr txBox="1"/>
          <p:nvPr/>
        </p:nvSpPr>
        <p:spPr>
          <a:xfrm>
            <a:off x="6309360" y="4626864"/>
            <a:ext cx="5303520" cy="640080"/>
          </a:xfrm>
          <a:prstGeom prst="rect">
            <a:avLst/>
          </a:prstGeom>
          <a:noFill/>
        </p:spPr>
        <p:txBody>
          <a:bodyPr wrap="square">
            <a:spAutoFit/>
          </a:bodyPr>
          <a:lstStyle/>
          <a:p>
            <a:pPr algn="l"/>
            <a:r>
              <a:rPr sz="1150" b="0">
                <a:solidFill>
                  <a:srgbClr val="4B4B52"/>
                </a:solidFill>
                <a:latin typeface="Avenir Next"/>
              </a:rPr>
              <a:t>Route both into WL so revenue-by-service-line becomes visible</a:t>
            </a:r>
          </a:p>
        </p:txBody>
      </p:sp>
      <p:sp>
        <p:nvSpPr>
          <p:cNvPr id="19" name="Oval 18"/>
          <p:cNvSpPr/>
          <p:nvPr/>
        </p:nvSpPr>
        <p:spPr>
          <a:xfrm>
            <a:off x="548640" y="5321808"/>
            <a:ext cx="384048" cy="384048"/>
          </a:xfrm>
          <a:prstGeom prst="ellipse">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Avenir Next Heavy"/>
              </a:rPr>
              <a:t>5</a:t>
            </a:r>
          </a:p>
        </p:txBody>
      </p:sp>
      <p:sp>
        <p:nvSpPr>
          <p:cNvPr id="20" name="TextBox 19"/>
          <p:cNvSpPr txBox="1"/>
          <p:nvPr/>
        </p:nvSpPr>
        <p:spPr>
          <a:xfrm>
            <a:off x="1051560" y="5303520"/>
            <a:ext cx="5029200" cy="640080"/>
          </a:xfrm>
          <a:prstGeom prst="rect">
            <a:avLst/>
          </a:prstGeom>
          <a:noFill/>
        </p:spPr>
        <p:txBody>
          <a:bodyPr wrap="square">
            <a:spAutoFit/>
          </a:bodyPr>
          <a:lstStyle/>
          <a:p>
            <a:pPr algn="l"/>
            <a:r>
              <a:rPr sz="1150" b="0">
                <a:solidFill>
                  <a:srgbClr val="131313"/>
                </a:solidFill>
                <a:latin typeface="Avenir Next"/>
              </a:rPr>
              <a:t>Legacy 5-class punch-card members sit uncategorized</a:t>
            </a:r>
          </a:p>
        </p:txBody>
      </p:sp>
      <p:sp>
        <p:nvSpPr>
          <p:cNvPr id="21" name="TextBox 20"/>
          <p:cNvSpPr txBox="1"/>
          <p:nvPr/>
        </p:nvSpPr>
        <p:spPr>
          <a:xfrm>
            <a:off x="6309360" y="5303520"/>
            <a:ext cx="5303520" cy="640080"/>
          </a:xfrm>
          <a:prstGeom prst="rect">
            <a:avLst/>
          </a:prstGeom>
          <a:noFill/>
        </p:spPr>
        <p:txBody>
          <a:bodyPr wrap="square">
            <a:spAutoFit/>
          </a:bodyPr>
          <a:lstStyle/>
          <a:p>
            <a:pPr algn="l"/>
            <a:r>
              <a:rPr sz="1150" b="0">
                <a:solidFill>
                  <a:srgbClr val="4B4B52"/>
                </a:solidFill>
                <a:latin typeface="Avenir Next"/>
              </a:rPr>
              <a:t>Flag them into a dedicated reactivation segment (upgrade path)</a:t>
            </a:r>
          </a:p>
        </p:txBody>
      </p:sp>
      <p:sp>
        <p:nvSpPr>
          <p:cNvPr id="22" name="Rounded Rectangle 21"/>
          <p:cNvSpPr/>
          <p:nvPr/>
        </p:nvSpPr>
        <p:spPr>
          <a:xfrm>
            <a:off x="548640" y="6053328"/>
            <a:ext cx="11064240" cy="566928"/>
          </a:xfrm>
          <a:prstGeom prst="round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150" b="1">
                <a:solidFill>
                  <a:srgbClr val="FFFFFF"/>
                </a:solidFill>
                <a:latin typeface="Avenir Next"/>
              </a:rPr>
              <a:t>The payoff: members-by-location, revenue-by-service-line, and at-risk members, all answerable in one Tuesday-morning dashboard.</a:t>
            </a:r>
          </a:p>
        </p:txBody>
      </p:sp>
      <p:sp>
        <p:nvSpPr>
          <p:cNvPr id="23" name="TextBox 22"/>
          <p:cNvSpPr txBox="1"/>
          <p:nvPr/>
        </p:nvSpPr>
        <p:spPr>
          <a:xfrm>
            <a:off x="10698480" y="6492240"/>
            <a:ext cx="914400" cy="228600"/>
          </a:xfrm>
          <a:prstGeom prst="rect">
            <a:avLst/>
          </a:prstGeom>
          <a:noFill/>
        </p:spPr>
        <p:txBody>
          <a:bodyPr wrap="square">
            <a:spAutoFit/>
          </a:bodyPr>
          <a:lstStyle/>
          <a:p>
            <a:pPr algn="r"/>
            <a:r>
              <a:rPr sz="900" b="0">
                <a:solidFill>
                  <a:srgbClr val="6B7280"/>
                </a:solidFill>
                <a:latin typeface="Avenir Next"/>
              </a:rPr>
              <a:t>9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74320"/>
          </a:xfrm>
          <a:prstGeom prst="rect">
            <a:avLst/>
          </a:prstGeom>
          <a:noFill/>
        </p:spPr>
        <p:txBody>
          <a:bodyPr wrap="square">
            <a:spAutoFit/>
          </a:bodyPr>
          <a:lstStyle/>
          <a:p>
            <a:pPr algn="l"/>
            <a:r>
              <a:rPr sz="1100" b="1">
                <a:solidFill>
                  <a:srgbClr val="A21E22"/>
                </a:solidFill>
                <a:latin typeface="Avenir Next"/>
              </a:rPr>
              <a:t>PHASE 2  ·  THE AUTHORITY PLAY</a:t>
            </a:r>
          </a:p>
        </p:txBody>
      </p:sp>
      <p:sp>
        <p:nvSpPr>
          <p:cNvPr id="3" name="TextBox 2"/>
          <p:cNvSpPr txBox="1"/>
          <p:nvPr/>
        </p:nvSpPr>
        <p:spPr>
          <a:xfrm>
            <a:off x="548640" y="658368"/>
            <a:ext cx="11064240" cy="868680"/>
          </a:xfrm>
          <a:prstGeom prst="rect">
            <a:avLst/>
          </a:prstGeom>
          <a:noFill/>
        </p:spPr>
        <p:txBody>
          <a:bodyPr wrap="square">
            <a:spAutoFit/>
          </a:bodyPr>
          <a:lstStyle/>
          <a:p>
            <a:pPr algn="l"/>
            <a:r>
              <a:rPr sz="2800" b="1">
                <a:solidFill>
                  <a:srgbClr val="131313"/>
                </a:solidFill>
                <a:latin typeface="Avenir Next Heavy"/>
              </a:rPr>
              <a:t>Own the high-performer conversation in NJ</a:t>
            </a:r>
          </a:p>
        </p:txBody>
      </p:sp>
      <p:sp>
        <p:nvSpPr>
          <p:cNvPr id="4" name="TextBox 3"/>
          <p:cNvSpPr txBox="1"/>
          <p:nvPr/>
        </p:nvSpPr>
        <p:spPr>
          <a:xfrm>
            <a:off x="548640" y="1481328"/>
            <a:ext cx="11064240" cy="548640"/>
          </a:xfrm>
          <a:prstGeom prst="rect">
            <a:avLst/>
          </a:prstGeom>
          <a:noFill/>
        </p:spPr>
        <p:txBody>
          <a:bodyPr wrap="square">
            <a:spAutoFit/>
          </a:bodyPr>
          <a:lstStyle/>
          <a:p>
            <a:pPr algn="l"/>
            <a:r>
              <a:rPr sz="1250" b="0">
                <a:solidFill>
                  <a:srgbClr val="4B4B52"/>
                </a:solidFill>
                <a:latin typeface="Avenir Next"/>
              </a:rPr>
              <a:t>ARCH doesn't need to outspend anyone on ads. It needs to be the name serious athletes in Monmouth County learn from, built on what Dom &amp; Jordan already know. Five content territories nobody local owns:</a:t>
            </a:r>
          </a:p>
        </p:txBody>
      </p:sp>
      <p:sp>
        <p:nvSpPr>
          <p:cNvPr id="5" name="Rectangle 4"/>
          <p:cNvSpPr/>
          <p:nvPr/>
        </p:nvSpPr>
        <p:spPr>
          <a:xfrm>
            <a:off x="548640" y="2322576"/>
            <a:ext cx="146304" cy="146304"/>
          </a:xfrm>
          <a:prstGeom prst="rect">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3200400" cy="292608"/>
          </a:xfrm>
          <a:prstGeom prst="rect">
            <a:avLst/>
          </a:prstGeom>
          <a:noFill/>
        </p:spPr>
        <p:txBody>
          <a:bodyPr wrap="square">
            <a:spAutoFit/>
          </a:bodyPr>
          <a:lstStyle/>
          <a:p>
            <a:pPr algn="l"/>
            <a:r>
              <a:rPr sz="1300" b="1">
                <a:solidFill>
                  <a:srgbClr val="131313"/>
                </a:solidFill>
                <a:latin typeface="Avenir Next Heavy"/>
              </a:rPr>
              <a:t>HYROX PREP</a:t>
            </a:r>
          </a:p>
        </p:txBody>
      </p:sp>
      <p:sp>
        <p:nvSpPr>
          <p:cNvPr id="7" name="TextBox 6"/>
          <p:cNvSpPr txBox="1"/>
          <p:nvPr/>
        </p:nvSpPr>
        <p:spPr>
          <a:xfrm>
            <a:off x="4206240" y="2286000"/>
            <a:ext cx="7406640" cy="457200"/>
          </a:xfrm>
          <a:prstGeom prst="rect">
            <a:avLst/>
          </a:prstGeom>
          <a:noFill/>
        </p:spPr>
        <p:txBody>
          <a:bodyPr wrap="square">
            <a:spAutoFit/>
          </a:bodyPr>
          <a:lstStyle/>
          <a:p>
            <a:pPr algn="l"/>
            <a:r>
              <a:rPr sz="1150" b="0">
                <a:solidFill>
                  <a:srgbClr val="4B4B52"/>
                </a:solidFill>
                <a:latin typeface="Avenir Next"/>
              </a:rPr>
              <a:t>“90 days to your first HYROX,” race-day pacing, station strategy, the NJ race scene.</a:t>
            </a:r>
          </a:p>
        </p:txBody>
      </p:sp>
      <p:sp>
        <p:nvSpPr>
          <p:cNvPr id="8" name="Rectangle 7"/>
          <p:cNvSpPr/>
          <p:nvPr/>
        </p:nvSpPr>
        <p:spPr>
          <a:xfrm>
            <a:off x="548640" y="2889504"/>
            <a:ext cx="146304" cy="146304"/>
          </a:xfrm>
          <a:prstGeom prst="rect">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3200400" cy="292608"/>
          </a:xfrm>
          <a:prstGeom prst="rect">
            <a:avLst/>
          </a:prstGeom>
          <a:noFill/>
        </p:spPr>
        <p:txBody>
          <a:bodyPr wrap="square">
            <a:spAutoFit/>
          </a:bodyPr>
          <a:lstStyle/>
          <a:p>
            <a:pPr algn="l"/>
            <a:r>
              <a:rPr sz="1300" b="1">
                <a:solidFill>
                  <a:srgbClr val="131313"/>
                </a:solidFill>
                <a:latin typeface="Avenir Next Heavy"/>
              </a:rPr>
              <a:t>STRENGTH &amp; PERFORMANCE</a:t>
            </a:r>
          </a:p>
        </p:txBody>
      </p:sp>
      <p:sp>
        <p:nvSpPr>
          <p:cNvPr id="10" name="TextBox 9"/>
          <p:cNvSpPr txBox="1"/>
          <p:nvPr/>
        </p:nvSpPr>
        <p:spPr>
          <a:xfrm>
            <a:off x="4206240" y="2852928"/>
            <a:ext cx="7406640" cy="457200"/>
          </a:xfrm>
          <a:prstGeom prst="rect">
            <a:avLst/>
          </a:prstGeom>
          <a:noFill/>
        </p:spPr>
        <p:txBody>
          <a:bodyPr wrap="square">
            <a:spAutoFit/>
          </a:bodyPr>
          <a:lstStyle/>
          <a:p>
            <a:pPr algn="l"/>
            <a:r>
              <a:rPr sz="1150" b="0">
                <a:solidFill>
                  <a:srgbClr val="4B4B52"/>
                </a:solidFill>
                <a:latin typeface="Avenir Next"/>
              </a:rPr>
              <a:t>Programming, hypertrophy, getting genuinely strong, real lifting standards.</a:t>
            </a:r>
          </a:p>
        </p:txBody>
      </p:sp>
      <p:sp>
        <p:nvSpPr>
          <p:cNvPr id="11" name="Rectangle 10"/>
          <p:cNvSpPr/>
          <p:nvPr/>
        </p:nvSpPr>
        <p:spPr>
          <a:xfrm>
            <a:off x="548640" y="3456432"/>
            <a:ext cx="146304" cy="146304"/>
          </a:xfrm>
          <a:prstGeom prst="rect">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19856"/>
            <a:ext cx="3200400" cy="292608"/>
          </a:xfrm>
          <a:prstGeom prst="rect">
            <a:avLst/>
          </a:prstGeom>
          <a:noFill/>
        </p:spPr>
        <p:txBody>
          <a:bodyPr wrap="square">
            <a:spAutoFit/>
          </a:bodyPr>
          <a:lstStyle/>
          <a:p>
            <a:pPr algn="l"/>
            <a:r>
              <a:rPr sz="1300" b="1">
                <a:solidFill>
                  <a:srgbClr val="131313"/>
                </a:solidFill>
                <a:latin typeface="Avenir Next Heavy"/>
              </a:rPr>
              <a:t>RECOVERY AS TRAINING</a:t>
            </a:r>
          </a:p>
        </p:txBody>
      </p:sp>
      <p:sp>
        <p:nvSpPr>
          <p:cNvPr id="13" name="TextBox 12"/>
          <p:cNvSpPr txBox="1"/>
          <p:nvPr/>
        </p:nvSpPr>
        <p:spPr>
          <a:xfrm>
            <a:off x="4206240" y="3419856"/>
            <a:ext cx="7406640" cy="457200"/>
          </a:xfrm>
          <a:prstGeom prst="rect">
            <a:avLst/>
          </a:prstGeom>
          <a:noFill/>
        </p:spPr>
        <p:txBody>
          <a:bodyPr wrap="square">
            <a:spAutoFit/>
          </a:bodyPr>
          <a:lstStyle/>
          <a:p>
            <a:pPr algn="l"/>
            <a:r>
              <a:rPr sz="1150" b="0">
                <a:solidFill>
                  <a:srgbClr val="4B4B52"/>
                </a:solidFill>
                <a:latin typeface="Avenir Next"/>
              </a:rPr>
              <a:t>Sauna, cold plunge, sleep, mobility, why recovery is the performance edge.</a:t>
            </a:r>
          </a:p>
        </p:txBody>
      </p:sp>
      <p:sp>
        <p:nvSpPr>
          <p:cNvPr id="14" name="Rectangle 13"/>
          <p:cNvSpPr/>
          <p:nvPr/>
        </p:nvSpPr>
        <p:spPr>
          <a:xfrm>
            <a:off x="548640" y="4023360"/>
            <a:ext cx="146304" cy="146304"/>
          </a:xfrm>
          <a:prstGeom prst="rect">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986784"/>
            <a:ext cx="3200400" cy="292608"/>
          </a:xfrm>
          <a:prstGeom prst="rect">
            <a:avLst/>
          </a:prstGeom>
          <a:noFill/>
        </p:spPr>
        <p:txBody>
          <a:bodyPr wrap="square">
            <a:spAutoFit/>
          </a:bodyPr>
          <a:lstStyle/>
          <a:p>
            <a:pPr algn="l"/>
            <a:r>
              <a:rPr sz="1300" b="1">
                <a:solidFill>
                  <a:srgbClr val="131313"/>
                </a:solidFill>
                <a:latin typeface="Avenir Next Heavy"/>
              </a:rPr>
              <a:t>NUTRITION FOR OUTPUT</a:t>
            </a:r>
          </a:p>
        </p:txBody>
      </p:sp>
      <p:sp>
        <p:nvSpPr>
          <p:cNvPr id="16" name="TextBox 15"/>
          <p:cNvSpPr txBox="1"/>
          <p:nvPr/>
        </p:nvSpPr>
        <p:spPr>
          <a:xfrm>
            <a:off x="4206240" y="3986784"/>
            <a:ext cx="7406640" cy="457200"/>
          </a:xfrm>
          <a:prstGeom prst="rect">
            <a:avLst/>
          </a:prstGeom>
          <a:noFill/>
        </p:spPr>
        <p:txBody>
          <a:bodyPr wrap="square">
            <a:spAutoFit/>
          </a:bodyPr>
          <a:lstStyle/>
          <a:p>
            <a:pPr algn="l"/>
            <a:r>
              <a:rPr sz="1150" b="0">
                <a:solidFill>
                  <a:srgbClr val="4B4B52"/>
                </a:solidFill>
                <a:latin typeface="Avenir Next"/>
              </a:rPr>
              <a:t>Fueling to perform, not just to lose weight, what high performers actually eat.</a:t>
            </a:r>
          </a:p>
        </p:txBody>
      </p:sp>
      <p:sp>
        <p:nvSpPr>
          <p:cNvPr id="17" name="Rectangle 16"/>
          <p:cNvSpPr/>
          <p:nvPr/>
        </p:nvSpPr>
        <p:spPr>
          <a:xfrm>
            <a:off x="548640" y="4590288"/>
            <a:ext cx="146304" cy="146304"/>
          </a:xfrm>
          <a:prstGeom prst="rect">
            <a:avLst/>
          </a:prstGeom>
          <a:solidFill>
            <a:srgbClr val="A2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53712"/>
            <a:ext cx="3200400" cy="292608"/>
          </a:xfrm>
          <a:prstGeom prst="rect">
            <a:avLst/>
          </a:prstGeom>
          <a:noFill/>
        </p:spPr>
        <p:txBody>
          <a:bodyPr wrap="square">
            <a:spAutoFit/>
          </a:bodyPr>
          <a:lstStyle/>
          <a:p>
            <a:pPr algn="l"/>
            <a:r>
              <a:rPr sz="1300" b="1">
                <a:solidFill>
                  <a:srgbClr val="131313"/>
                </a:solidFill>
                <a:latin typeface="Avenir Next Heavy"/>
              </a:rPr>
              <a:t>THE ARCH STANDARD</a:t>
            </a:r>
          </a:p>
        </p:txBody>
      </p:sp>
      <p:sp>
        <p:nvSpPr>
          <p:cNvPr id="19" name="TextBox 18"/>
          <p:cNvSpPr txBox="1"/>
          <p:nvPr/>
        </p:nvSpPr>
        <p:spPr>
          <a:xfrm>
            <a:off x="4206240" y="4553712"/>
            <a:ext cx="7406640" cy="457200"/>
          </a:xfrm>
          <a:prstGeom prst="rect">
            <a:avLst/>
          </a:prstGeom>
          <a:noFill/>
        </p:spPr>
        <p:txBody>
          <a:bodyPr wrap="square">
            <a:spAutoFit/>
          </a:bodyPr>
          <a:lstStyle/>
          <a:p>
            <a:pPr algn="l"/>
            <a:r>
              <a:rPr sz="1150" b="0">
                <a:solidFill>
                  <a:srgbClr val="4B4B52"/>
                </a:solidFill>
                <a:latin typeface="Avenir Next"/>
              </a:rPr>
              <a:t>Community, accountability, member PRs and competition, what serious training looks like.</a:t>
            </a:r>
          </a:p>
        </p:txBody>
      </p:sp>
      <p:sp>
        <p:nvSpPr>
          <p:cNvPr id="20" name="Rounded Rectangle 19"/>
          <p:cNvSpPr/>
          <p:nvPr/>
        </p:nvSpPr>
        <p:spPr>
          <a:xfrm>
            <a:off x="548640" y="5897880"/>
            <a:ext cx="11064240" cy="658368"/>
          </a:xfrm>
          <a:prstGeom prst="round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150" b="1">
                <a:solidFill>
                  <a:srgbClr val="FFFFFF"/>
                </a:solidFill>
                <a:latin typeface="Avenir Next"/>
              </a:rPr>
              <a:t>You hit record. We hand you the topic, hook and talking points every week, built from research on what's already winning. The reels you crush already, this is the depth that pulls high performers in. No ad budget required.</a:t>
            </a:r>
          </a:p>
        </p:txBody>
      </p:sp>
      <p:sp>
        <p:nvSpPr>
          <p:cNvPr id="21" name="TextBox 20"/>
          <p:cNvSpPr txBox="1"/>
          <p:nvPr/>
        </p:nvSpPr>
        <p:spPr>
          <a:xfrm>
            <a:off x="10698480" y="6492240"/>
            <a:ext cx="914400" cy="228600"/>
          </a:xfrm>
          <a:prstGeom prst="rect">
            <a:avLst/>
          </a:prstGeom>
          <a:noFill/>
        </p:spPr>
        <p:txBody>
          <a:bodyPr wrap="square">
            <a:spAutoFit/>
          </a:bodyPr>
          <a:lstStyle/>
          <a:p>
            <a:pPr algn="r"/>
            <a:r>
              <a:rPr sz="900" b="0">
                <a:solidFill>
                  <a:srgbClr val="6B7280"/>
                </a:solidFill>
                <a:latin typeface="Avenir Next"/>
              </a:rPr>
              <a:t>14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 Training — Growth Strategy</dc:title>
  <dc:subject>PptxGenJS Presentation</dc:subject>
  <dc:creator>Sameer</dc:creator>
  <cp:lastModifiedBy>Sameer</cp:lastModifiedBy>
  <cp:revision>1</cp:revision>
  <dcterms:created xsi:type="dcterms:W3CDTF">2026-05-18T23:29:04Z</dcterms:created>
  <dcterms:modified xsi:type="dcterms:W3CDTF">2026-05-18T23:29:04Z</dcterms:modified>
</cp:coreProperties>
</file>